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seconds. We ask whether AI coding assistants are making software project ideas more alike. We will measure idea diversity among new public GitHub repositories month by month and test for a change around ChatGPT’s release. Today we explain the design. Our current milestone is setting up the GitHub scraping pipeline and collecting repository IDs. Filtering, summarization and analysis are next steps; we have no diversity estimates to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seconds. There are two plausible directions. Shared models might suggest similar solutions and steer developers toward similar projects. Alternatively, easier implementation could let more people pursue ideas they could not previously build. Research on story writing found that AI assistance improved individual evaluations while reducing collective diversity. That motivates our question; it does not establish the same effect in software.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seconds. The study covers January 2021 through December 2025. December 2022 is the first full month after ChatGPT’s release, leaving 23 months before and 37 after. We keep all 60 months, without a washout exclusion. The final analysis will use the same eligible sample size in every month, expected to be 100 to 200 after checking score stability. Our current collection contains 200 unfiltered candidate IDs per month. Those are not yet 200 eligible projects: we may need more candidates after filtering. Copilot was already available before the boundary, and other tools arrived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65 seconds. The structure follows Figure 1 in the writeup. Repeat this process for each month. Collection builds the candidate pool, and is our current milestone. For each repository, recover early files, apply the validated eligibility filter, write an evidence-grounded idea summary, and embed its meaning. Rejected or unavailable candidates will be replaced before fixing the equal-sized eligible samples. Each surviving repository contributes a vector. Combine all vectors from one month into one diversity score; repeat for 60 months. The trend test uses those 60 scores, not individual repositories. Finally rerun the analysis under the three robustness variations. The following slides walk through this same 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seconds. The collection contains exactly 12,000 unique repository IDs: 200 for each month from January 2021 through December 2025. Every filled block represents a month with 200 candidate IDs. These are unfiltered candidates, not 12,000 verified software projects. The selection ignores every earlier eligibility decision. We retain IDs, repository names and URLs, not repository clones. This establishes the input to our scraping pipeline. Retrieval and filtering are next, and reaching the final eligible sample size may require additional candidate collection. We have not computed diversity scores or tested the hypothesis.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seconds. This is the next retrieval stage. The current deliverable contains IDs and repository names, without cloning repositories. Later, for each candidate, we will seek the latest recoverable snapshot within the first 30 days, using the repository creation timestamp and its currently named default branch. That cannot reconstruct a default branch that was changed or deleted. We will inspect the historical README and file tree, save compact provenance and evidence, and record unavailable material separately from eligibility exclusions. Repository age is held fixed so older projects do not get more time to develop before we describe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seconds. This is the proposed filtering stage, not completed validation. Rules will check the documented-project criteria in the writeup, including source files and an English README of at least 30 words. GLM 5.3 is the planned purpose classifier. It must provide evidence for its decision. We need to validate the rubric before applying it to the full sample: a default README alone cannot establish that a repository is an unmodified template, and filenames alone cannot establish an author’s purpose. We will keep unclear evidence distinct from a confident judgment and have reviewers assess decisions before using the sample for inference.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seconds. The next stage is planned. We will reduce each eligible repository to at most 80 words describing what it does, who uses it, and its distinguishing function. Every claim must be supported by the early files. If the purpose is unclear, the model should return insufficient evidence. We then use all-MiniLM-L6-v2 to embed the statement and normalize the resulting vector. A fixed model and prompt will be used throughout. Summarization is intended to reduce writing-style differences, but we will test that assumption by embedding cleaned READMEs directly as a robustness check.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seconds. This is a real historical README from Gum. It describes tools that add interactive prompts and styled output to shell scripts. The short summary preserves the purpose, the intended users and the main functions, while leaving out installation commands and formatting. This example was drafted to demonstrate our planned output; it is not a result from the study sample.</a:t>
            </a:r>
          </a:p>
          <a:p>
            <a:endParaRPr/>
          </a:p>
          <a:p>
            <a:r>
              <a:t>Reference: GPT-6 through Codex drafted the summary from commit be4027ce28f812f905bfd1b5575e198729a6c4cc, within 30 days of repository creation on June 10, 2022. README sections document input, fuzzy filtering, progress, spinners, styling and layout. Gum was chosen for teaching, not randomly sampled. The GitHub interface and remote badges may reflect today; the README text is pinned to the historical commit. Source: https://github.com/charmbracelet/gum/blob/be4027ce28f812f905bfd1b5575e198729a6c4cc/README.md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70 seconds. We now have one normalized embedding for each eligible project. These dots illustrate what semantic similarity means, not an actual two-dimensional embedding plot. If most projects describe similar purposes, their vectors are close in cosine distance and the monthly average is low. A wider range of ideas creates larger pairwise distances and a higher score. We compare every distinct pair and average those distances within the month. Normalizing the vectors means direction represents similarity rather than vector length. We will use the same eligible sample size across months, chosen after checking stability. One month becomes one score, giving the 60 observations for the next graph. The exact formula is in the optional detail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70 seconds. Each dot now represents one month, rather than one repository. This graph is a schematic of the test, not estimated results. We fit the earlier trend and allow two changes at December 2022: an immediate shift in the score, and a change in its subsequent monthly trend. The dashed line shows the earlier trend continued, which makes the two changes easier to interpret. The illustration shows an immediate drop in diversity followed by a downward trend. It is not a result: the actual estimates could rise, fall, or be indistinguishable from zero. The full regression also includes a repeating yearly pattern. We report 95 percent confidence intervals using Newey-West standard errors with a pre-specified lag of three months, because neighboring months may have correlated deviations. A change around release is an association; it cannot establish that AI caused it. The complete regression is in the optional detail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seconds. These are planned checks, not completed evaluations. Two reviewers independently label 100 candidates, balanced between before and after release, to measure the project filter’s precision and recall and whether its errors differ by period. They check 50 summaries against source files, targeting at least 90 percent faithful descriptions. They also rate 50 pairs from unrelated to the same idea. We compare their agreement and the correlation between their ratings and cosine similarity. Failed checks mean revising the measurement before the full run.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seconds. We will rerun the analysis after excluding AI-topic projects, limiting each owner to one repository, and embedding cleaned READMEs instead of summaries. These check topic composition, prolific owners, and summary effects. Even a consistent result describes a change around the release, not proof that AI caused it. We do not observe actual AI use. Accessible, documented English-language repositories are a selected population, and older repositories may be harder to recover. Retrieval failures will be reported by month.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seconds. Our current milestone is setting up the scraping pipeline and collecting 200 repository IDs per month. Filtering and the early-file retrieval needed for it are next steps. Representation and analysis, summary validation, and similarity validation remain planned. Samuel coordinates the data pipeline, Spencer coordinates representation and analysis, and Hezeki coordinates both human-validation tasks. These are coordinating roles; all three members contribute. We will validate eligibility decisions before treating the collection as an analysis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seconds. By the milestone, the goal is to demonstrate the GitHub scraping setup and the monthly ID collection. Through November 8, we will validate filtering, test the early snapshots, and freeze the summary prompt. By November 20, we plan to complete the eligible monthly samples and human checks; this may require more candidate IDs. The final stage fits the trend model, runs the robustness checks, and prepares the report. A reliable answer could be greater diversity, lower diversity, or no clear change. End of the main presentation. Slides 16 and 17 are optional equation explanations; skip directly to questions if time is short. References follow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detail, outside the main ten-minute talk. This is the complete pairwise definition of monthly diversity. y_t is the score for month t. There are n_t choose two distinct pairs; the reciprocal averages rather than sums their distances. The sum compares each pair once. With unit-length vectors, the dot product equals cosine similarity, so one minus that value is cosine distance. Less similar project purposes contribute larger distances. In implementation the same quantity can be computed from the mean vector without an explicit pairwise loop, as shown in the writeup. This slide explains the measurement; the previous conceptual slide is enough to follow the main talk.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detail, outside the main ten-minute talk. The response is the monthly diversity score. The baseline intercept and slope describe the pre-release line; the intercept is its extrapolated value at t equals zero. post is zero through November 2022 and one from December onward. The level-change coefficient shifts the post-release line immediately. The interaction with t minus 24 changes the slope, starting from zero at the boundary, so it does not duplicate the immediate shift. The sine and cosine jointly model a yearly cycle with a fitted phase and amplitude; they are one seasonal adjustment, not separate research questions. Epsilon is the unexplained variation. The two research coefficients are the level and slope changes. We use Newey-West confidence intervals with lag three; this changes uncertainty estimates, not fitted coefficients. The earlier graph communicates these same comparisons without requiring the equation.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references. Numbering matches milestone.md. These references motivate the study, establish the tool-release context, and document the event source. Full source URLs are provided for audit and follow-up.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references. These sources support the interrupted time-series approach, dependence-adjusted standard errors, the release boundary and the representation method.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B5B9F-8FFD-E3A9-CDCA-C329CBD6166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AD75A1-6621-C6E6-68B5-CF3A7FF8F14D}"/>
              </a:ext>
            </a:extLst>
          </p:cNvPr>
          <p:cNvSpPr>
            <a:spLocks noGrp="1"/>
          </p:cNvSpPr>
          <p:nvPr>
            <p:ph type="body"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B5907-2405-5231-8506-DA8F1AD29913}"/>
              </a:ext>
            </a:extLst>
          </p:cNvPr>
          <p:cNvSpPr>
            <a:spLocks noGrp="1"/>
          </p:cNvSpPr>
          <p:nvPr>
            <p:ph type="title"/>
          </p:nvPr>
        </p:nvSpPr>
        <p:spPr>
          <a:xfrm>
            <a:off x="838200" y="365125"/>
            <a:ext cx="10515600" cy="1325563"/>
          </a:xfrm>
          <a:prstGeom prst="rect">
            <a:avLst/>
          </a:prstGeom>
        </p:spPr>
        <p:txBody>
          <a:bodyPr/>
          <a:lstStyle/>
          <a:p>
            <a:endParaRPr/>
          </a:p>
        </p:txBody>
      </p:sp>
      <p:sp>
        <p:nvSpPr>
          <p:cNvPr id="3" name="Text Placeholder 2">
            <a:extLst>
              <a:ext uri="{FF2B5EF4-FFF2-40B4-BE49-F238E27FC236}">
                <a16:creationId xmlns:a16="http://schemas.microsoft.com/office/drawing/2014/main" id="{696C42A9-F2F3-FE94-191B-87056D618952}"/>
              </a:ext>
            </a:extLst>
          </p:cNvPr>
          <p:cNvSpPr>
            <a:spLocks noGrp="1"/>
          </p:cNvSpPr>
          <p:nvPr>
            <p:ph type="body" idx="1"/>
          </p:nvPr>
        </p:nvSpPr>
        <p:spPr>
          <a:xfrm>
            <a:off x="838200" y="1825625"/>
            <a:ext cx="10515600" cy="4351338"/>
          </a:xfrm>
          <a:prstGeom prst="rect">
            <a:avLst/>
          </a:prstGeom>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5D5AB-8ABE-4E8E-C40C-A9B776AF6394}"/>
              </a:ext>
            </a:extLst>
          </p:cNvPr>
          <p:cNvSpPr>
            <a:spLocks noGrp="1"/>
          </p:cNvSpPr>
          <p:nvPr>
            <p:ph type="title"/>
          </p:nvPr>
        </p:nvSpPr>
        <p:spPr>
          <a:xfrm>
            <a:off x="838200" y="365125"/>
            <a:ext cx="10515600" cy="1325563"/>
          </a:xfrm>
          <a:prstGeom prst="rect">
            <a:avLst/>
          </a:prstGeom>
        </p:spPr>
        <p:txBody>
          <a:bodyPr/>
          <a:lstStyle/>
          <a:p>
            <a:endParaRPr/>
          </a:p>
        </p:txBody>
      </p:sp>
      <p:sp>
        <p:nvSpPr>
          <p:cNvPr id="3" name="Text Placeholder 2">
            <a:extLst>
              <a:ext uri="{FF2B5EF4-FFF2-40B4-BE49-F238E27FC236}">
                <a16:creationId xmlns:a16="http://schemas.microsoft.com/office/drawing/2014/main" id="{3CDC6351-97B8-7CCD-14E5-93726B884073}"/>
              </a:ext>
            </a:extLst>
          </p:cNvPr>
          <p:cNvSpPr>
            <a:spLocks noGrp="1"/>
          </p:cNvSpPr>
          <p:nvPr>
            <p:ph type="body" idx="1"/>
          </p:nvPr>
        </p:nvSpPr>
        <p:spPr>
          <a:xfrm>
            <a:off x="838200" y="1825625"/>
            <a:ext cx="10515600" cy="4351338"/>
          </a:xfrm>
          <a:prstGeom prst="rect">
            <a:avLst/>
          </a:prstGeom>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C30"/>
        </a:solidFill>
        <a:effectLst/>
      </p:bgPr>
    </p:bg>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2A170FBF-CA3F-43BC-9190-CF38DEEDEEC2}"/>
              </a:ext>
            </a:extLst>
          </p:cNvPr>
          <p:cNvSpPr>
            <a:spLocks noGrp="1"/>
          </p:cNvSpPr>
          <p:nvPr/>
        </p:nvSpPr>
        <p:spPr>
          <a:xfrm>
            <a:off x="666750" y="1095375"/>
            <a:ext cx="10763250" cy="2762250"/>
          </a:xfrm>
          <a:prstGeom prst="rect">
            <a:avLst/>
          </a:prstGeom>
        </p:spPr>
        <p:txBody>
          <a:bodyPr lIns="0" tIns="0" rIns="0" bIns="0" anchor="ctr"/>
          <a:lstStyle/>
          <a:p>
            <a:pPr algn="l">
              <a:spcBef>
                <a:spcPts val="0"/>
              </a:spcBef>
              <a:spcAft>
                <a:spcPts val="0"/>
              </a:spcAft>
              <a:buNone/>
              <a:defRPr sz="4650" b="0">
                <a:solidFill>
                  <a:srgbClr val="F7F8F5"/>
                </a:solidFill>
                <a:latin typeface="Georgia"/>
                <a:ea typeface="Georgia"/>
                <a:cs typeface="Georgia"/>
              </a:defRPr>
            </a:pPr>
            <a:r>
              <a:t>Do AI coding assistants</a:t>
            </a:r>
          </a:p>
          <a:p>
            <a:pPr algn="l">
              <a:spcBef>
                <a:spcPts val="0"/>
              </a:spcBef>
              <a:spcAft>
                <a:spcPts val="0"/>
              </a:spcAft>
              <a:buNone/>
              <a:defRPr sz="4650" b="0">
                <a:solidFill>
                  <a:srgbClr val="F7F8F5"/>
                </a:solidFill>
                <a:latin typeface="Georgia"/>
                <a:ea typeface="Georgia"/>
                <a:cs typeface="Georgia"/>
              </a:defRPr>
            </a:pPr>
            <a:r>
              <a:t>make project ideas</a:t>
            </a:r>
          </a:p>
          <a:p>
            <a:pPr algn="l">
              <a:spcBef>
                <a:spcPts val="0"/>
              </a:spcBef>
              <a:spcAft>
                <a:spcPts val="0"/>
              </a:spcAft>
              <a:buNone/>
              <a:defRPr sz="4650" b="0">
                <a:solidFill>
                  <a:srgbClr val="F7F8F5"/>
                </a:solidFill>
                <a:latin typeface="Georgia"/>
                <a:ea typeface="Georgia"/>
                <a:cs typeface="Georgia"/>
              </a:defRPr>
            </a:pPr>
            <a:r>
              <a:t>more alike?</a:t>
            </a:r>
          </a:p>
        </p:txBody>
      </p:sp>
      <p:sp>
        <p:nvSpPr>
          <p:cNvPr id="2" name="text-2">
            <a:extLst>
              <a:ext uri="{FF2B5EF4-FFF2-40B4-BE49-F238E27FC236}">
                <a16:creationId xmlns:a16="http://schemas.microsoft.com/office/drawing/2014/main" id="{A2BCC13C-8617-491A-BF57-B2067CD4822B}"/>
              </a:ext>
            </a:extLst>
          </p:cNvPr>
          <p:cNvSpPr>
            <a:spLocks noGrp="1"/>
          </p:cNvSpPr>
          <p:nvPr/>
        </p:nvSpPr>
        <p:spPr>
          <a:xfrm>
            <a:off x="704850" y="4314825"/>
            <a:ext cx="10287000" cy="666750"/>
          </a:xfrm>
          <a:prstGeom prst="rect">
            <a:avLst/>
          </a:prstGeom>
        </p:spPr>
        <p:txBody>
          <a:bodyPr lIns="0" tIns="0" rIns="0" bIns="0" anchor="ctr"/>
          <a:lstStyle/>
          <a:p>
            <a:pPr algn="l">
              <a:spcBef>
                <a:spcPts val="0"/>
              </a:spcBef>
              <a:spcAft>
                <a:spcPts val="0"/>
              </a:spcAft>
              <a:buNone/>
              <a:defRPr sz="2175" b="0">
                <a:solidFill>
                  <a:srgbClr val="B9CECD"/>
                </a:solidFill>
                <a:latin typeface="Arial"/>
                <a:ea typeface="Arial"/>
                <a:cs typeface="Arial"/>
              </a:defRPr>
            </a:pPr>
            <a:r>
              <a:t>A monthly study of new GitHub repositories</a:t>
            </a:r>
          </a:p>
        </p:txBody>
      </p:sp>
      <p:sp>
        <p:nvSpPr>
          <p:cNvPr id="3" name="shape-3">
            <a:extLst>
              <a:ext uri="{FF2B5EF4-FFF2-40B4-BE49-F238E27FC236}">
                <a16:creationId xmlns:a16="http://schemas.microsoft.com/office/drawing/2014/main" id="{B52ABFFC-CA00-4A68-84D3-2B24E43C003E}"/>
              </a:ext>
            </a:extLst>
          </p:cNvPr>
          <p:cNvSpPr>
            <a:spLocks noGrp="1"/>
          </p:cNvSpPr>
          <p:nvPr/>
        </p:nvSpPr>
        <p:spPr>
          <a:xfrm>
            <a:off x="704850" y="5410200"/>
            <a:ext cx="10744200" cy="9525"/>
          </a:xfrm>
          <a:prstGeom prst="rect">
            <a:avLst/>
          </a:prstGeom>
          <a:solidFill>
            <a:srgbClr val="456065"/>
          </a:solidFill>
          <a:ln w="0">
            <a:noFill/>
            <a:prstDash val="solid"/>
          </a:ln>
        </p:spPr>
      </p:sp>
      <p:sp>
        <p:nvSpPr>
          <p:cNvPr id="4" name="text-4">
            <a:extLst>
              <a:ext uri="{FF2B5EF4-FFF2-40B4-BE49-F238E27FC236}">
                <a16:creationId xmlns:a16="http://schemas.microsoft.com/office/drawing/2014/main" id="{AEEADD57-AD3C-4FBB-8AAB-40DAEC63D8EC}"/>
              </a:ext>
            </a:extLst>
          </p:cNvPr>
          <p:cNvSpPr>
            <a:spLocks noGrp="1"/>
          </p:cNvSpPr>
          <p:nvPr/>
        </p:nvSpPr>
        <p:spPr>
          <a:xfrm>
            <a:off x="704850" y="5638800"/>
            <a:ext cx="10287000" cy="361950"/>
          </a:xfrm>
          <a:prstGeom prst="rect">
            <a:avLst/>
          </a:prstGeom>
        </p:spPr>
        <p:txBody>
          <a:bodyPr lIns="0" tIns="0" rIns="0" bIns="0" anchor="ctr"/>
          <a:lstStyle/>
          <a:p>
            <a:pPr algn="l">
              <a:spcBef>
                <a:spcPts val="0"/>
              </a:spcBef>
              <a:spcAft>
                <a:spcPts val="0"/>
              </a:spcAft>
              <a:buNone/>
              <a:defRPr sz="1725" b="0">
                <a:solidFill>
                  <a:srgbClr val="F7F8F5"/>
                </a:solidFill>
                <a:latin typeface="Arial"/>
                <a:ea typeface="Arial"/>
                <a:cs typeface="Arial"/>
              </a:defRPr>
            </a:pPr>
            <a:r>
              <a:t>Samuel Schneider · Spencer Caldwell · Hezeki Webb</a:t>
            </a:r>
          </a:p>
        </p:txBody>
      </p:sp>
      <p:sp>
        <p:nvSpPr>
          <p:cNvPr id="5" name="text-5">
            <a:extLst>
              <a:ext uri="{FF2B5EF4-FFF2-40B4-BE49-F238E27FC236}">
                <a16:creationId xmlns:a16="http://schemas.microsoft.com/office/drawing/2014/main" id="{D26AC6D6-A0AC-438B-9E53-65BE2D52F7F9}"/>
              </a:ext>
            </a:extLst>
          </p:cNvPr>
          <p:cNvSpPr>
            <a:spLocks noGrp="1"/>
          </p:cNvSpPr>
          <p:nvPr/>
        </p:nvSpPr>
        <p:spPr>
          <a:xfrm>
            <a:off x="704850" y="6067425"/>
            <a:ext cx="10287000" cy="323850"/>
          </a:xfrm>
          <a:prstGeom prst="rect">
            <a:avLst/>
          </a:prstGeom>
        </p:spPr>
        <p:txBody>
          <a:bodyPr lIns="0" tIns="0" rIns="0" bIns="0" anchor="ctr"/>
          <a:lstStyle/>
          <a:p>
            <a:pPr algn="l">
              <a:spcBef>
                <a:spcPts val="0"/>
              </a:spcBef>
              <a:spcAft>
                <a:spcPts val="0"/>
              </a:spcAft>
              <a:buNone/>
              <a:defRPr sz="1500" b="0">
                <a:solidFill>
                  <a:srgbClr val="B9CECD"/>
                </a:solidFill>
                <a:latin typeface="Arial"/>
                <a:ea typeface="Arial"/>
                <a:cs typeface="Arial"/>
              </a:defRPr>
            </a:pPr>
            <a:r>
              <a:t>Group 4 · EECS 448 · October 27, 2026</a:t>
            </a:r>
          </a:p>
        </p:txBody>
      </p:sp>
    </p:spTree>
    <p:extLst>
      <p:ext uri="{BB962C8B-B14F-4D97-AF65-F5344CB8AC3E}">
        <p14:creationId xmlns:p14="http://schemas.microsoft.com/office/powerpoint/2010/main" val="1761017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1">
            <a:extLst>
              <a:ext uri="{FF2B5EF4-FFF2-40B4-BE49-F238E27FC236}">
                <a16:creationId xmlns:a16="http://schemas.microsoft.com/office/drawing/2014/main" id="{910BA872-F7E0-4B1F-8DC9-11DB9FB68DCB}"/>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AI could narrow or broaden project ideas</a:t>
            </a:r>
          </a:p>
        </p:txBody>
      </p:sp>
      <p:sp>
        <p:nvSpPr>
          <p:cNvPr id="2" name="text-2">
            <a:extLst>
              <a:ext uri="{FF2B5EF4-FFF2-40B4-BE49-F238E27FC236}">
                <a16:creationId xmlns:a16="http://schemas.microsoft.com/office/drawing/2014/main" id="{EE309114-9B4B-4EE5-B105-A820BA18ED7C}"/>
              </a:ext>
            </a:extLst>
          </p:cNvPr>
          <p:cNvSpPr>
            <a:spLocks noGrp="1"/>
          </p:cNvSpPr>
          <p:nvPr/>
        </p:nvSpPr>
        <p:spPr>
          <a:xfrm>
            <a:off x="666750" y="2124075"/>
            <a:ext cx="4953000" cy="609600"/>
          </a:xfrm>
          <a:prstGeom prst="rect">
            <a:avLst/>
          </a:prstGeom>
        </p:spPr>
        <p:txBody>
          <a:bodyPr lIns="0" tIns="0" rIns="0" bIns="0" anchor="ctr"/>
          <a:lstStyle/>
          <a:p>
            <a:pPr algn="l">
              <a:spcBef>
                <a:spcPts val="0"/>
              </a:spcBef>
              <a:spcAft>
                <a:spcPts val="0"/>
              </a:spcAft>
              <a:buNone/>
              <a:defRPr sz="3150" b="0">
                <a:solidFill>
                  <a:srgbClr val="006D77"/>
                </a:solidFill>
                <a:latin typeface="Georgia"/>
                <a:ea typeface="Georgia"/>
                <a:cs typeface="Georgia"/>
              </a:defRPr>
            </a:pPr>
            <a:r>
              <a:t>More alike</a:t>
            </a:r>
          </a:p>
        </p:txBody>
      </p:sp>
      <p:sp>
        <p:nvSpPr>
          <p:cNvPr id="3" name="text-3">
            <a:extLst>
              <a:ext uri="{FF2B5EF4-FFF2-40B4-BE49-F238E27FC236}">
                <a16:creationId xmlns:a16="http://schemas.microsoft.com/office/drawing/2014/main" id="{56AA69D1-D88C-4125-A141-431D558BA538}"/>
              </a:ext>
            </a:extLst>
          </p:cNvPr>
          <p:cNvSpPr>
            <a:spLocks noGrp="1"/>
          </p:cNvSpPr>
          <p:nvPr/>
        </p:nvSpPr>
        <p:spPr>
          <a:xfrm>
            <a:off x="666750" y="3000375"/>
            <a:ext cx="4667250" cy="1524000"/>
          </a:xfrm>
          <a:prstGeom prst="rect">
            <a:avLst/>
          </a:prstGeom>
        </p:spPr>
        <p:txBody>
          <a:bodyPr lIns="0" tIns="0" rIns="0" bIns="0" anchor="ctr"/>
          <a:lstStyle/>
          <a:p>
            <a:pPr algn="l">
              <a:spcBef>
                <a:spcPts val="0"/>
              </a:spcBef>
              <a:spcAft>
                <a:spcPts val="0"/>
              </a:spcAft>
              <a:buNone/>
              <a:defRPr sz="2325" b="0">
                <a:solidFill>
                  <a:srgbClr val="182C30"/>
                </a:solidFill>
                <a:latin typeface="Arial"/>
                <a:ea typeface="Arial"/>
                <a:cs typeface="Arial"/>
              </a:defRPr>
            </a:pPr>
            <a:r>
              <a:t>Shared models</a:t>
            </a:r>
          </a:p>
          <a:p>
            <a:pPr algn="l">
              <a:spcBef>
                <a:spcPts val="0"/>
              </a:spcBef>
              <a:spcAft>
                <a:spcPts val="0"/>
              </a:spcAft>
              <a:buNone/>
              <a:defRPr sz="2325" b="0">
                <a:solidFill>
                  <a:srgbClr val="182C30"/>
                </a:solidFill>
                <a:latin typeface="Arial"/>
                <a:ea typeface="Arial"/>
                <a:cs typeface="Arial"/>
              </a:defRPr>
            </a:pPr>
            <a:r>
              <a:t>Similar suggestions</a:t>
            </a:r>
          </a:p>
          <a:p>
            <a:pPr algn="l">
              <a:spcBef>
                <a:spcPts val="0"/>
              </a:spcBef>
              <a:spcAft>
                <a:spcPts val="0"/>
              </a:spcAft>
              <a:buNone/>
              <a:defRPr sz="2325" b="0">
                <a:solidFill>
                  <a:srgbClr val="182C30"/>
                </a:solidFill>
                <a:latin typeface="Arial"/>
                <a:ea typeface="Arial"/>
                <a:cs typeface="Arial"/>
              </a:defRPr>
            </a:pPr>
            <a:r>
              <a:t>Similar projects</a:t>
            </a:r>
          </a:p>
        </p:txBody>
      </p:sp>
      <p:sp>
        <p:nvSpPr>
          <p:cNvPr id="4" name="shape-4">
            <a:extLst>
              <a:ext uri="{FF2B5EF4-FFF2-40B4-BE49-F238E27FC236}">
                <a16:creationId xmlns:a16="http://schemas.microsoft.com/office/drawing/2014/main" id="{D93AD59A-BC9D-4330-A87F-F88C20D2B0B2}"/>
              </a:ext>
            </a:extLst>
          </p:cNvPr>
          <p:cNvSpPr>
            <a:spLocks noGrp="1"/>
          </p:cNvSpPr>
          <p:nvPr/>
        </p:nvSpPr>
        <p:spPr>
          <a:xfrm>
            <a:off x="6029325" y="2143125"/>
            <a:ext cx="9525" cy="2790825"/>
          </a:xfrm>
          <a:prstGeom prst="rect">
            <a:avLst/>
          </a:prstGeom>
          <a:solidFill>
            <a:srgbClr val="C9D3D1"/>
          </a:solidFill>
          <a:ln w="0">
            <a:noFill/>
            <a:prstDash val="solid"/>
          </a:ln>
        </p:spPr>
      </p:sp>
      <p:sp>
        <p:nvSpPr>
          <p:cNvPr id="5" name="text-5">
            <a:extLst>
              <a:ext uri="{FF2B5EF4-FFF2-40B4-BE49-F238E27FC236}">
                <a16:creationId xmlns:a16="http://schemas.microsoft.com/office/drawing/2014/main" id="{2F7D72FA-AA1C-4EB6-8258-DAD541306306}"/>
              </a:ext>
            </a:extLst>
          </p:cNvPr>
          <p:cNvSpPr>
            <a:spLocks noGrp="1"/>
          </p:cNvSpPr>
          <p:nvPr/>
        </p:nvSpPr>
        <p:spPr>
          <a:xfrm>
            <a:off x="6762750" y="2124075"/>
            <a:ext cx="4762500" cy="609600"/>
          </a:xfrm>
          <a:prstGeom prst="rect">
            <a:avLst/>
          </a:prstGeom>
        </p:spPr>
        <p:txBody>
          <a:bodyPr lIns="0" tIns="0" rIns="0" bIns="0" anchor="ctr"/>
          <a:lstStyle/>
          <a:p>
            <a:pPr algn="l">
              <a:spcBef>
                <a:spcPts val="0"/>
              </a:spcBef>
              <a:spcAft>
                <a:spcPts val="0"/>
              </a:spcAft>
              <a:buNone/>
              <a:defRPr sz="3150" b="0">
                <a:solidFill>
                  <a:srgbClr val="B95C33"/>
                </a:solidFill>
                <a:latin typeface="Georgia"/>
                <a:ea typeface="Georgia"/>
                <a:cs typeface="Georgia"/>
              </a:defRPr>
            </a:pPr>
            <a:r>
              <a:t>More varied</a:t>
            </a:r>
          </a:p>
        </p:txBody>
      </p:sp>
      <p:sp>
        <p:nvSpPr>
          <p:cNvPr id="6" name="text-6">
            <a:extLst>
              <a:ext uri="{FF2B5EF4-FFF2-40B4-BE49-F238E27FC236}">
                <a16:creationId xmlns:a16="http://schemas.microsoft.com/office/drawing/2014/main" id="{9A403340-0982-4FBC-8ECB-B0255D23940A}"/>
              </a:ext>
            </a:extLst>
          </p:cNvPr>
          <p:cNvSpPr>
            <a:spLocks noGrp="1"/>
          </p:cNvSpPr>
          <p:nvPr/>
        </p:nvSpPr>
        <p:spPr>
          <a:xfrm>
            <a:off x="6762750" y="3000375"/>
            <a:ext cx="4762500" cy="1524000"/>
          </a:xfrm>
          <a:prstGeom prst="rect">
            <a:avLst/>
          </a:prstGeom>
        </p:spPr>
        <p:txBody>
          <a:bodyPr lIns="0" tIns="0" rIns="0" bIns="0" anchor="ctr"/>
          <a:lstStyle/>
          <a:p>
            <a:pPr algn="l">
              <a:spcBef>
                <a:spcPts val="0"/>
              </a:spcBef>
              <a:spcAft>
                <a:spcPts val="0"/>
              </a:spcAft>
              <a:buNone/>
              <a:defRPr sz="2325" b="0">
                <a:solidFill>
                  <a:srgbClr val="182C30"/>
                </a:solidFill>
                <a:latin typeface="Arial"/>
                <a:ea typeface="Arial"/>
                <a:cs typeface="Arial"/>
              </a:defRPr>
            </a:pPr>
            <a:r>
              <a:t>Easier implementation</a:t>
            </a:r>
          </a:p>
          <a:p>
            <a:pPr algn="l">
              <a:spcBef>
                <a:spcPts val="0"/>
              </a:spcBef>
              <a:spcAft>
                <a:spcPts val="0"/>
              </a:spcAft>
              <a:buNone/>
              <a:defRPr sz="2325" b="0">
                <a:solidFill>
                  <a:srgbClr val="182C30"/>
                </a:solidFill>
                <a:latin typeface="Arial"/>
                <a:ea typeface="Arial"/>
                <a:cs typeface="Arial"/>
              </a:defRPr>
            </a:pPr>
            <a:r>
              <a:t>More people building</a:t>
            </a:r>
          </a:p>
          <a:p>
            <a:pPr algn="l">
              <a:spcBef>
                <a:spcPts val="0"/>
              </a:spcBef>
              <a:spcAft>
                <a:spcPts val="0"/>
              </a:spcAft>
              <a:buNone/>
              <a:defRPr sz="2325" b="0">
                <a:solidFill>
                  <a:srgbClr val="182C30"/>
                </a:solidFill>
                <a:latin typeface="Arial"/>
                <a:ea typeface="Arial"/>
                <a:cs typeface="Arial"/>
              </a:defRPr>
            </a:pPr>
            <a:r>
              <a:t>More ideas attempted</a:t>
            </a:r>
          </a:p>
        </p:txBody>
      </p:sp>
      <p:sp>
        <p:nvSpPr>
          <p:cNvPr id="7" name="shape-7">
            <a:extLst>
              <a:ext uri="{FF2B5EF4-FFF2-40B4-BE49-F238E27FC236}">
                <a16:creationId xmlns:a16="http://schemas.microsoft.com/office/drawing/2014/main" id="{04DC4EA3-EC54-48EE-8570-46B067B227CC}"/>
              </a:ext>
            </a:extLst>
          </p:cNvPr>
          <p:cNvSpPr>
            <a:spLocks noGrp="1"/>
          </p:cNvSpPr>
          <p:nvPr/>
        </p:nvSpPr>
        <p:spPr>
          <a:xfrm>
            <a:off x="666750" y="5353050"/>
            <a:ext cx="10858500" cy="9525"/>
          </a:xfrm>
          <a:prstGeom prst="rect">
            <a:avLst/>
          </a:prstGeom>
          <a:solidFill>
            <a:srgbClr val="C9D3D1"/>
          </a:solidFill>
          <a:ln w="0">
            <a:noFill/>
            <a:prstDash val="solid"/>
          </a:ln>
        </p:spPr>
      </p:sp>
      <p:sp>
        <p:nvSpPr>
          <p:cNvPr id="8" name="text-8">
            <a:extLst>
              <a:ext uri="{FF2B5EF4-FFF2-40B4-BE49-F238E27FC236}">
                <a16:creationId xmlns:a16="http://schemas.microsoft.com/office/drawing/2014/main" id="{39062BDD-28AA-4E05-A75A-A932C54F947A}"/>
              </a:ext>
            </a:extLst>
          </p:cNvPr>
          <p:cNvSpPr>
            <a:spLocks noGrp="1"/>
          </p:cNvSpPr>
          <p:nvPr/>
        </p:nvSpPr>
        <p:spPr>
          <a:xfrm>
            <a:off x="666750" y="5562600"/>
            <a:ext cx="10858500" cy="514350"/>
          </a:xfrm>
          <a:prstGeom prst="rect">
            <a:avLst/>
          </a:prstGeom>
        </p:spPr>
        <p:txBody>
          <a:bodyPr lIns="0" tIns="0" rIns="0" bIns="0" anchor="ctr"/>
          <a:lstStyle/>
          <a:p>
            <a:pPr algn="l">
              <a:spcBef>
                <a:spcPts val="0"/>
              </a:spcBef>
              <a:spcAft>
                <a:spcPts val="0"/>
              </a:spcAft>
              <a:buNone/>
              <a:defRPr sz="2025" b="0">
                <a:solidFill>
                  <a:srgbClr val="182C30"/>
                </a:solidFill>
                <a:latin typeface="Arial"/>
                <a:ea typeface="Arial"/>
                <a:cs typeface="Arial"/>
              </a:defRPr>
            </a:pPr>
            <a:r>
              <a:t>AI-assisted stories became more similar. We ask whether software does too. [3]</a:t>
            </a:r>
          </a:p>
        </p:txBody>
      </p:sp>
      <p:sp>
        <p:nvSpPr>
          <p:cNvPr id="11" name="Rectangle 10">
            <a:extLst>
              <a:ext uri="{FF2B5EF4-FFF2-40B4-BE49-F238E27FC236}">
                <a16:creationId xmlns:a16="http://schemas.microsoft.com/office/drawing/2014/main" id="{61BD88EF-AF1A-4465-B6B2-ABB4D4398F1C}"/>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02</a:t>
            </a:r>
          </a:p>
        </p:txBody>
      </p:sp>
    </p:spTree>
    <p:extLst>
      <p:ext uri="{BB962C8B-B14F-4D97-AF65-F5344CB8AC3E}">
        <p14:creationId xmlns:p14="http://schemas.microsoft.com/office/powerpoint/2010/main" val="1032710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5" name="text-1">
            <a:extLst>
              <a:ext uri="{FF2B5EF4-FFF2-40B4-BE49-F238E27FC236}">
                <a16:creationId xmlns:a16="http://schemas.microsoft.com/office/drawing/2014/main" id="{C78B0B6C-145E-4945-9B38-CBEFFB4B42D2}"/>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Compare monthly diversity before and after release</a:t>
            </a:r>
          </a:p>
        </p:txBody>
      </p:sp>
      <p:sp>
        <p:nvSpPr>
          <p:cNvPr id="2" name="text-2">
            <a:extLst>
              <a:ext uri="{FF2B5EF4-FFF2-40B4-BE49-F238E27FC236}">
                <a16:creationId xmlns:a16="http://schemas.microsoft.com/office/drawing/2014/main" id="{40F0D5B7-DBE5-4A13-BC75-C4F5D1C49A9A}"/>
              </a:ext>
            </a:extLst>
          </p:cNvPr>
          <p:cNvSpPr>
            <a:spLocks noGrp="1"/>
          </p:cNvSpPr>
          <p:nvPr/>
        </p:nvSpPr>
        <p:spPr>
          <a:xfrm>
            <a:off x="666750" y="2228850"/>
            <a:ext cx="4191000" cy="647700"/>
          </a:xfrm>
          <a:prstGeom prst="rect">
            <a:avLst/>
          </a:prstGeom>
        </p:spPr>
        <p:txBody>
          <a:bodyPr lIns="0" tIns="0" rIns="0" bIns="0" anchor="ctr"/>
          <a:lstStyle/>
          <a:p>
            <a:pPr algn="l">
              <a:spcBef>
                <a:spcPts val="0"/>
              </a:spcBef>
              <a:spcAft>
                <a:spcPts val="0"/>
              </a:spcAft>
              <a:buNone/>
              <a:defRPr sz="2850" b="0">
                <a:solidFill>
                  <a:srgbClr val="006D77"/>
                </a:solidFill>
                <a:latin typeface="Georgia"/>
                <a:ea typeface="Georgia"/>
                <a:cs typeface="Georgia"/>
              </a:defRPr>
            </a:pPr>
            <a:r>
              <a:t>23 months before</a:t>
            </a:r>
          </a:p>
        </p:txBody>
      </p:sp>
      <p:sp>
        <p:nvSpPr>
          <p:cNvPr id="3" name="text-3">
            <a:extLst>
              <a:ext uri="{FF2B5EF4-FFF2-40B4-BE49-F238E27FC236}">
                <a16:creationId xmlns:a16="http://schemas.microsoft.com/office/drawing/2014/main" id="{B135695D-5AAC-4306-9331-5686BA86D704}"/>
              </a:ext>
            </a:extLst>
          </p:cNvPr>
          <p:cNvSpPr>
            <a:spLocks noGrp="1"/>
          </p:cNvSpPr>
          <p:nvPr/>
        </p:nvSpPr>
        <p:spPr>
          <a:xfrm>
            <a:off x="5143500" y="2228850"/>
            <a:ext cx="6381750" cy="647700"/>
          </a:xfrm>
          <a:prstGeom prst="rect">
            <a:avLst/>
          </a:prstGeom>
        </p:spPr>
        <p:txBody>
          <a:bodyPr lIns="0" tIns="0" rIns="0" bIns="0" anchor="ctr"/>
          <a:lstStyle/>
          <a:p>
            <a:pPr algn="l">
              <a:spcBef>
                <a:spcPts val="0"/>
              </a:spcBef>
              <a:spcAft>
                <a:spcPts val="0"/>
              </a:spcAft>
              <a:buNone/>
              <a:defRPr sz="2850" b="0">
                <a:solidFill>
                  <a:srgbClr val="B95C33"/>
                </a:solidFill>
                <a:latin typeface="Georgia"/>
                <a:ea typeface="Georgia"/>
                <a:cs typeface="Georgia"/>
              </a:defRPr>
            </a:pPr>
            <a:r>
              <a:t>37 months after</a:t>
            </a:r>
          </a:p>
        </p:txBody>
      </p:sp>
      <p:sp>
        <p:nvSpPr>
          <p:cNvPr id="4" name="shape-4">
            <a:extLst>
              <a:ext uri="{FF2B5EF4-FFF2-40B4-BE49-F238E27FC236}">
                <a16:creationId xmlns:a16="http://schemas.microsoft.com/office/drawing/2014/main" id="{3F3AD778-0F2C-4160-BBB7-5C643ED25591}"/>
              </a:ext>
            </a:extLst>
          </p:cNvPr>
          <p:cNvSpPr>
            <a:spLocks noGrp="1"/>
          </p:cNvSpPr>
          <p:nvPr/>
        </p:nvSpPr>
        <p:spPr>
          <a:xfrm>
            <a:off x="666750" y="3152775"/>
            <a:ext cx="4162425" cy="400050"/>
          </a:xfrm>
          <a:prstGeom prst="rect">
            <a:avLst/>
          </a:prstGeom>
          <a:solidFill>
            <a:srgbClr val="006D77"/>
          </a:solidFill>
          <a:ln w="0">
            <a:noFill/>
            <a:prstDash val="solid"/>
          </a:ln>
        </p:spPr>
      </p:sp>
      <p:sp>
        <p:nvSpPr>
          <p:cNvPr id="5" name="shape-5">
            <a:extLst>
              <a:ext uri="{FF2B5EF4-FFF2-40B4-BE49-F238E27FC236}">
                <a16:creationId xmlns:a16="http://schemas.microsoft.com/office/drawing/2014/main" id="{F1E092A0-29D4-48F9-8EFD-28EAD5139A0A}"/>
              </a:ext>
            </a:extLst>
          </p:cNvPr>
          <p:cNvSpPr>
            <a:spLocks noGrp="1"/>
          </p:cNvSpPr>
          <p:nvPr/>
        </p:nvSpPr>
        <p:spPr>
          <a:xfrm>
            <a:off x="4829175" y="3152775"/>
            <a:ext cx="6696075" cy="400050"/>
          </a:xfrm>
          <a:prstGeom prst="rect">
            <a:avLst/>
          </a:prstGeom>
          <a:solidFill>
            <a:srgbClr val="B95C33"/>
          </a:solidFill>
          <a:ln w="0">
            <a:noFill/>
            <a:prstDash val="solid"/>
          </a:ln>
        </p:spPr>
      </p:sp>
      <p:sp>
        <p:nvSpPr>
          <p:cNvPr id="6" name="shape-6">
            <a:extLst>
              <a:ext uri="{FF2B5EF4-FFF2-40B4-BE49-F238E27FC236}">
                <a16:creationId xmlns:a16="http://schemas.microsoft.com/office/drawing/2014/main" id="{B8620F3D-AF23-405F-B7F3-2296D2D2F3AB}"/>
              </a:ext>
            </a:extLst>
          </p:cNvPr>
          <p:cNvSpPr>
            <a:spLocks noGrp="1"/>
          </p:cNvSpPr>
          <p:nvPr/>
        </p:nvSpPr>
        <p:spPr>
          <a:xfrm>
            <a:off x="4810125" y="2952750"/>
            <a:ext cx="28575" cy="828675"/>
          </a:xfrm>
          <a:prstGeom prst="rect">
            <a:avLst/>
          </a:prstGeom>
          <a:solidFill>
            <a:srgbClr val="182C30"/>
          </a:solidFill>
          <a:ln w="0">
            <a:noFill/>
            <a:prstDash val="solid"/>
          </a:ln>
        </p:spPr>
      </p:sp>
      <p:sp>
        <p:nvSpPr>
          <p:cNvPr id="7" name="text-7">
            <a:extLst>
              <a:ext uri="{FF2B5EF4-FFF2-40B4-BE49-F238E27FC236}">
                <a16:creationId xmlns:a16="http://schemas.microsoft.com/office/drawing/2014/main" id="{111F74E1-E7F2-4AB3-ACE9-DA85D7CE4D4D}"/>
              </a:ext>
            </a:extLst>
          </p:cNvPr>
          <p:cNvSpPr>
            <a:spLocks noGrp="1"/>
          </p:cNvSpPr>
          <p:nvPr/>
        </p:nvSpPr>
        <p:spPr>
          <a:xfrm>
            <a:off x="666750" y="3876675"/>
            <a:ext cx="2095500" cy="323850"/>
          </a:xfrm>
          <a:prstGeom prst="rect">
            <a:avLst/>
          </a:prstGeom>
        </p:spPr>
        <p:txBody>
          <a:bodyPr lIns="0" tIns="0" rIns="0" bIns="0" anchor="ctr"/>
          <a:lstStyle/>
          <a:p>
            <a:pPr algn="l">
              <a:spcBef>
                <a:spcPts val="0"/>
              </a:spcBef>
              <a:spcAft>
                <a:spcPts val="0"/>
              </a:spcAft>
              <a:buNone/>
              <a:defRPr sz="1725" b="0">
                <a:solidFill>
                  <a:srgbClr val="182C30"/>
                </a:solidFill>
                <a:latin typeface="Arial"/>
                <a:ea typeface="Arial"/>
                <a:cs typeface="Arial"/>
              </a:defRPr>
            </a:pPr>
            <a:r>
              <a:t>Jan 2021</a:t>
            </a:r>
          </a:p>
        </p:txBody>
      </p:sp>
      <p:sp>
        <p:nvSpPr>
          <p:cNvPr id="8" name="text-8">
            <a:extLst>
              <a:ext uri="{FF2B5EF4-FFF2-40B4-BE49-F238E27FC236}">
                <a16:creationId xmlns:a16="http://schemas.microsoft.com/office/drawing/2014/main" id="{0570D6B7-511A-4103-B57E-6EB7E26B41DF}"/>
              </a:ext>
            </a:extLst>
          </p:cNvPr>
          <p:cNvSpPr>
            <a:spLocks noGrp="1"/>
          </p:cNvSpPr>
          <p:nvPr/>
        </p:nvSpPr>
        <p:spPr>
          <a:xfrm>
            <a:off x="4114800" y="3876675"/>
            <a:ext cx="2095500" cy="323850"/>
          </a:xfrm>
          <a:prstGeom prst="rect">
            <a:avLst/>
          </a:prstGeom>
        </p:spPr>
        <p:txBody>
          <a:bodyPr lIns="0" tIns="0" rIns="0" bIns="0" anchor="ctr"/>
          <a:lstStyle/>
          <a:p>
            <a:pPr algn="l">
              <a:spcBef>
                <a:spcPts val="0"/>
              </a:spcBef>
              <a:spcAft>
                <a:spcPts val="0"/>
              </a:spcAft>
              <a:buNone/>
              <a:defRPr sz="1725" b="0">
                <a:solidFill>
                  <a:srgbClr val="182C30"/>
                </a:solidFill>
                <a:latin typeface="Arial"/>
                <a:ea typeface="Arial"/>
                <a:cs typeface="Arial"/>
              </a:defRPr>
            </a:pPr>
            <a:r>
              <a:t>Dec 2022</a:t>
            </a:r>
          </a:p>
        </p:txBody>
      </p:sp>
      <p:sp>
        <p:nvSpPr>
          <p:cNvPr id="9" name="text-9">
            <a:extLst>
              <a:ext uri="{FF2B5EF4-FFF2-40B4-BE49-F238E27FC236}">
                <a16:creationId xmlns:a16="http://schemas.microsoft.com/office/drawing/2014/main" id="{84A19D79-C9C1-41C6-8010-FB86468EB29E}"/>
              </a:ext>
            </a:extLst>
          </p:cNvPr>
          <p:cNvSpPr>
            <a:spLocks noGrp="1"/>
          </p:cNvSpPr>
          <p:nvPr/>
        </p:nvSpPr>
        <p:spPr>
          <a:xfrm>
            <a:off x="9525000" y="3876675"/>
            <a:ext cx="2000250" cy="323850"/>
          </a:xfrm>
          <a:prstGeom prst="rect">
            <a:avLst/>
          </a:prstGeom>
        </p:spPr>
        <p:txBody>
          <a:bodyPr lIns="0" tIns="0" rIns="0" bIns="0" anchor="ctr"/>
          <a:lstStyle/>
          <a:p>
            <a:pPr algn="r">
              <a:spcBef>
                <a:spcPts val="0"/>
              </a:spcBef>
              <a:spcAft>
                <a:spcPts val="0"/>
              </a:spcAft>
              <a:buNone/>
              <a:defRPr sz="1725" b="0">
                <a:solidFill>
                  <a:srgbClr val="182C30"/>
                </a:solidFill>
                <a:latin typeface="Arial"/>
                <a:ea typeface="Arial"/>
                <a:cs typeface="Arial"/>
              </a:defRPr>
            </a:pPr>
            <a:r>
              <a:t>Dec 2025</a:t>
            </a:r>
          </a:p>
        </p:txBody>
      </p:sp>
      <p:sp>
        <p:nvSpPr>
          <p:cNvPr id="10" name="text-10">
            <a:extLst>
              <a:ext uri="{FF2B5EF4-FFF2-40B4-BE49-F238E27FC236}">
                <a16:creationId xmlns:a16="http://schemas.microsoft.com/office/drawing/2014/main" id="{E3364E2E-97F3-4468-8FEB-5C4219F6AC01}"/>
              </a:ext>
            </a:extLst>
          </p:cNvPr>
          <p:cNvSpPr>
            <a:spLocks noGrp="1"/>
          </p:cNvSpPr>
          <p:nvPr/>
        </p:nvSpPr>
        <p:spPr>
          <a:xfrm>
            <a:off x="3695700" y="4324350"/>
            <a:ext cx="4095750" cy="342900"/>
          </a:xfrm>
          <a:prstGeom prst="rect">
            <a:avLst/>
          </a:prstGeom>
        </p:spPr>
        <p:txBody>
          <a:bodyPr lIns="0" tIns="0" rIns="0" bIns="0" anchor="ctr"/>
          <a:lstStyle/>
          <a:p>
            <a:pPr algn="l">
              <a:spcBef>
                <a:spcPts val="0"/>
              </a:spcBef>
              <a:spcAft>
                <a:spcPts val="0"/>
              </a:spcAft>
              <a:buNone/>
              <a:defRPr sz="1500" b="0">
                <a:solidFill>
                  <a:srgbClr val="5D7073"/>
                </a:solidFill>
                <a:latin typeface="Arial"/>
                <a:ea typeface="Arial"/>
                <a:cs typeface="Arial"/>
              </a:defRPr>
            </a:pPr>
            <a:r>
              <a:t>First full month after release [8]</a:t>
            </a:r>
          </a:p>
        </p:txBody>
      </p:sp>
      <p:sp>
        <p:nvSpPr>
          <p:cNvPr id="11" name="text-11">
            <a:extLst>
              <a:ext uri="{FF2B5EF4-FFF2-40B4-BE49-F238E27FC236}">
                <a16:creationId xmlns:a16="http://schemas.microsoft.com/office/drawing/2014/main" id="{E917C806-C6DF-4B06-AAD7-08009B48A3C6}"/>
              </a:ext>
            </a:extLst>
          </p:cNvPr>
          <p:cNvSpPr>
            <a:spLocks noGrp="1"/>
          </p:cNvSpPr>
          <p:nvPr/>
        </p:nvSpPr>
        <p:spPr>
          <a:xfrm>
            <a:off x="666750" y="5200650"/>
            <a:ext cx="7429500" cy="457200"/>
          </a:xfrm>
          <a:prstGeom prst="rect">
            <a:avLst/>
          </a:prstGeom>
        </p:spPr>
        <p:txBody>
          <a:bodyPr lIns="0" tIns="0" rIns="0" bIns="0" anchor="ctr"/>
          <a:lstStyle/>
          <a:p>
            <a:pPr algn="l">
              <a:spcBef>
                <a:spcPts val="0"/>
              </a:spcBef>
              <a:spcAft>
                <a:spcPts val="0"/>
              </a:spcAft>
              <a:buNone/>
              <a:defRPr sz="2400" b="0">
                <a:solidFill>
                  <a:srgbClr val="182C30"/>
                </a:solidFill>
                <a:latin typeface="Arial"/>
                <a:ea typeface="Arial"/>
                <a:cs typeface="Arial"/>
              </a:defRPr>
            </a:pPr>
            <a:r>
              <a:t>Planned: equal eligible samples</a:t>
            </a:r>
          </a:p>
        </p:txBody>
      </p:sp>
      <p:sp>
        <p:nvSpPr>
          <p:cNvPr id="12" name="text-12">
            <a:extLst>
              <a:ext uri="{FF2B5EF4-FFF2-40B4-BE49-F238E27FC236}">
                <a16:creationId xmlns:a16="http://schemas.microsoft.com/office/drawing/2014/main" id="{62598BF3-AD27-4E0D-BDB4-A09D018ECCE9}"/>
              </a:ext>
            </a:extLst>
          </p:cNvPr>
          <p:cNvSpPr>
            <a:spLocks noGrp="1"/>
          </p:cNvSpPr>
          <p:nvPr/>
        </p:nvSpPr>
        <p:spPr>
          <a:xfrm>
            <a:off x="666750" y="5724525"/>
            <a:ext cx="9048750" cy="333375"/>
          </a:xfrm>
          <a:prstGeom prst="rect">
            <a:avLst/>
          </a:prstGeom>
        </p:spPr>
        <p:txBody>
          <a:bodyPr lIns="0" tIns="0" rIns="0" bIns="0" anchor="ctr"/>
          <a:lstStyle/>
          <a:p>
            <a:pPr algn="l">
              <a:spcBef>
                <a:spcPts val="0"/>
              </a:spcBef>
              <a:spcAft>
                <a:spcPts val="0"/>
              </a:spcAft>
              <a:buNone/>
              <a:defRPr sz="1725" b="0">
                <a:solidFill>
                  <a:srgbClr val="5D7073"/>
                </a:solidFill>
                <a:latin typeface="Arial"/>
                <a:ea typeface="Arial"/>
                <a:cs typeface="Arial"/>
              </a:defRPr>
            </a:pPr>
            <a:r>
              <a:t>100–200 per month; set after pilot</a:t>
            </a:r>
          </a:p>
        </p:txBody>
      </p:sp>
      <p:sp>
        <p:nvSpPr>
          <p:cNvPr id="13" name="text-13">
            <a:extLst>
              <a:ext uri="{FF2B5EF4-FFF2-40B4-BE49-F238E27FC236}">
                <a16:creationId xmlns:a16="http://schemas.microsoft.com/office/drawing/2014/main" id="{BF2800E1-D78F-484D-A68A-0898D2765B18}"/>
              </a:ext>
            </a:extLst>
          </p:cNvPr>
          <p:cNvSpPr>
            <a:spLocks noGrp="1"/>
          </p:cNvSpPr>
          <p:nvPr/>
        </p:nvSpPr>
        <p:spPr>
          <a:xfrm>
            <a:off x="666750" y="6334125"/>
            <a:ext cx="10287000" cy="238125"/>
          </a:xfrm>
          <a:prstGeom prst="rect">
            <a:avLst/>
          </a:prstGeom>
        </p:spPr>
        <p:txBody>
          <a:bodyPr lIns="0" tIns="0" rIns="0" bIns="0" anchor="ctr"/>
          <a:lstStyle/>
          <a:p>
            <a:pPr algn="l">
              <a:spcBef>
                <a:spcPts val="0"/>
              </a:spcBef>
              <a:spcAft>
                <a:spcPts val="0"/>
              </a:spcAft>
              <a:buNone/>
              <a:defRPr sz="975" b="0">
                <a:solidFill>
                  <a:srgbClr val="5D7073"/>
                </a:solidFill>
                <a:latin typeface="Arial"/>
                <a:ea typeface="Arial"/>
                <a:cs typeface="Arial"/>
              </a:defRPr>
            </a:pPr>
            <a:r>
              <a:t>ChatGPT: November 30, 2022. Copilot was already available. [2, 8]</a:t>
            </a:r>
          </a:p>
        </p:txBody>
      </p:sp>
      <p:sp>
        <p:nvSpPr>
          <p:cNvPr id="16" name="Rectangle 15">
            <a:extLst>
              <a:ext uri="{FF2B5EF4-FFF2-40B4-BE49-F238E27FC236}">
                <a16:creationId xmlns:a16="http://schemas.microsoft.com/office/drawing/2014/main" id="{73E93AD7-8AD9-492B-8567-C0C965362A10}"/>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03</a:t>
            </a:r>
          </a:p>
        </p:txBody>
      </p:sp>
    </p:spTree>
    <p:extLst>
      <p:ext uri="{BB962C8B-B14F-4D97-AF65-F5344CB8AC3E}">
        <p14:creationId xmlns:p14="http://schemas.microsoft.com/office/powerpoint/2010/main" val="462460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2C30"/>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C533521A-E266-4B8F-B459-CA6BCD819441}"/>
              </a:ext>
            </a:extLst>
          </p:cNvPr>
          <p:cNvSpPr>
            <a:spLocks noGrp="1"/>
          </p:cNvSpPr>
          <p:nvPr/>
        </p:nvSpPr>
        <p:spPr>
          <a:xfrm>
            <a:off x="666750" y="476250"/>
            <a:ext cx="10858500" cy="1190625"/>
          </a:xfrm>
          <a:prstGeom prst="rect">
            <a:avLst/>
          </a:prstGeom>
        </p:spPr>
        <p:txBody>
          <a:bodyPr lIns="0" tIns="0" rIns="0" bIns="0" anchor="ctr"/>
          <a:lstStyle/>
          <a:p>
            <a:pPr algn="l">
              <a:buNone/>
              <a:defRPr sz="3300">
                <a:solidFill>
                  <a:srgbClr val="F7F8F5"/>
                </a:solidFill>
                <a:latin typeface="Georgia"/>
                <a:ea typeface="Georgia"/>
                <a:cs typeface="Georgia"/>
              </a:defRPr>
            </a:pPr>
            <a:r>
              <a:t>Each month, turn repositories into one diversity score</a:t>
            </a:r>
          </a:p>
        </p:txBody>
      </p:sp>
      <p:sp>
        <p:nvSpPr>
          <p:cNvPr id="2" name="Rectangle 1">
            <a:extLst>
              <a:ext uri="{FF2B5EF4-FFF2-40B4-BE49-F238E27FC236}">
                <a16:creationId xmlns:a16="http://schemas.microsoft.com/office/drawing/2014/main" id="{9CD188A1-75C0-4A00-BF6D-CD9848957C07}"/>
              </a:ext>
            </a:extLst>
          </p:cNvPr>
          <p:cNvSpPr>
            <a:spLocks noGrp="1"/>
          </p:cNvSpPr>
          <p:nvPr/>
        </p:nvSpPr>
        <p:spPr>
          <a:xfrm>
            <a:off x="2952750" y="2000250"/>
            <a:ext cx="5381625" cy="3095625"/>
          </a:xfrm>
          <a:prstGeom prst="rect">
            <a:avLst/>
          </a:prstGeom>
          <a:noFill/>
          <a:ln w="9525">
            <a:solidFill>
              <a:srgbClr val="5D7073"/>
            </a:solidFill>
            <a:prstDash val="solid"/>
          </a:ln>
        </p:spPr>
      </p:sp>
      <p:sp>
        <p:nvSpPr>
          <p:cNvPr id="3" name="Rectangle 2">
            <a:extLst>
              <a:ext uri="{FF2B5EF4-FFF2-40B4-BE49-F238E27FC236}">
                <a16:creationId xmlns:a16="http://schemas.microsoft.com/office/drawing/2014/main" id="{6E22D474-82DA-4D4C-A354-5F646E278050}"/>
              </a:ext>
            </a:extLst>
          </p:cNvPr>
          <p:cNvSpPr>
            <a:spLocks noGrp="1"/>
          </p:cNvSpPr>
          <p:nvPr/>
        </p:nvSpPr>
        <p:spPr>
          <a:xfrm>
            <a:off x="3190875" y="2085975"/>
            <a:ext cx="4762500" cy="361950"/>
          </a:xfrm>
          <a:prstGeom prst="rect">
            <a:avLst/>
          </a:prstGeom>
        </p:spPr>
        <p:txBody>
          <a:bodyPr lIns="0" tIns="0" rIns="0" bIns="0" anchor="ctr"/>
          <a:lstStyle/>
          <a:p>
            <a:pPr algn="l">
              <a:buNone/>
              <a:defRPr sz="1725">
                <a:solidFill>
                  <a:srgbClr val="B6C9C8"/>
                </a:solidFill>
                <a:latin typeface="Arial"/>
                <a:ea typeface="Arial"/>
                <a:cs typeface="Arial"/>
              </a:defRPr>
            </a:pPr>
            <a:r>
              <a:t>For each repository</a:t>
            </a:r>
          </a:p>
        </p:txBody>
      </p:sp>
      <p:sp>
        <p:nvSpPr>
          <p:cNvPr id="4" name="Rectangle 3">
            <a:extLst>
              <a:ext uri="{FF2B5EF4-FFF2-40B4-BE49-F238E27FC236}">
                <a16:creationId xmlns:a16="http://schemas.microsoft.com/office/drawing/2014/main" id="{2D2FA66B-1B09-4F7E-8BCD-9800F212F3C4}"/>
              </a:ext>
            </a:extLst>
          </p:cNvPr>
          <p:cNvSpPr>
            <a:spLocks noGrp="1"/>
          </p:cNvSpPr>
          <p:nvPr/>
        </p:nvSpPr>
        <p:spPr>
          <a:xfrm>
            <a:off x="666750" y="3048000"/>
            <a:ext cx="1952625" cy="1143000"/>
          </a:xfrm>
          <a:prstGeom prst="rect">
            <a:avLst/>
          </a:prstGeom>
          <a:solidFill>
            <a:srgbClr val="006D77"/>
          </a:solidFill>
          <a:ln w="9525">
            <a:noFill/>
            <a:prstDash val="solid"/>
          </a:ln>
        </p:spPr>
      </p:sp>
      <p:sp>
        <p:nvSpPr>
          <p:cNvPr id="5" name="Rectangle 4">
            <a:extLst>
              <a:ext uri="{FF2B5EF4-FFF2-40B4-BE49-F238E27FC236}">
                <a16:creationId xmlns:a16="http://schemas.microsoft.com/office/drawing/2014/main" id="{376D5884-BC24-493A-9338-67B2674B52BB}"/>
              </a:ext>
            </a:extLst>
          </p:cNvPr>
          <p:cNvSpPr>
            <a:spLocks noGrp="1"/>
          </p:cNvSpPr>
          <p:nvPr/>
        </p:nvSpPr>
        <p:spPr>
          <a:xfrm>
            <a:off x="838200" y="3162300"/>
            <a:ext cx="1619250" cy="361950"/>
          </a:xfrm>
          <a:prstGeom prst="rect">
            <a:avLst/>
          </a:prstGeom>
        </p:spPr>
        <p:txBody>
          <a:bodyPr lIns="0" tIns="0" rIns="0" bIns="0" anchor="ctr"/>
          <a:lstStyle/>
          <a:p>
            <a:pPr algn="l">
              <a:buNone/>
              <a:defRPr sz="2100">
                <a:solidFill>
                  <a:srgbClr val="F7F8F5"/>
                </a:solidFill>
                <a:latin typeface="Arial"/>
                <a:ea typeface="Arial"/>
                <a:cs typeface="Arial"/>
              </a:defRPr>
            </a:pPr>
            <a:r>
              <a:t>Collect IDs</a:t>
            </a:r>
          </a:p>
        </p:txBody>
      </p:sp>
      <p:sp>
        <p:nvSpPr>
          <p:cNvPr id="6" name="Rectangle 5">
            <a:extLst>
              <a:ext uri="{FF2B5EF4-FFF2-40B4-BE49-F238E27FC236}">
                <a16:creationId xmlns:a16="http://schemas.microsoft.com/office/drawing/2014/main" id="{A610FA93-5F57-4BD5-A351-6B3FF8F86063}"/>
              </a:ext>
            </a:extLst>
          </p:cNvPr>
          <p:cNvSpPr>
            <a:spLocks noGrp="1"/>
          </p:cNvSpPr>
          <p:nvPr/>
        </p:nvSpPr>
        <p:spPr>
          <a:xfrm>
            <a:off x="838200" y="3590925"/>
            <a:ext cx="1619250" cy="514350"/>
          </a:xfrm>
          <a:prstGeom prst="rect">
            <a:avLst/>
          </a:prstGeom>
        </p:spPr>
        <p:txBody>
          <a:bodyPr lIns="0" tIns="0" rIns="0" bIns="0" anchor="ctr"/>
          <a:lstStyle/>
          <a:p>
            <a:pPr algn="l">
              <a:buNone/>
              <a:defRPr sz="1575">
                <a:solidFill>
                  <a:srgbClr val="F7F8F5"/>
                </a:solidFill>
                <a:latin typeface="Arial"/>
                <a:ea typeface="Arial"/>
                <a:cs typeface="Arial"/>
              </a:defRPr>
            </a:pPr>
            <a:r>
              <a:t>200 candidates</a:t>
            </a:r>
          </a:p>
          <a:p>
            <a:pPr algn="l">
              <a:buNone/>
              <a:defRPr sz="1575">
                <a:solidFill>
                  <a:srgbClr val="F7F8F5"/>
                </a:solidFill>
                <a:latin typeface="Arial"/>
                <a:ea typeface="Arial"/>
                <a:cs typeface="Arial"/>
              </a:defRPr>
            </a:pPr>
            <a:r>
              <a:t>per month</a:t>
            </a:r>
          </a:p>
        </p:txBody>
      </p:sp>
      <p:sp>
        <p:nvSpPr>
          <p:cNvPr id="7" name="Rectangle 6">
            <a:extLst>
              <a:ext uri="{FF2B5EF4-FFF2-40B4-BE49-F238E27FC236}">
                <a16:creationId xmlns:a16="http://schemas.microsoft.com/office/drawing/2014/main" id="{A8B244DF-B455-42C8-881E-AB3C903A66F1}"/>
              </a:ext>
            </a:extLst>
          </p:cNvPr>
          <p:cNvSpPr>
            <a:spLocks noGrp="1"/>
          </p:cNvSpPr>
          <p:nvPr/>
        </p:nvSpPr>
        <p:spPr>
          <a:xfrm>
            <a:off x="3238500" y="2667000"/>
            <a:ext cx="2143125" cy="809625"/>
          </a:xfrm>
          <a:prstGeom prst="rect">
            <a:avLst/>
          </a:prstGeom>
          <a:solidFill>
            <a:srgbClr val="304A50"/>
          </a:solidFill>
          <a:ln w="9525">
            <a:noFill/>
            <a:prstDash val="solid"/>
          </a:ln>
        </p:spPr>
      </p:sp>
      <p:sp>
        <p:nvSpPr>
          <p:cNvPr id="8" name="Rectangle 7">
            <a:extLst>
              <a:ext uri="{FF2B5EF4-FFF2-40B4-BE49-F238E27FC236}">
                <a16:creationId xmlns:a16="http://schemas.microsoft.com/office/drawing/2014/main" id="{AB906CF0-0C3B-4A1A-849C-06290727509C}"/>
              </a:ext>
            </a:extLst>
          </p:cNvPr>
          <p:cNvSpPr>
            <a:spLocks noGrp="1"/>
          </p:cNvSpPr>
          <p:nvPr/>
        </p:nvSpPr>
        <p:spPr>
          <a:xfrm>
            <a:off x="3381375" y="2762250"/>
            <a:ext cx="1857375" cy="619125"/>
          </a:xfrm>
          <a:prstGeom prst="rect">
            <a:avLst/>
          </a:prstGeom>
        </p:spPr>
        <p:txBody>
          <a:bodyPr lIns="0" tIns="0" rIns="0" bIns="0" anchor="ctr"/>
          <a:lstStyle/>
          <a:p>
            <a:pPr algn="l">
              <a:buNone/>
              <a:defRPr sz="1800">
                <a:solidFill>
                  <a:srgbClr val="F7F8F5"/>
                </a:solidFill>
                <a:latin typeface="Arial"/>
                <a:ea typeface="Arial"/>
                <a:cs typeface="Arial"/>
              </a:defRPr>
            </a:pPr>
            <a:r>
              <a:t>Recover early files</a:t>
            </a:r>
          </a:p>
        </p:txBody>
      </p:sp>
      <p:sp>
        <p:nvSpPr>
          <p:cNvPr id="9" name="Rectangle 8">
            <a:extLst>
              <a:ext uri="{FF2B5EF4-FFF2-40B4-BE49-F238E27FC236}">
                <a16:creationId xmlns:a16="http://schemas.microsoft.com/office/drawing/2014/main" id="{43D0046F-6208-4210-8D99-C9F5623B51DF}"/>
              </a:ext>
            </a:extLst>
          </p:cNvPr>
          <p:cNvSpPr>
            <a:spLocks noGrp="1"/>
          </p:cNvSpPr>
          <p:nvPr/>
        </p:nvSpPr>
        <p:spPr>
          <a:xfrm>
            <a:off x="5905500" y="2667000"/>
            <a:ext cx="2143125" cy="809625"/>
          </a:xfrm>
          <a:prstGeom prst="rect">
            <a:avLst/>
          </a:prstGeom>
          <a:solidFill>
            <a:srgbClr val="304A50"/>
          </a:solidFill>
          <a:ln w="9525">
            <a:noFill/>
            <a:prstDash val="solid"/>
          </a:ln>
        </p:spPr>
      </p:sp>
      <p:sp>
        <p:nvSpPr>
          <p:cNvPr id="10" name="Rectangle 9">
            <a:extLst>
              <a:ext uri="{FF2B5EF4-FFF2-40B4-BE49-F238E27FC236}">
                <a16:creationId xmlns:a16="http://schemas.microsoft.com/office/drawing/2014/main" id="{4DF237BE-694D-43EF-A8E2-1315A3089517}"/>
              </a:ext>
            </a:extLst>
          </p:cNvPr>
          <p:cNvSpPr>
            <a:spLocks noGrp="1"/>
          </p:cNvSpPr>
          <p:nvPr/>
        </p:nvSpPr>
        <p:spPr>
          <a:xfrm>
            <a:off x="6048375" y="2762250"/>
            <a:ext cx="1857375" cy="619125"/>
          </a:xfrm>
          <a:prstGeom prst="rect">
            <a:avLst/>
          </a:prstGeom>
        </p:spPr>
        <p:txBody>
          <a:bodyPr lIns="0" tIns="0" rIns="0" bIns="0" anchor="ctr"/>
          <a:lstStyle/>
          <a:p>
            <a:pPr algn="l">
              <a:buNone/>
              <a:defRPr sz="1800">
                <a:solidFill>
                  <a:srgbClr val="F7F8F5"/>
                </a:solidFill>
                <a:latin typeface="Arial"/>
                <a:ea typeface="Arial"/>
                <a:cs typeface="Arial"/>
              </a:defRPr>
            </a:pPr>
            <a:r>
              <a:t>Filter projects</a:t>
            </a:r>
          </a:p>
        </p:txBody>
      </p:sp>
      <p:sp>
        <p:nvSpPr>
          <p:cNvPr id="11" name="Rectangle 10">
            <a:extLst>
              <a:ext uri="{FF2B5EF4-FFF2-40B4-BE49-F238E27FC236}">
                <a16:creationId xmlns:a16="http://schemas.microsoft.com/office/drawing/2014/main" id="{987A53BF-8FEE-4777-A06B-E21AFFDE6189}"/>
              </a:ext>
            </a:extLst>
          </p:cNvPr>
          <p:cNvSpPr>
            <a:spLocks noGrp="1"/>
          </p:cNvSpPr>
          <p:nvPr/>
        </p:nvSpPr>
        <p:spPr>
          <a:xfrm>
            <a:off x="5905500" y="4000500"/>
            <a:ext cx="2143125" cy="809625"/>
          </a:xfrm>
          <a:prstGeom prst="rect">
            <a:avLst/>
          </a:prstGeom>
          <a:solidFill>
            <a:srgbClr val="304A50"/>
          </a:solidFill>
          <a:ln w="9525">
            <a:noFill/>
            <a:prstDash val="solid"/>
          </a:ln>
        </p:spPr>
      </p:sp>
      <p:sp>
        <p:nvSpPr>
          <p:cNvPr id="12" name="Rectangle 11">
            <a:extLst>
              <a:ext uri="{FF2B5EF4-FFF2-40B4-BE49-F238E27FC236}">
                <a16:creationId xmlns:a16="http://schemas.microsoft.com/office/drawing/2014/main" id="{56759C5B-14E0-4D72-938D-7691A59A414D}"/>
              </a:ext>
            </a:extLst>
          </p:cNvPr>
          <p:cNvSpPr>
            <a:spLocks noGrp="1"/>
          </p:cNvSpPr>
          <p:nvPr/>
        </p:nvSpPr>
        <p:spPr>
          <a:xfrm>
            <a:off x="6048375" y="4095750"/>
            <a:ext cx="1857375" cy="619125"/>
          </a:xfrm>
          <a:prstGeom prst="rect">
            <a:avLst/>
          </a:prstGeom>
        </p:spPr>
        <p:txBody>
          <a:bodyPr lIns="0" tIns="0" rIns="0" bIns="0" anchor="ctr"/>
          <a:lstStyle/>
          <a:p>
            <a:pPr algn="l">
              <a:buNone/>
              <a:defRPr sz="1800">
                <a:solidFill>
                  <a:srgbClr val="F7F8F5"/>
                </a:solidFill>
                <a:latin typeface="Arial"/>
                <a:ea typeface="Arial"/>
                <a:cs typeface="Arial"/>
              </a:defRPr>
            </a:pPr>
            <a:r>
              <a:t>Summarize ideas</a:t>
            </a:r>
          </a:p>
        </p:txBody>
      </p:sp>
      <p:sp>
        <p:nvSpPr>
          <p:cNvPr id="13" name="Rectangle 12">
            <a:extLst>
              <a:ext uri="{FF2B5EF4-FFF2-40B4-BE49-F238E27FC236}">
                <a16:creationId xmlns:a16="http://schemas.microsoft.com/office/drawing/2014/main" id="{DAA5ED24-EB5E-478F-9FAD-ACFF46490CAD}"/>
              </a:ext>
            </a:extLst>
          </p:cNvPr>
          <p:cNvSpPr>
            <a:spLocks noGrp="1"/>
          </p:cNvSpPr>
          <p:nvPr/>
        </p:nvSpPr>
        <p:spPr>
          <a:xfrm>
            <a:off x="3238500" y="4000500"/>
            <a:ext cx="2143125" cy="809625"/>
          </a:xfrm>
          <a:prstGeom prst="rect">
            <a:avLst/>
          </a:prstGeom>
          <a:solidFill>
            <a:srgbClr val="304A50"/>
          </a:solidFill>
          <a:ln w="9525">
            <a:noFill/>
            <a:prstDash val="solid"/>
          </a:ln>
        </p:spPr>
      </p:sp>
      <p:sp>
        <p:nvSpPr>
          <p:cNvPr id="14" name="Rectangle 13">
            <a:extLst>
              <a:ext uri="{FF2B5EF4-FFF2-40B4-BE49-F238E27FC236}">
                <a16:creationId xmlns:a16="http://schemas.microsoft.com/office/drawing/2014/main" id="{120A5020-637B-46AF-AEFE-F2015E9699C8}"/>
              </a:ext>
            </a:extLst>
          </p:cNvPr>
          <p:cNvSpPr>
            <a:spLocks noGrp="1"/>
          </p:cNvSpPr>
          <p:nvPr/>
        </p:nvSpPr>
        <p:spPr>
          <a:xfrm>
            <a:off x="3381375" y="4095750"/>
            <a:ext cx="1857375" cy="619125"/>
          </a:xfrm>
          <a:prstGeom prst="rect">
            <a:avLst/>
          </a:prstGeom>
        </p:spPr>
        <p:txBody>
          <a:bodyPr lIns="0" tIns="0" rIns="0" bIns="0" anchor="ctr"/>
          <a:lstStyle/>
          <a:p>
            <a:pPr algn="l">
              <a:buNone/>
              <a:defRPr sz="1800">
                <a:solidFill>
                  <a:srgbClr val="F7F8F5"/>
                </a:solidFill>
                <a:latin typeface="Arial"/>
                <a:ea typeface="Arial"/>
                <a:cs typeface="Arial"/>
              </a:defRPr>
            </a:pPr>
            <a:r>
              <a:t>Embed meaning</a:t>
            </a:r>
          </a:p>
        </p:txBody>
      </p:sp>
      <p:sp>
        <p:nvSpPr>
          <p:cNvPr id="15" name="Rectangle 14">
            <a:extLst>
              <a:ext uri="{FF2B5EF4-FFF2-40B4-BE49-F238E27FC236}">
                <a16:creationId xmlns:a16="http://schemas.microsoft.com/office/drawing/2014/main" id="{54BD671E-4EE5-4C19-8F28-67E44F17FCD7}"/>
              </a:ext>
            </a:extLst>
          </p:cNvPr>
          <p:cNvSpPr>
            <a:spLocks noGrp="1"/>
          </p:cNvSpPr>
          <p:nvPr/>
        </p:nvSpPr>
        <p:spPr>
          <a:xfrm>
            <a:off x="9096375" y="3048000"/>
            <a:ext cx="2428875" cy="1143000"/>
          </a:xfrm>
          <a:prstGeom prst="rect">
            <a:avLst/>
          </a:prstGeom>
          <a:solidFill>
            <a:srgbClr val="304A50"/>
          </a:solidFill>
          <a:ln w="9525">
            <a:noFill/>
            <a:prstDash val="solid"/>
          </a:ln>
        </p:spPr>
      </p:sp>
      <p:sp>
        <p:nvSpPr>
          <p:cNvPr id="16" name="Rectangle 15">
            <a:extLst>
              <a:ext uri="{FF2B5EF4-FFF2-40B4-BE49-F238E27FC236}">
                <a16:creationId xmlns:a16="http://schemas.microsoft.com/office/drawing/2014/main" id="{DD1AFD45-6B50-49AF-A086-F076DD453A0B}"/>
              </a:ext>
            </a:extLst>
          </p:cNvPr>
          <p:cNvSpPr>
            <a:spLocks noGrp="1"/>
          </p:cNvSpPr>
          <p:nvPr/>
        </p:nvSpPr>
        <p:spPr>
          <a:xfrm>
            <a:off x="9267825" y="3143250"/>
            <a:ext cx="2095500" cy="381000"/>
          </a:xfrm>
          <a:prstGeom prst="rect">
            <a:avLst/>
          </a:prstGeom>
        </p:spPr>
        <p:txBody>
          <a:bodyPr lIns="0" tIns="0" rIns="0" bIns="0" anchor="ctr"/>
          <a:lstStyle/>
          <a:p>
            <a:pPr algn="l">
              <a:buNone/>
              <a:defRPr sz="2025">
                <a:solidFill>
                  <a:srgbClr val="F7F8F5"/>
                </a:solidFill>
                <a:latin typeface="Arial"/>
                <a:ea typeface="Arial"/>
                <a:cs typeface="Arial"/>
              </a:defRPr>
            </a:pPr>
            <a:r>
              <a:t>Combine vectors</a:t>
            </a:r>
          </a:p>
        </p:txBody>
      </p:sp>
      <p:sp>
        <p:nvSpPr>
          <p:cNvPr id="17" name="Rectangle 16">
            <a:extLst>
              <a:ext uri="{FF2B5EF4-FFF2-40B4-BE49-F238E27FC236}">
                <a16:creationId xmlns:a16="http://schemas.microsoft.com/office/drawing/2014/main" id="{F6245C4C-3F17-451B-A498-C6E175827034}"/>
              </a:ext>
            </a:extLst>
          </p:cNvPr>
          <p:cNvSpPr>
            <a:spLocks noGrp="1"/>
          </p:cNvSpPr>
          <p:nvPr/>
        </p:nvSpPr>
        <p:spPr>
          <a:xfrm>
            <a:off x="9267825" y="3600450"/>
            <a:ext cx="2095500" cy="400050"/>
          </a:xfrm>
          <a:prstGeom prst="rect">
            <a:avLst/>
          </a:prstGeom>
        </p:spPr>
        <p:txBody>
          <a:bodyPr lIns="0" tIns="0" rIns="0" bIns="0" anchor="ctr"/>
          <a:lstStyle/>
          <a:p>
            <a:pPr algn="l">
              <a:buNone/>
              <a:defRPr sz="1725">
                <a:solidFill>
                  <a:srgbClr val="F7F8F5"/>
                </a:solidFill>
                <a:latin typeface="Arial"/>
                <a:ea typeface="Arial"/>
                <a:cs typeface="Arial"/>
              </a:defRPr>
            </a:pPr>
            <a:r>
              <a:t>One monthly score</a:t>
            </a:r>
          </a:p>
        </p:txBody>
      </p:sp>
      <p:sp>
        <p:nvSpPr>
          <p:cNvPr id="18" name="Rectangle 17">
            <a:extLst>
              <a:ext uri="{FF2B5EF4-FFF2-40B4-BE49-F238E27FC236}">
                <a16:creationId xmlns:a16="http://schemas.microsoft.com/office/drawing/2014/main" id="{A413604E-69F3-472B-823E-B850433C28A8}"/>
              </a:ext>
            </a:extLst>
          </p:cNvPr>
          <p:cNvSpPr>
            <a:spLocks noGrp="1"/>
          </p:cNvSpPr>
          <p:nvPr/>
        </p:nvSpPr>
        <p:spPr>
          <a:xfrm>
            <a:off x="666750" y="4362450"/>
            <a:ext cx="1952625" cy="381000"/>
          </a:xfrm>
          <a:prstGeom prst="rect">
            <a:avLst/>
          </a:prstGeom>
        </p:spPr>
        <p:txBody>
          <a:bodyPr lIns="0" tIns="0" rIns="0" bIns="0" anchor="ctr"/>
          <a:lstStyle/>
          <a:p>
            <a:pPr algn="l">
              <a:buNone/>
              <a:defRPr sz="1500">
                <a:solidFill>
                  <a:srgbClr val="B6C9C8"/>
                </a:solidFill>
                <a:latin typeface="Arial"/>
                <a:ea typeface="Arial"/>
                <a:cs typeface="Arial"/>
              </a:defRPr>
            </a:pPr>
            <a:r>
              <a:t>Current work</a:t>
            </a:r>
          </a:p>
        </p:txBody>
      </p:sp>
      <p:sp>
        <p:nvSpPr>
          <p:cNvPr id="19" name="Rectangle 18">
            <a:extLst>
              <a:ext uri="{FF2B5EF4-FFF2-40B4-BE49-F238E27FC236}">
                <a16:creationId xmlns:a16="http://schemas.microsoft.com/office/drawing/2014/main" id="{58A50823-A1F8-4C71-8AF2-0AF8B5B7BA01}"/>
              </a:ext>
            </a:extLst>
          </p:cNvPr>
          <p:cNvSpPr>
            <a:spLocks noGrp="1"/>
          </p:cNvSpPr>
          <p:nvPr/>
        </p:nvSpPr>
        <p:spPr>
          <a:xfrm>
            <a:off x="2381250" y="5638800"/>
            <a:ext cx="8572500" cy="523875"/>
          </a:xfrm>
          <a:prstGeom prst="rect">
            <a:avLst/>
          </a:prstGeom>
        </p:spPr>
        <p:txBody>
          <a:bodyPr lIns="0" tIns="0" rIns="0" bIns="0" anchor="ctr"/>
          <a:lstStyle/>
          <a:p>
            <a:pPr algn="l">
              <a:buNone/>
              <a:defRPr sz="2100">
                <a:solidFill>
                  <a:srgbClr val="F7F8F5"/>
                </a:solidFill>
                <a:latin typeface="Arial"/>
                <a:ea typeface="Arial"/>
                <a:cs typeface="Arial"/>
              </a:defRPr>
            </a:pPr>
            <a:r>
              <a:t>60 monthly scores  →  Trend test  →  Robustness checks</a:t>
            </a:r>
          </a:p>
        </p:txBody>
      </p:sp>
      <p:cxnSp>
        <p:nvCxnSpPr>
          <p:cNvPr id="56" name="Straight Arrow Connector 19"/>
          <p:cNvCxnSpPr>
            <a:stCxn id="4" idx="3"/>
            <a:endCxn id="7" idx="1"/>
          </p:cNvCxnSpPr>
          <p:nvPr/>
        </p:nvCxnSpPr>
        <p:spPr>
          <a:xfrm flipV="1">
            <a:off x="2619375" y="3071813"/>
            <a:ext cx="619125" cy="547688"/>
          </a:xfrm>
          <a:prstGeom prst="straightConnector1">
            <a:avLst/>
          </a:prstGeom>
          <a:ln w="19050">
            <a:solidFill>
              <a:srgbClr val="006D77"/>
            </a:solidFill>
            <a:tailEnd type="arrow" w="med" len="med"/>
          </a:ln>
        </p:spPr>
      </p:cxnSp>
      <p:cxnSp>
        <p:nvCxnSpPr>
          <p:cNvPr id="57" name="Straight Arrow Connector 20"/>
          <p:cNvCxnSpPr>
            <a:stCxn id="7" idx="3"/>
            <a:endCxn id="9" idx="1"/>
          </p:cNvCxnSpPr>
          <p:nvPr/>
        </p:nvCxnSpPr>
        <p:spPr>
          <a:xfrm>
            <a:off x="5381625" y="3071813"/>
            <a:ext cx="523875" cy="0"/>
          </a:xfrm>
          <a:prstGeom prst="straightConnector1">
            <a:avLst/>
          </a:prstGeom>
          <a:ln w="19050">
            <a:solidFill>
              <a:srgbClr val="006D77"/>
            </a:solidFill>
            <a:tailEnd type="arrow" w="med" len="med"/>
          </a:ln>
        </p:spPr>
      </p:cxnSp>
      <p:cxnSp>
        <p:nvCxnSpPr>
          <p:cNvPr id="58" name="Straight Arrow Connector 21"/>
          <p:cNvCxnSpPr>
            <a:stCxn id="9" idx="2"/>
            <a:endCxn id="11" idx="0"/>
          </p:cNvCxnSpPr>
          <p:nvPr/>
        </p:nvCxnSpPr>
        <p:spPr>
          <a:xfrm>
            <a:off x="6977063" y="3476625"/>
            <a:ext cx="0" cy="523875"/>
          </a:xfrm>
          <a:prstGeom prst="straightConnector1">
            <a:avLst/>
          </a:prstGeom>
          <a:ln w="19050">
            <a:solidFill>
              <a:srgbClr val="006D77"/>
            </a:solidFill>
            <a:tailEnd type="arrow" w="med" len="med"/>
          </a:ln>
        </p:spPr>
      </p:cxnSp>
      <p:cxnSp>
        <p:nvCxnSpPr>
          <p:cNvPr id="59" name="Straight Arrow Connector 22"/>
          <p:cNvCxnSpPr>
            <a:stCxn id="11" idx="1"/>
            <a:endCxn id="13" idx="3"/>
          </p:cNvCxnSpPr>
          <p:nvPr/>
        </p:nvCxnSpPr>
        <p:spPr>
          <a:xfrm flipH="1">
            <a:off x="5381625" y="4405313"/>
            <a:ext cx="523875" cy="0"/>
          </a:xfrm>
          <a:prstGeom prst="straightConnector1">
            <a:avLst/>
          </a:prstGeom>
          <a:ln w="19050">
            <a:solidFill>
              <a:srgbClr val="006D77"/>
            </a:solidFill>
            <a:tailEnd type="arrow" w="med" len="med"/>
          </a:ln>
        </p:spPr>
      </p:cxnSp>
      <p:sp>
        <p:nvSpPr>
          <p:cNvPr id="24" name="Rectangle 23">
            <a:extLst>
              <a:ext uri="{FF2B5EF4-FFF2-40B4-BE49-F238E27FC236}">
                <a16:creationId xmlns:a16="http://schemas.microsoft.com/office/drawing/2014/main" id="{85B4B537-59E4-4B70-9D1D-E22256BACB7B}"/>
              </a:ext>
            </a:extLst>
          </p:cNvPr>
          <p:cNvSpPr>
            <a:spLocks noGrp="1"/>
          </p:cNvSpPr>
          <p:nvPr/>
        </p:nvSpPr>
        <p:spPr>
          <a:xfrm>
            <a:off x="4305300" y="4829175"/>
            <a:ext cx="9525" cy="9525"/>
          </a:xfrm>
          <a:prstGeom prst="rect">
            <a:avLst/>
          </a:prstGeom>
          <a:noFill/>
          <a:ln w="9525">
            <a:noFill/>
            <a:prstDash val="solid"/>
          </a:ln>
        </p:spPr>
      </p:sp>
      <p:sp>
        <p:nvSpPr>
          <p:cNvPr id="25" name="Rectangle 24">
            <a:extLst>
              <a:ext uri="{FF2B5EF4-FFF2-40B4-BE49-F238E27FC236}">
                <a16:creationId xmlns:a16="http://schemas.microsoft.com/office/drawing/2014/main" id="{4E9AD7BD-6CD7-48E1-A362-0198BF7C9421}"/>
              </a:ext>
            </a:extLst>
          </p:cNvPr>
          <p:cNvSpPr>
            <a:spLocks noGrp="1"/>
          </p:cNvSpPr>
          <p:nvPr/>
        </p:nvSpPr>
        <p:spPr>
          <a:xfrm>
            <a:off x="4305300" y="5286375"/>
            <a:ext cx="9525" cy="9525"/>
          </a:xfrm>
          <a:prstGeom prst="rect">
            <a:avLst/>
          </a:prstGeom>
          <a:noFill/>
          <a:ln w="9525">
            <a:noFill/>
            <a:prstDash val="solid"/>
          </a:ln>
        </p:spPr>
      </p:sp>
      <p:cxnSp>
        <p:nvCxnSpPr>
          <p:cNvPr id="62" name="Straight Arrow Connector 25"/>
          <p:cNvCxnSpPr>
            <a:stCxn id="24" idx="3"/>
            <a:endCxn id="25" idx="1"/>
          </p:cNvCxnSpPr>
          <p:nvPr/>
        </p:nvCxnSpPr>
        <p:spPr>
          <a:xfrm flipH="1">
            <a:off x="4305300" y="4833938"/>
            <a:ext cx="9525" cy="457200"/>
          </a:xfrm>
          <a:prstGeom prst="straightConnector1">
            <a:avLst/>
          </a:prstGeom>
          <a:ln w="19050">
            <a:solidFill>
              <a:srgbClr val="B6C9C8"/>
            </a:solidFill>
          </a:ln>
        </p:spPr>
      </p:cxnSp>
      <p:sp>
        <p:nvSpPr>
          <p:cNvPr id="27" name="Rectangle 26">
            <a:extLst>
              <a:ext uri="{FF2B5EF4-FFF2-40B4-BE49-F238E27FC236}">
                <a16:creationId xmlns:a16="http://schemas.microsoft.com/office/drawing/2014/main" id="{F5BC6E78-F601-4A03-BAC5-3642B7A71585}"/>
              </a:ext>
            </a:extLst>
          </p:cNvPr>
          <p:cNvSpPr>
            <a:spLocks noGrp="1"/>
          </p:cNvSpPr>
          <p:nvPr/>
        </p:nvSpPr>
        <p:spPr>
          <a:xfrm>
            <a:off x="4305300" y="5286375"/>
            <a:ext cx="9525" cy="9525"/>
          </a:xfrm>
          <a:prstGeom prst="rect">
            <a:avLst/>
          </a:prstGeom>
          <a:noFill/>
          <a:ln w="9525">
            <a:noFill/>
            <a:prstDash val="solid"/>
          </a:ln>
        </p:spPr>
      </p:sp>
      <p:sp>
        <p:nvSpPr>
          <p:cNvPr id="28" name="Rectangle 27">
            <a:extLst>
              <a:ext uri="{FF2B5EF4-FFF2-40B4-BE49-F238E27FC236}">
                <a16:creationId xmlns:a16="http://schemas.microsoft.com/office/drawing/2014/main" id="{07CF6896-3047-4132-8143-07925A1A7C36}"/>
              </a:ext>
            </a:extLst>
          </p:cNvPr>
          <p:cNvSpPr>
            <a:spLocks noGrp="1"/>
          </p:cNvSpPr>
          <p:nvPr/>
        </p:nvSpPr>
        <p:spPr>
          <a:xfrm>
            <a:off x="8763000" y="5286375"/>
            <a:ext cx="9525" cy="9525"/>
          </a:xfrm>
          <a:prstGeom prst="rect">
            <a:avLst/>
          </a:prstGeom>
          <a:noFill/>
          <a:ln w="9525">
            <a:noFill/>
            <a:prstDash val="solid"/>
          </a:ln>
        </p:spPr>
      </p:sp>
      <p:cxnSp>
        <p:nvCxnSpPr>
          <p:cNvPr id="65" name="Straight Arrow Connector 28"/>
          <p:cNvCxnSpPr>
            <a:stCxn id="27" idx="3"/>
            <a:endCxn id="28" idx="1"/>
          </p:cNvCxnSpPr>
          <p:nvPr/>
        </p:nvCxnSpPr>
        <p:spPr>
          <a:xfrm>
            <a:off x="4314825" y="5291138"/>
            <a:ext cx="4448175" cy="0"/>
          </a:xfrm>
          <a:prstGeom prst="straightConnector1">
            <a:avLst/>
          </a:prstGeom>
          <a:ln w="19050">
            <a:solidFill>
              <a:srgbClr val="B6C9C8"/>
            </a:solidFill>
          </a:ln>
        </p:spPr>
      </p:cxnSp>
      <p:sp>
        <p:nvSpPr>
          <p:cNvPr id="30" name="Rectangle 29">
            <a:extLst>
              <a:ext uri="{FF2B5EF4-FFF2-40B4-BE49-F238E27FC236}">
                <a16:creationId xmlns:a16="http://schemas.microsoft.com/office/drawing/2014/main" id="{433C6C36-6A52-448C-ADEF-C030BCE16926}"/>
              </a:ext>
            </a:extLst>
          </p:cNvPr>
          <p:cNvSpPr>
            <a:spLocks noGrp="1"/>
          </p:cNvSpPr>
          <p:nvPr/>
        </p:nvSpPr>
        <p:spPr>
          <a:xfrm>
            <a:off x="8763000" y="5286375"/>
            <a:ext cx="9525" cy="9525"/>
          </a:xfrm>
          <a:prstGeom prst="rect">
            <a:avLst/>
          </a:prstGeom>
          <a:noFill/>
          <a:ln w="9525">
            <a:noFill/>
            <a:prstDash val="solid"/>
          </a:ln>
        </p:spPr>
      </p:sp>
      <p:sp>
        <p:nvSpPr>
          <p:cNvPr id="31" name="Rectangle 30">
            <a:extLst>
              <a:ext uri="{FF2B5EF4-FFF2-40B4-BE49-F238E27FC236}">
                <a16:creationId xmlns:a16="http://schemas.microsoft.com/office/drawing/2014/main" id="{511DB91F-9DBC-4CE9-B6C1-09EDEB3F371D}"/>
              </a:ext>
            </a:extLst>
          </p:cNvPr>
          <p:cNvSpPr>
            <a:spLocks noGrp="1"/>
          </p:cNvSpPr>
          <p:nvPr/>
        </p:nvSpPr>
        <p:spPr>
          <a:xfrm>
            <a:off x="8763000" y="3619500"/>
            <a:ext cx="9525" cy="9525"/>
          </a:xfrm>
          <a:prstGeom prst="rect">
            <a:avLst/>
          </a:prstGeom>
          <a:noFill/>
          <a:ln w="9525">
            <a:noFill/>
            <a:prstDash val="solid"/>
          </a:ln>
        </p:spPr>
      </p:sp>
      <p:cxnSp>
        <p:nvCxnSpPr>
          <p:cNvPr id="68" name="Straight Arrow Connector 31"/>
          <p:cNvCxnSpPr>
            <a:stCxn id="30" idx="3"/>
            <a:endCxn id="31" idx="1"/>
          </p:cNvCxnSpPr>
          <p:nvPr/>
        </p:nvCxnSpPr>
        <p:spPr>
          <a:xfrm flipH="1" flipV="1">
            <a:off x="8763000" y="3624263"/>
            <a:ext cx="9525" cy="1666875"/>
          </a:xfrm>
          <a:prstGeom prst="straightConnector1">
            <a:avLst/>
          </a:prstGeom>
          <a:ln w="19050">
            <a:solidFill>
              <a:srgbClr val="B6C9C8"/>
            </a:solidFill>
          </a:ln>
        </p:spPr>
      </p:cxnSp>
      <p:sp>
        <p:nvSpPr>
          <p:cNvPr id="33" name="Rectangle 32">
            <a:extLst>
              <a:ext uri="{FF2B5EF4-FFF2-40B4-BE49-F238E27FC236}">
                <a16:creationId xmlns:a16="http://schemas.microsoft.com/office/drawing/2014/main" id="{E893B169-DDA0-4E48-A847-88BA487730D2}"/>
              </a:ext>
            </a:extLst>
          </p:cNvPr>
          <p:cNvSpPr>
            <a:spLocks noGrp="1"/>
          </p:cNvSpPr>
          <p:nvPr/>
        </p:nvSpPr>
        <p:spPr>
          <a:xfrm>
            <a:off x="8763000" y="3619500"/>
            <a:ext cx="9525" cy="9525"/>
          </a:xfrm>
          <a:prstGeom prst="rect">
            <a:avLst/>
          </a:prstGeom>
          <a:noFill/>
          <a:ln w="9525">
            <a:noFill/>
            <a:prstDash val="solid"/>
          </a:ln>
        </p:spPr>
      </p:sp>
      <p:sp>
        <p:nvSpPr>
          <p:cNvPr id="34" name="Rectangle 33">
            <a:extLst>
              <a:ext uri="{FF2B5EF4-FFF2-40B4-BE49-F238E27FC236}">
                <a16:creationId xmlns:a16="http://schemas.microsoft.com/office/drawing/2014/main" id="{9D39BD8D-78B6-480A-AE4B-A54F70C327B6}"/>
              </a:ext>
            </a:extLst>
          </p:cNvPr>
          <p:cNvSpPr>
            <a:spLocks noGrp="1"/>
          </p:cNvSpPr>
          <p:nvPr/>
        </p:nvSpPr>
        <p:spPr>
          <a:xfrm>
            <a:off x="9077325" y="3619500"/>
            <a:ext cx="9525" cy="9525"/>
          </a:xfrm>
          <a:prstGeom prst="rect">
            <a:avLst/>
          </a:prstGeom>
          <a:noFill/>
          <a:ln w="9525">
            <a:noFill/>
            <a:prstDash val="solid"/>
          </a:ln>
        </p:spPr>
      </p:sp>
      <p:cxnSp>
        <p:nvCxnSpPr>
          <p:cNvPr id="71" name="Straight Arrow Connector 34"/>
          <p:cNvCxnSpPr>
            <a:stCxn id="33" idx="3"/>
            <a:endCxn id="34" idx="1"/>
          </p:cNvCxnSpPr>
          <p:nvPr/>
        </p:nvCxnSpPr>
        <p:spPr>
          <a:xfrm>
            <a:off x="8772525" y="3624263"/>
            <a:ext cx="304800" cy="0"/>
          </a:xfrm>
          <a:prstGeom prst="straightConnector1">
            <a:avLst/>
          </a:prstGeom>
          <a:ln w="19050">
            <a:solidFill>
              <a:srgbClr val="B6C9C8"/>
            </a:solidFill>
            <a:tailEnd type="arrow" w="med" len="med"/>
          </a:ln>
        </p:spPr>
      </p:cxnSp>
      <p:sp>
        <p:nvSpPr>
          <p:cNvPr id="36" name="Rectangle 35">
            <a:extLst>
              <a:ext uri="{FF2B5EF4-FFF2-40B4-BE49-F238E27FC236}">
                <a16:creationId xmlns:a16="http://schemas.microsoft.com/office/drawing/2014/main" id="{DAAA3AD9-0290-40BB-A9CF-14E4FD11F82A}"/>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B6C9C8"/>
                </a:solidFill>
                <a:latin typeface="Arial"/>
                <a:ea typeface="Arial"/>
                <a:cs typeface="Arial"/>
              </a:defRPr>
            </a:pPr>
            <a:r>
              <a:t>04</a:t>
            </a:r>
          </a:p>
        </p:txBody>
      </p:sp>
    </p:spTree>
    <p:extLst>
      <p:ext uri="{BB962C8B-B14F-4D97-AF65-F5344CB8AC3E}">
        <p14:creationId xmlns:p14="http://schemas.microsoft.com/office/powerpoint/2010/main" val="1097088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84" name="t1">
            <a:extLst>
              <a:ext uri="{FF2B5EF4-FFF2-40B4-BE49-F238E27FC236}">
                <a16:creationId xmlns:a16="http://schemas.microsoft.com/office/drawing/2014/main" id="{E41EA348-3727-470F-A382-81928DE48E41}"/>
              </a:ext>
            </a:extLst>
          </p:cNvPr>
          <p:cNvSpPr>
            <a:spLocks noGrp="1"/>
          </p:cNvSpPr>
          <p:nvPr/>
        </p:nvSpPr>
        <p:spPr>
          <a:xfrm>
            <a:off x="666750" y="514350"/>
            <a:ext cx="10858500" cy="1190625"/>
          </a:xfrm>
          <a:prstGeom prst="rect">
            <a:avLst/>
          </a:prstGeom>
        </p:spPr>
        <p:txBody>
          <a:bodyPr lIns="0" tIns="0" rIns="0" bIns="0" anchor="ctr"/>
          <a:lstStyle/>
          <a:p>
            <a:pPr algn="l">
              <a:spcBef>
                <a:spcPts val="0"/>
              </a:spcBef>
              <a:spcAft>
                <a:spcPts val="0"/>
              </a:spcAft>
              <a:buNone/>
              <a:defRPr sz="3300">
                <a:solidFill>
                  <a:srgbClr val="182C30"/>
                </a:solidFill>
                <a:latin typeface="Georgia"/>
                <a:ea typeface="Georgia"/>
                <a:cs typeface="Georgia"/>
              </a:defRPr>
            </a:pPr>
            <a:r>
              <a:t>200 unfiltered candidates per month</a:t>
            </a:r>
          </a:p>
        </p:txBody>
      </p:sp>
      <p:sp>
        <p:nvSpPr>
          <p:cNvPr id="2" name="t2">
            <a:extLst>
              <a:ext uri="{FF2B5EF4-FFF2-40B4-BE49-F238E27FC236}">
                <a16:creationId xmlns:a16="http://schemas.microsoft.com/office/drawing/2014/main" id="{20813F59-FB35-4937-85AC-B24FF2D25810}"/>
              </a:ext>
            </a:extLst>
          </p:cNvPr>
          <p:cNvSpPr>
            <a:spLocks noGrp="1"/>
          </p:cNvSpPr>
          <p:nvPr/>
        </p:nvSpPr>
        <p:spPr>
          <a:xfrm>
            <a:off x="666750" y="1847850"/>
            <a:ext cx="4762500" cy="609600"/>
          </a:xfrm>
          <a:prstGeom prst="rect">
            <a:avLst/>
          </a:prstGeom>
        </p:spPr>
        <p:txBody>
          <a:bodyPr lIns="0" tIns="0" rIns="0" bIns="0" anchor="ctr"/>
          <a:lstStyle/>
          <a:p>
            <a:pPr algn="l">
              <a:spcBef>
                <a:spcPts val="0"/>
              </a:spcBef>
              <a:spcAft>
                <a:spcPts val="0"/>
              </a:spcAft>
              <a:buNone/>
              <a:defRPr sz="2850">
                <a:solidFill>
                  <a:srgbClr val="006D77"/>
                </a:solidFill>
                <a:latin typeface="Georgia"/>
                <a:ea typeface="Georgia"/>
                <a:cs typeface="Georgia"/>
              </a:defRPr>
            </a:pPr>
            <a:r>
              <a:t>60 months covered</a:t>
            </a:r>
          </a:p>
        </p:txBody>
      </p:sp>
      <p:sp>
        <p:nvSpPr>
          <p:cNvPr id="3" name="t3">
            <a:extLst>
              <a:ext uri="{FF2B5EF4-FFF2-40B4-BE49-F238E27FC236}">
                <a16:creationId xmlns:a16="http://schemas.microsoft.com/office/drawing/2014/main" id="{DC4B1FED-4FBC-48F7-B238-1F898130D490}"/>
              </a:ext>
            </a:extLst>
          </p:cNvPr>
          <p:cNvSpPr>
            <a:spLocks noGrp="1"/>
          </p:cNvSpPr>
          <p:nvPr/>
        </p:nvSpPr>
        <p:spPr>
          <a:xfrm>
            <a:off x="6429375" y="1847850"/>
            <a:ext cx="5095875" cy="609600"/>
          </a:xfrm>
          <a:prstGeom prst="rect">
            <a:avLst/>
          </a:prstGeom>
        </p:spPr>
        <p:txBody>
          <a:bodyPr lIns="0" tIns="0" rIns="0" bIns="0" anchor="ctr"/>
          <a:lstStyle/>
          <a:p>
            <a:pPr algn="l">
              <a:spcBef>
                <a:spcPts val="0"/>
              </a:spcBef>
              <a:spcAft>
                <a:spcPts val="0"/>
              </a:spcAft>
              <a:buNone/>
              <a:defRPr sz="2850">
                <a:solidFill>
                  <a:srgbClr val="006D77"/>
                </a:solidFill>
                <a:latin typeface="Georgia"/>
                <a:ea typeface="Georgia"/>
                <a:cs typeface="Georgia"/>
              </a:defRPr>
            </a:pPr>
            <a:r>
              <a:t>12,000 repository IDs</a:t>
            </a:r>
          </a:p>
        </p:txBody>
      </p:sp>
      <p:sp>
        <p:nvSpPr>
          <p:cNvPr id="4" name="t4">
            <a:extLst>
              <a:ext uri="{FF2B5EF4-FFF2-40B4-BE49-F238E27FC236}">
                <a16:creationId xmlns:a16="http://schemas.microsoft.com/office/drawing/2014/main" id="{5B6204CC-6BC7-4E95-9694-CD0E5D446F8C}"/>
              </a:ext>
            </a:extLst>
          </p:cNvPr>
          <p:cNvSpPr>
            <a:spLocks noGrp="1"/>
          </p:cNvSpPr>
          <p:nvPr/>
        </p:nvSpPr>
        <p:spPr>
          <a:xfrm>
            <a:off x="1905000"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Jan</a:t>
            </a:r>
          </a:p>
        </p:txBody>
      </p:sp>
      <p:sp>
        <p:nvSpPr>
          <p:cNvPr id="5" name="t5">
            <a:extLst>
              <a:ext uri="{FF2B5EF4-FFF2-40B4-BE49-F238E27FC236}">
                <a16:creationId xmlns:a16="http://schemas.microsoft.com/office/drawing/2014/main" id="{45633165-32CC-4E5B-B073-A3BA518143EF}"/>
              </a:ext>
            </a:extLst>
          </p:cNvPr>
          <p:cNvSpPr>
            <a:spLocks noGrp="1"/>
          </p:cNvSpPr>
          <p:nvPr/>
        </p:nvSpPr>
        <p:spPr>
          <a:xfrm>
            <a:off x="2695575"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Feb</a:t>
            </a:r>
          </a:p>
        </p:txBody>
      </p:sp>
      <p:sp>
        <p:nvSpPr>
          <p:cNvPr id="6" name="t6">
            <a:extLst>
              <a:ext uri="{FF2B5EF4-FFF2-40B4-BE49-F238E27FC236}">
                <a16:creationId xmlns:a16="http://schemas.microsoft.com/office/drawing/2014/main" id="{A339475E-067A-44FC-A16E-68CF4A840401}"/>
              </a:ext>
            </a:extLst>
          </p:cNvPr>
          <p:cNvSpPr>
            <a:spLocks noGrp="1"/>
          </p:cNvSpPr>
          <p:nvPr/>
        </p:nvSpPr>
        <p:spPr>
          <a:xfrm>
            <a:off x="3486150"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Mar</a:t>
            </a:r>
          </a:p>
        </p:txBody>
      </p:sp>
      <p:sp>
        <p:nvSpPr>
          <p:cNvPr id="7" name="t7">
            <a:extLst>
              <a:ext uri="{FF2B5EF4-FFF2-40B4-BE49-F238E27FC236}">
                <a16:creationId xmlns:a16="http://schemas.microsoft.com/office/drawing/2014/main" id="{5F5407CA-8B0C-4309-BE78-D6AD2B6BD985}"/>
              </a:ext>
            </a:extLst>
          </p:cNvPr>
          <p:cNvSpPr>
            <a:spLocks noGrp="1"/>
          </p:cNvSpPr>
          <p:nvPr/>
        </p:nvSpPr>
        <p:spPr>
          <a:xfrm>
            <a:off x="4276725"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Apr</a:t>
            </a:r>
          </a:p>
        </p:txBody>
      </p:sp>
      <p:sp>
        <p:nvSpPr>
          <p:cNvPr id="8" name="t8">
            <a:extLst>
              <a:ext uri="{FF2B5EF4-FFF2-40B4-BE49-F238E27FC236}">
                <a16:creationId xmlns:a16="http://schemas.microsoft.com/office/drawing/2014/main" id="{43670FF3-9D65-40DC-BFB7-EE8D006BED35}"/>
              </a:ext>
            </a:extLst>
          </p:cNvPr>
          <p:cNvSpPr>
            <a:spLocks noGrp="1"/>
          </p:cNvSpPr>
          <p:nvPr/>
        </p:nvSpPr>
        <p:spPr>
          <a:xfrm>
            <a:off x="5067300"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May</a:t>
            </a:r>
          </a:p>
        </p:txBody>
      </p:sp>
      <p:sp>
        <p:nvSpPr>
          <p:cNvPr id="9" name="t9">
            <a:extLst>
              <a:ext uri="{FF2B5EF4-FFF2-40B4-BE49-F238E27FC236}">
                <a16:creationId xmlns:a16="http://schemas.microsoft.com/office/drawing/2014/main" id="{D4DAFFDF-3D58-4739-AB97-DC937C063AD4}"/>
              </a:ext>
            </a:extLst>
          </p:cNvPr>
          <p:cNvSpPr>
            <a:spLocks noGrp="1"/>
          </p:cNvSpPr>
          <p:nvPr/>
        </p:nvSpPr>
        <p:spPr>
          <a:xfrm>
            <a:off x="5857875"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Jun</a:t>
            </a:r>
          </a:p>
        </p:txBody>
      </p:sp>
      <p:sp>
        <p:nvSpPr>
          <p:cNvPr id="10" name="t10">
            <a:extLst>
              <a:ext uri="{FF2B5EF4-FFF2-40B4-BE49-F238E27FC236}">
                <a16:creationId xmlns:a16="http://schemas.microsoft.com/office/drawing/2014/main" id="{BD29B925-E6F6-4DB6-9244-FCA5EE1FB035}"/>
              </a:ext>
            </a:extLst>
          </p:cNvPr>
          <p:cNvSpPr>
            <a:spLocks noGrp="1"/>
          </p:cNvSpPr>
          <p:nvPr/>
        </p:nvSpPr>
        <p:spPr>
          <a:xfrm>
            <a:off x="6648450"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Jul</a:t>
            </a:r>
          </a:p>
        </p:txBody>
      </p:sp>
      <p:sp>
        <p:nvSpPr>
          <p:cNvPr id="11" name="t11">
            <a:extLst>
              <a:ext uri="{FF2B5EF4-FFF2-40B4-BE49-F238E27FC236}">
                <a16:creationId xmlns:a16="http://schemas.microsoft.com/office/drawing/2014/main" id="{7A325A0C-90C3-4E0F-BF6A-886421B53C4C}"/>
              </a:ext>
            </a:extLst>
          </p:cNvPr>
          <p:cNvSpPr>
            <a:spLocks noGrp="1"/>
          </p:cNvSpPr>
          <p:nvPr/>
        </p:nvSpPr>
        <p:spPr>
          <a:xfrm>
            <a:off x="7439025"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Aug</a:t>
            </a:r>
          </a:p>
        </p:txBody>
      </p:sp>
      <p:sp>
        <p:nvSpPr>
          <p:cNvPr id="12" name="t12">
            <a:extLst>
              <a:ext uri="{FF2B5EF4-FFF2-40B4-BE49-F238E27FC236}">
                <a16:creationId xmlns:a16="http://schemas.microsoft.com/office/drawing/2014/main" id="{977006BD-F993-4905-B5C5-5A2A1B9D5639}"/>
              </a:ext>
            </a:extLst>
          </p:cNvPr>
          <p:cNvSpPr>
            <a:spLocks noGrp="1"/>
          </p:cNvSpPr>
          <p:nvPr/>
        </p:nvSpPr>
        <p:spPr>
          <a:xfrm>
            <a:off x="8229600"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Sep</a:t>
            </a:r>
          </a:p>
        </p:txBody>
      </p:sp>
      <p:sp>
        <p:nvSpPr>
          <p:cNvPr id="13" name="t13">
            <a:extLst>
              <a:ext uri="{FF2B5EF4-FFF2-40B4-BE49-F238E27FC236}">
                <a16:creationId xmlns:a16="http://schemas.microsoft.com/office/drawing/2014/main" id="{78AF39D7-72FA-4835-A461-E5308895B157}"/>
              </a:ext>
            </a:extLst>
          </p:cNvPr>
          <p:cNvSpPr>
            <a:spLocks noGrp="1"/>
          </p:cNvSpPr>
          <p:nvPr/>
        </p:nvSpPr>
        <p:spPr>
          <a:xfrm>
            <a:off x="9020175"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Oct</a:t>
            </a:r>
          </a:p>
        </p:txBody>
      </p:sp>
      <p:sp>
        <p:nvSpPr>
          <p:cNvPr id="14" name="t14">
            <a:extLst>
              <a:ext uri="{FF2B5EF4-FFF2-40B4-BE49-F238E27FC236}">
                <a16:creationId xmlns:a16="http://schemas.microsoft.com/office/drawing/2014/main" id="{A3145095-D9B3-4851-B20B-36B21703419F}"/>
              </a:ext>
            </a:extLst>
          </p:cNvPr>
          <p:cNvSpPr>
            <a:spLocks noGrp="1"/>
          </p:cNvSpPr>
          <p:nvPr/>
        </p:nvSpPr>
        <p:spPr>
          <a:xfrm>
            <a:off x="9810750"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Nov</a:t>
            </a:r>
          </a:p>
        </p:txBody>
      </p:sp>
      <p:sp>
        <p:nvSpPr>
          <p:cNvPr id="15" name="t15">
            <a:extLst>
              <a:ext uri="{FF2B5EF4-FFF2-40B4-BE49-F238E27FC236}">
                <a16:creationId xmlns:a16="http://schemas.microsoft.com/office/drawing/2014/main" id="{AFD93880-3715-40AF-A1D5-70A9249ED9A5}"/>
              </a:ext>
            </a:extLst>
          </p:cNvPr>
          <p:cNvSpPr>
            <a:spLocks noGrp="1"/>
          </p:cNvSpPr>
          <p:nvPr/>
        </p:nvSpPr>
        <p:spPr>
          <a:xfrm>
            <a:off x="10601325" y="2790825"/>
            <a:ext cx="685800" cy="285750"/>
          </a:xfrm>
          <a:prstGeom prst="rect">
            <a:avLst/>
          </a:prstGeom>
        </p:spPr>
        <p:txBody>
          <a:bodyPr lIns="0" tIns="0" rIns="0" bIns="0" anchor="ctr"/>
          <a:lstStyle/>
          <a:p>
            <a:pPr algn="ctr">
              <a:spcBef>
                <a:spcPts val="0"/>
              </a:spcBef>
              <a:spcAft>
                <a:spcPts val="0"/>
              </a:spcAft>
              <a:buNone/>
              <a:defRPr sz="1350">
                <a:solidFill>
                  <a:srgbClr val="5D7073"/>
                </a:solidFill>
                <a:latin typeface="Arial"/>
                <a:ea typeface="Arial"/>
                <a:cs typeface="Arial"/>
              </a:defRPr>
            </a:pPr>
            <a:r>
              <a:t>Dec</a:t>
            </a:r>
          </a:p>
        </p:txBody>
      </p:sp>
      <p:sp>
        <p:nvSpPr>
          <p:cNvPr id="16" name="t16">
            <a:extLst>
              <a:ext uri="{FF2B5EF4-FFF2-40B4-BE49-F238E27FC236}">
                <a16:creationId xmlns:a16="http://schemas.microsoft.com/office/drawing/2014/main" id="{E74DA849-3A86-42E3-BC55-AAD8AAF8A70A}"/>
              </a:ext>
            </a:extLst>
          </p:cNvPr>
          <p:cNvSpPr>
            <a:spLocks noGrp="1"/>
          </p:cNvSpPr>
          <p:nvPr/>
        </p:nvSpPr>
        <p:spPr>
          <a:xfrm>
            <a:off x="666750" y="3286125"/>
            <a:ext cx="1047750" cy="342900"/>
          </a:xfrm>
          <a:prstGeom prst="rect">
            <a:avLst/>
          </a:prstGeom>
        </p:spPr>
        <p:txBody>
          <a:bodyPr lIns="0" tIns="0" rIns="0" bIns="0" anchor="ctr"/>
          <a:lstStyle/>
          <a:p>
            <a:pPr algn="l">
              <a:spcBef>
                <a:spcPts val="0"/>
              </a:spcBef>
              <a:spcAft>
                <a:spcPts val="0"/>
              </a:spcAft>
              <a:buNone/>
              <a:defRPr sz="1725">
                <a:solidFill>
                  <a:srgbClr val="182C30"/>
                </a:solidFill>
                <a:latin typeface="Arial"/>
                <a:ea typeface="Arial"/>
                <a:cs typeface="Arial"/>
              </a:defRPr>
            </a:pPr>
            <a:r>
              <a:t>2021</a:t>
            </a:r>
          </a:p>
        </p:txBody>
      </p:sp>
      <p:sp>
        <p:nvSpPr>
          <p:cNvPr id="17" name="s17">
            <a:extLst>
              <a:ext uri="{FF2B5EF4-FFF2-40B4-BE49-F238E27FC236}">
                <a16:creationId xmlns:a16="http://schemas.microsoft.com/office/drawing/2014/main" id="{FC65B37C-5C78-450B-9930-6031D7E20392}"/>
              </a:ext>
            </a:extLst>
          </p:cNvPr>
          <p:cNvSpPr>
            <a:spLocks noGrp="1"/>
          </p:cNvSpPr>
          <p:nvPr/>
        </p:nvSpPr>
        <p:spPr>
          <a:xfrm>
            <a:off x="1905000" y="3286125"/>
            <a:ext cx="685800" cy="333375"/>
          </a:xfrm>
          <a:prstGeom prst="rect">
            <a:avLst/>
          </a:prstGeom>
          <a:solidFill>
            <a:srgbClr val="006D77"/>
          </a:solidFill>
          <a:ln w="0">
            <a:noFill/>
            <a:prstDash val="solid"/>
          </a:ln>
        </p:spPr>
      </p:sp>
      <p:sp>
        <p:nvSpPr>
          <p:cNvPr id="18" name="s18">
            <a:extLst>
              <a:ext uri="{FF2B5EF4-FFF2-40B4-BE49-F238E27FC236}">
                <a16:creationId xmlns:a16="http://schemas.microsoft.com/office/drawing/2014/main" id="{B6DE64FA-FD1D-4C3D-83DD-682A327BF66E}"/>
              </a:ext>
            </a:extLst>
          </p:cNvPr>
          <p:cNvSpPr>
            <a:spLocks noGrp="1"/>
          </p:cNvSpPr>
          <p:nvPr/>
        </p:nvSpPr>
        <p:spPr>
          <a:xfrm>
            <a:off x="2695575" y="3286125"/>
            <a:ext cx="685800" cy="333375"/>
          </a:xfrm>
          <a:prstGeom prst="rect">
            <a:avLst/>
          </a:prstGeom>
          <a:solidFill>
            <a:srgbClr val="006D77"/>
          </a:solidFill>
          <a:ln w="0">
            <a:noFill/>
            <a:prstDash val="solid"/>
          </a:ln>
        </p:spPr>
      </p:sp>
      <p:sp>
        <p:nvSpPr>
          <p:cNvPr id="19" name="s19">
            <a:extLst>
              <a:ext uri="{FF2B5EF4-FFF2-40B4-BE49-F238E27FC236}">
                <a16:creationId xmlns:a16="http://schemas.microsoft.com/office/drawing/2014/main" id="{A12E74B4-24BD-49F9-AB40-B83008D8AB17}"/>
              </a:ext>
            </a:extLst>
          </p:cNvPr>
          <p:cNvSpPr>
            <a:spLocks noGrp="1"/>
          </p:cNvSpPr>
          <p:nvPr/>
        </p:nvSpPr>
        <p:spPr>
          <a:xfrm>
            <a:off x="3486150" y="3286125"/>
            <a:ext cx="685800" cy="333375"/>
          </a:xfrm>
          <a:prstGeom prst="rect">
            <a:avLst/>
          </a:prstGeom>
          <a:solidFill>
            <a:srgbClr val="006D77"/>
          </a:solidFill>
          <a:ln w="0">
            <a:noFill/>
            <a:prstDash val="solid"/>
          </a:ln>
        </p:spPr>
      </p:sp>
      <p:sp>
        <p:nvSpPr>
          <p:cNvPr id="20" name="s20">
            <a:extLst>
              <a:ext uri="{FF2B5EF4-FFF2-40B4-BE49-F238E27FC236}">
                <a16:creationId xmlns:a16="http://schemas.microsoft.com/office/drawing/2014/main" id="{5B8FD3DD-62E6-4B5A-8EAC-D510EEA8D3BA}"/>
              </a:ext>
            </a:extLst>
          </p:cNvPr>
          <p:cNvSpPr>
            <a:spLocks noGrp="1"/>
          </p:cNvSpPr>
          <p:nvPr/>
        </p:nvSpPr>
        <p:spPr>
          <a:xfrm>
            <a:off x="4276725" y="3286125"/>
            <a:ext cx="685800" cy="333375"/>
          </a:xfrm>
          <a:prstGeom prst="rect">
            <a:avLst/>
          </a:prstGeom>
          <a:solidFill>
            <a:srgbClr val="006D77"/>
          </a:solidFill>
          <a:ln w="0">
            <a:noFill/>
            <a:prstDash val="solid"/>
          </a:ln>
        </p:spPr>
      </p:sp>
      <p:sp>
        <p:nvSpPr>
          <p:cNvPr id="21" name="s21">
            <a:extLst>
              <a:ext uri="{FF2B5EF4-FFF2-40B4-BE49-F238E27FC236}">
                <a16:creationId xmlns:a16="http://schemas.microsoft.com/office/drawing/2014/main" id="{3B2BFF19-8A55-42B1-8628-768D16D5B5A0}"/>
              </a:ext>
            </a:extLst>
          </p:cNvPr>
          <p:cNvSpPr>
            <a:spLocks noGrp="1"/>
          </p:cNvSpPr>
          <p:nvPr/>
        </p:nvSpPr>
        <p:spPr>
          <a:xfrm>
            <a:off x="5067300" y="3286125"/>
            <a:ext cx="685800" cy="333375"/>
          </a:xfrm>
          <a:prstGeom prst="rect">
            <a:avLst/>
          </a:prstGeom>
          <a:solidFill>
            <a:srgbClr val="006D77"/>
          </a:solidFill>
          <a:ln w="0">
            <a:noFill/>
            <a:prstDash val="solid"/>
          </a:ln>
        </p:spPr>
      </p:sp>
      <p:sp>
        <p:nvSpPr>
          <p:cNvPr id="22" name="s22">
            <a:extLst>
              <a:ext uri="{FF2B5EF4-FFF2-40B4-BE49-F238E27FC236}">
                <a16:creationId xmlns:a16="http://schemas.microsoft.com/office/drawing/2014/main" id="{68D6C4F4-D93F-47A3-8076-3D11C045CCCC}"/>
              </a:ext>
            </a:extLst>
          </p:cNvPr>
          <p:cNvSpPr>
            <a:spLocks noGrp="1"/>
          </p:cNvSpPr>
          <p:nvPr/>
        </p:nvSpPr>
        <p:spPr>
          <a:xfrm>
            <a:off x="5857875" y="3286125"/>
            <a:ext cx="685800" cy="333375"/>
          </a:xfrm>
          <a:prstGeom prst="rect">
            <a:avLst/>
          </a:prstGeom>
          <a:solidFill>
            <a:srgbClr val="006D77"/>
          </a:solidFill>
          <a:ln w="0">
            <a:noFill/>
            <a:prstDash val="solid"/>
          </a:ln>
        </p:spPr>
      </p:sp>
      <p:sp>
        <p:nvSpPr>
          <p:cNvPr id="23" name="s23">
            <a:extLst>
              <a:ext uri="{FF2B5EF4-FFF2-40B4-BE49-F238E27FC236}">
                <a16:creationId xmlns:a16="http://schemas.microsoft.com/office/drawing/2014/main" id="{21257FB5-01FA-4FF9-A17A-D01582AB9A6A}"/>
              </a:ext>
            </a:extLst>
          </p:cNvPr>
          <p:cNvSpPr>
            <a:spLocks noGrp="1"/>
          </p:cNvSpPr>
          <p:nvPr/>
        </p:nvSpPr>
        <p:spPr>
          <a:xfrm>
            <a:off x="6648450" y="3286125"/>
            <a:ext cx="685800" cy="333375"/>
          </a:xfrm>
          <a:prstGeom prst="rect">
            <a:avLst/>
          </a:prstGeom>
          <a:solidFill>
            <a:srgbClr val="006D77"/>
          </a:solidFill>
          <a:ln w="0">
            <a:noFill/>
            <a:prstDash val="solid"/>
          </a:ln>
        </p:spPr>
      </p:sp>
      <p:sp>
        <p:nvSpPr>
          <p:cNvPr id="24" name="s24">
            <a:extLst>
              <a:ext uri="{FF2B5EF4-FFF2-40B4-BE49-F238E27FC236}">
                <a16:creationId xmlns:a16="http://schemas.microsoft.com/office/drawing/2014/main" id="{0109C07D-A1E1-4D5F-BEE5-FDF36B86792A}"/>
              </a:ext>
            </a:extLst>
          </p:cNvPr>
          <p:cNvSpPr>
            <a:spLocks noGrp="1"/>
          </p:cNvSpPr>
          <p:nvPr/>
        </p:nvSpPr>
        <p:spPr>
          <a:xfrm>
            <a:off x="7439025" y="3286125"/>
            <a:ext cx="685800" cy="333375"/>
          </a:xfrm>
          <a:prstGeom prst="rect">
            <a:avLst/>
          </a:prstGeom>
          <a:solidFill>
            <a:srgbClr val="006D77"/>
          </a:solidFill>
          <a:ln w="0">
            <a:noFill/>
            <a:prstDash val="solid"/>
          </a:ln>
        </p:spPr>
      </p:sp>
      <p:sp>
        <p:nvSpPr>
          <p:cNvPr id="25" name="s25">
            <a:extLst>
              <a:ext uri="{FF2B5EF4-FFF2-40B4-BE49-F238E27FC236}">
                <a16:creationId xmlns:a16="http://schemas.microsoft.com/office/drawing/2014/main" id="{72D54FCD-9D8F-452D-BA94-8445404395F9}"/>
              </a:ext>
            </a:extLst>
          </p:cNvPr>
          <p:cNvSpPr>
            <a:spLocks noGrp="1"/>
          </p:cNvSpPr>
          <p:nvPr/>
        </p:nvSpPr>
        <p:spPr>
          <a:xfrm>
            <a:off x="8229600" y="3286125"/>
            <a:ext cx="685800" cy="333375"/>
          </a:xfrm>
          <a:prstGeom prst="rect">
            <a:avLst/>
          </a:prstGeom>
          <a:solidFill>
            <a:srgbClr val="006D77"/>
          </a:solidFill>
          <a:ln w="0">
            <a:noFill/>
            <a:prstDash val="solid"/>
          </a:ln>
        </p:spPr>
      </p:sp>
      <p:sp>
        <p:nvSpPr>
          <p:cNvPr id="26" name="s26">
            <a:extLst>
              <a:ext uri="{FF2B5EF4-FFF2-40B4-BE49-F238E27FC236}">
                <a16:creationId xmlns:a16="http://schemas.microsoft.com/office/drawing/2014/main" id="{9913D990-8DFE-489F-BF6F-F249D5600E18}"/>
              </a:ext>
            </a:extLst>
          </p:cNvPr>
          <p:cNvSpPr>
            <a:spLocks noGrp="1"/>
          </p:cNvSpPr>
          <p:nvPr/>
        </p:nvSpPr>
        <p:spPr>
          <a:xfrm>
            <a:off x="9020175" y="3286125"/>
            <a:ext cx="685800" cy="333375"/>
          </a:xfrm>
          <a:prstGeom prst="rect">
            <a:avLst/>
          </a:prstGeom>
          <a:solidFill>
            <a:srgbClr val="006D77"/>
          </a:solidFill>
          <a:ln w="0">
            <a:noFill/>
            <a:prstDash val="solid"/>
          </a:ln>
        </p:spPr>
      </p:sp>
      <p:sp>
        <p:nvSpPr>
          <p:cNvPr id="27" name="s27">
            <a:extLst>
              <a:ext uri="{FF2B5EF4-FFF2-40B4-BE49-F238E27FC236}">
                <a16:creationId xmlns:a16="http://schemas.microsoft.com/office/drawing/2014/main" id="{7322F630-D67E-4BA1-8CA4-CBA1A10D8ABB}"/>
              </a:ext>
            </a:extLst>
          </p:cNvPr>
          <p:cNvSpPr>
            <a:spLocks noGrp="1"/>
          </p:cNvSpPr>
          <p:nvPr/>
        </p:nvSpPr>
        <p:spPr>
          <a:xfrm>
            <a:off x="9810750" y="3286125"/>
            <a:ext cx="685800" cy="333375"/>
          </a:xfrm>
          <a:prstGeom prst="rect">
            <a:avLst/>
          </a:prstGeom>
          <a:solidFill>
            <a:srgbClr val="006D77"/>
          </a:solidFill>
          <a:ln w="0">
            <a:noFill/>
            <a:prstDash val="solid"/>
          </a:ln>
        </p:spPr>
      </p:sp>
      <p:sp>
        <p:nvSpPr>
          <p:cNvPr id="28" name="s28">
            <a:extLst>
              <a:ext uri="{FF2B5EF4-FFF2-40B4-BE49-F238E27FC236}">
                <a16:creationId xmlns:a16="http://schemas.microsoft.com/office/drawing/2014/main" id="{B19840B8-002A-46DC-B1FC-56D4C546A2D3}"/>
              </a:ext>
            </a:extLst>
          </p:cNvPr>
          <p:cNvSpPr>
            <a:spLocks noGrp="1"/>
          </p:cNvSpPr>
          <p:nvPr/>
        </p:nvSpPr>
        <p:spPr>
          <a:xfrm>
            <a:off x="10601325" y="3286125"/>
            <a:ext cx="685800" cy="333375"/>
          </a:xfrm>
          <a:prstGeom prst="rect">
            <a:avLst/>
          </a:prstGeom>
          <a:solidFill>
            <a:srgbClr val="006D77"/>
          </a:solidFill>
          <a:ln w="0">
            <a:noFill/>
            <a:prstDash val="solid"/>
          </a:ln>
        </p:spPr>
      </p:sp>
      <p:sp>
        <p:nvSpPr>
          <p:cNvPr id="29" name="t29">
            <a:extLst>
              <a:ext uri="{FF2B5EF4-FFF2-40B4-BE49-F238E27FC236}">
                <a16:creationId xmlns:a16="http://schemas.microsoft.com/office/drawing/2014/main" id="{446BA847-626F-4981-8673-36DED5D42954}"/>
              </a:ext>
            </a:extLst>
          </p:cNvPr>
          <p:cNvSpPr>
            <a:spLocks noGrp="1"/>
          </p:cNvSpPr>
          <p:nvPr/>
        </p:nvSpPr>
        <p:spPr>
          <a:xfrm>
            <a:off x="666750" y="3771900"/>
            <a:ext cx="1047750" cy="342900"/>
          </a:xfrm>
          <a:prstGeom prst="rect">
            <a:avLst/>
          </a:prstGeom>
        </p:spPr>
        <p:txBody>
          <a:bodyPr lIns="0" tIns="0" rIns="0" bIns="0" anchor="ctr"/>
          <a:lstStyle/>
          <a:p>
            <a:pPr algn="l">
              <a:spcBef>
                <a:spcPts val="0"/>
              </a:spcBef>
              <a:spcAft>
                <a:spcPts val="0"/>
              </a:spcAft>
              <a:buNone/>
              <a:defRPr sz="1725">
                <a:solidFill>
                  <a:srgbClr val="182C30"/>
                </a:solidFill>
                <a:latin typeface="Arial"/>
                <a:ea typeface="Arial"/>
                <a:cs typeface="Arial"/>
              </a:defRPr>
            </a:pPr>
            <a:r>
              <a:t>2022</a:t>
            </a:r>
          </a:p>
        </p:txBody>
      </p:sp>
      <p:sp>
        <p:nvSpPr>
          <p:cNvPr id="30" name="s30">
            <a:extLst>
              <a:ext uri="{FF2B5EF4-FFF2-40B4-BE49-F238E27FC236}">
                <a16:creationId xmlns:a16="http://schemas.microsoft.com/office/drawing/2014/main" id="{B80C4F73-9DDE-48EF-8ACF-31115033B8C4}"/>
              </a:ext>
            </a:extLst>
          </p:cNvPr>
          <p:cNvSpPr>
            <a:spLocks noGrp="1"/>
          </p:cNvSpPr>
          <p:nvPr/>
        </p:nvSpPr>
        <p:spPr>
          <a:xfrm>
            <a:off x="1905000" y="3771900"/>
            <a:ext cx="685800" cy="333375"/>
          </a:xfrm>
          <a:prstGeom prst="rect">
            <a:avLst/>
          </a:prstGeom>
          <a:solidFill>
            <a:srgbClr val="006D77"/>
          </a:solidFill>
          <a:ln w="0">
            <a:noFill/>
            <a:prstDash val="solid"/>
          </a:ln>
        </p:spPr>
      </p:sp>
      <p:sp>
        <p:nvSpPr>
          <p:cNvPr id="31" name="s31">
            <a:extLst>
              <a:ext uri="{FF2B5EF4-FFF2-40B4-BE49-F238E27FC236}">
                <a16:creationId xmlns:a16="http://schemas.microsoft.com/office/drawing/2014/main" id="{6106561B-6AF8-4A03-B267-130AAD5C7B6F}"/>
              </a:ext>
            </a:extLst>
          </p:cNvPr>
          <p:cNvSpPr>
            <a:spLocks noGrp="1"/>
          </p:cNvSpPr>
          <p:nvPr/>
        </p:nvSpPr>
        <p:spPr>
          <a:xfrm>
            <a:off x="2695575" y="3771900"/>
            <a:ext cx="685800" cy="333375"/>
          </a:xfrm>
          <a:prstGeom prst="rect">
            <a:avLst/>
          </a:prstGeom>
          <a:solidFill>
            <a:srgbClr val="006D77"/>
          </a:solidFill>
          <a:ln w="0">
            <a:noFill/>
            <a:prstDash val="solid"/>
          </a:ln>
        </p:spPr>
      </p:sp>
      <p:sp>
        <p:nvSpPr>
          <p:cNvPr id="32" name="s32">
            <a:extLst>
              <a:ext uri="{FF2B5EF4-FFF2-40B4-BE49-F238E27FC236}">
                <a16:creationId xmlns:a16="http://schemas.microsoft.com/office/drawing/2014/main" id="{FCDDB052-5684-4A52-9BA4-23CB85A4AEFE}"/>
              </a:ext>
            </a:extLst>
          </p:cNvPr>
          <p:cNvSpPr>
            <a:spLocks noGrp="1"/>
          </p:cNvSpPr>
          <p:nvPr/>
        </p:nvSpPr>
        <p:spPr>
          <a:xfrm>
            <a:off x="3486150" y="3771900"/>
            <a:ext cx="685800" cy="333375"/>
          </a:xfrm>
          <a:prstGeom prst="rect">
            <a:avLst/>
          </a:prstGeom>
          <a:solidFill>
            <a:srgbClr val="006D77"/>
          </a:solidFill>
          <a:ln w="0">
            <a:noFill/>
            <a:prstDash val="solid"/>
          </a:ln>
        </p:spPr>
      </p:sp>
      <p:sp>
        <p:nvSpPr>
          <p:cNvPr id="33" name="s33">
            <a:extLst>
              <a:ext uri="{FF2B5EF4-FFF2-40B4-BE49-F238E27FC236}">
                <a16:creationId xmlns:a16="http://schemas.microsoft.com/office/drawing/2014/main" id="{93EBC5C5-E8A4-49C5-82DC-2B4408897D64}"/>
              </a:ext>
            </a:extLst>
          </p:cNvPr>
          <p:cNvSpPr>
            <a:spLocks noGrp="1"/>
          </p:cNvSpPr>
          <p:nvPr/>
        </p:nvSpPr>
        <p:spPr>
          <a:xfrm>
            <a:off x="4276725" y="3771900"/>
            <a:ext cx="685800" cy="333375"/>
          </a:xfrm>
          <a:prstGeom prst="rect">
            <a:avLst/>
          </a:prstGeom>
          <a:solidFill>
            <a:srgbClr val="006D77"/>
          </a:solidFill>
          <a:ln w="0">
            <a:noFill/>
            <a:prstDash val="solid"/>
          </a:ln>
        </p:spPr>
      </p:sp>
      <p:sp>
        <p:nvSpPr>
          <p:cNvPr id="34" name="s34">
            <a:extLst>
              <a:ext uri="{FF2B5EF4-FFF2-40B4-BE49-F238E27FC236}">
                <a16:creationId xmlns:a16="http://schemas.microsoft.com/office/drawing/2014/main" id="{90D8573C-08FA-4E7D-8F73-F1B485976E2A}"/>
              </a:ext>
            </a:extLst>
          </p:cNvPr>
          <p:cNvSpPr>
            <a:spLocks noGrp="1"/>
          </p:cNvSpPr>
          <p:nvPr/>
        </p:nvSpPr>
        <p:spPr>
          <a:xfrm>
            <a:off x="5067300" y="3771900"/>
            <a:ext cx="685800" cy="333375"/>
          </a:xfrm>
          <a:prstGeom prst="rect">
            <a:avLst/>
          </a:prstGeom>
          <a:solidFill>
            <a:srgbClr val="006D77"/>
          </a:solidFill>
          <a:ln w="0">
            <a:noFill/>
            <a:prstDash val="solid"/>
          </a:ln>
        </p:spPr>
      </p:sp>
      <p:sp>
        <p:nvSpPr>
          <p:cNvPr id="35" name="s35">
            <a:extLst>
              <a:ext uri="{FF2B5EF4-FFF2-40B4-BE49-F238E27FC236}">
                <a16:creationId xmlns:a16="http://schemas.microsoft.com/office/drawing/2014/main" id="{C8378ABE-9622-4E42-952D-765CADB7200C}"/>
              </a:ext>
            </a:extLst>
          </p:cNvPr>
          <p:cNvSpPr>
            <a:spLocks noGrp="1"/>
          </p:cNvSpPr>
          <p:nvPr/>
        </p:nvSpPr>
        <p:spPr>
          <a:xfrm>
            <a:off x="5857875" y="3771900"/>
            <a:ext cx="685800" cy="333375"/>
          </a:xfrm>
          <a:prstGeom prst="rect">
            <a:avLst/>
          </a:prstGeom>
          <a:solidFill>
            <a:srgbClr val="006D77"/>
          </a:solidFill>
          <a:ln w="0">
            <a:noFill/>
            <a:prstDash val="solid"/>
          </a:ln>
        </p:spPr>
      </p:sp>
      <p:sp>
        <p:nvSpPr>
          <p:cNvPr id="36" name="s36">
            <a:extLst>
              <a:ext uri="{FF2B5EF4-FFF2-40B4-BE49-F238E27FC236}">
                <a16:creationId xmlns:a16="http://schemas.microsoft.com/office/drawing/2014/main" id="{651BEE7F-F111-44F6-BE0B-6D462BFE79FA}"/>
              </a:ext>
            </a:extLst>
          </p:cNvPr>
          <p:cNvSpPr>
            <a:spLocks noGrp="1"/>
          </p:cNvSpPr>
          <p:nvPr/>
        </p:nvSpPr>
        <p:spPr>
          <a:xfrm>
            <a:off x="6648450" y="3771900"/>
            <a:ext cx="685800" cy="333375"/>
          </a:xfrm>
          <a:prstGeom prst="rect">
            <a:avLst/>
          </a:prstGeom>
          <a:solidFill>
            <a:srgbClr val="006D77"/>
          </a:solidFill>
          <a:ln w="0">
            <a:noFill/>
            <a:prstDash val="solid"/>
          </a:ln>
        </p:spPr>
      </p:sp>
      <p:sp>
        <p:nvSpPr>
          <p:cNvPr id="37" name="s37">
            <a:extLst>
              <a:ext uri="{FF2B5EF4-FFF2-40B4-BE49-F238E27FC236}">
                <a16:creationId xmlns:a16="http://schemas.microsoft.com/office/drawing/2014/main" id="{B9F42354-AF89-450B-B40E-798CD032350E}"/>
              </a:ext>
            </a:extLst>
          </p:cNvPr>
          <p:cNvSpPr>
            <a:spLocks noGrp="1"/>
          </p:cNvSpPr>
          <p:nvPr/>
        </p:nvSpPr>
        <p:spPr>
          <a:xfrm>
            <a:off x="7439025" y="3771900"/>
            <a:ext cx="685800" cy="333375"/>
          </a:xfrm>
          <a:prstGeom prst="rect">
            <a:avLst/>
          </a:prstGeom>
          <a:solidFill>
            <a:srgbClr val="006D77"/>
          </a:solidFill>
          <a:ln w="0">
            <a:noFill/>
            <a:prstDash val="solid"/>
          </a:ln>
        </p:spPr>
      </p:sp>
      <p:sp>
        <p:nvSpPr>
          <p:cNvPr id="38" name="s38">
            <a:extLst>
              <a:ext uri="{FF2B5EF4-FFF2-40B4-BE49-F238E27FC236}">
                <a16:creationId xmlns:a16="http://schemas.microsoft.com/office/drawing/2014/main" id="{C99298D3-D771-4332-BDFA-303C9F131AE8}"/>
              </a:ext>
            </a:extLst>
          </p:cNvPr>
          <p:cNvSpPr>
            <a:spLocks noGrp="1"/>
          </p:cNvSpPr>
          <p:nvPr/>
        </p:nvSpPr>
        <p:spPr>
          <a:xfrm>
            <a:off x="8229600" y="3771900"/>
            <a:ext cx="685800" cy="333375"/>
          </a:xfrm>
          <a:prstGeom prst="rect">
            <a:avLst/>
          </a:prstGeom>
          <a:solidFill>
            <a:srgbClr val="006D77"/>
          </a:solidFill>
          <a:ln w="0">
            <a:noFill/>
            <a:prstDash val="solid"/>
          </a:ln>
        </p:spPr>
      </p:sp>
      <p:sp>
        <p:nvSpPr>
          <p:cNvPr id="39" name="s39">
            <a:extLst>
              <a:ext uri="{FF2B5EF4-FFF2-40B4-BE49-F238E27FC236}">
                <a16:creationId xmlns:a16="http://schemas.microsoft.com/office/drawing/2014/main" id="{FC03D25D-AD60-47CD-9964-8DCCFD927B6E}"/>
              </a:ext>
            </a:extLst>
          </p:cNvPr>
          <p:cNvSpPr>
            <a:spLocks noGrp="1"/>
          </p:cNvSpPr>
          <p:nvPr/>
        </p:nvSpPr>
        <p:spPr>
          <a:xfrm>
            <a:off x="9020175" y="3771900"/>
            <a:ext cx="685800" cy="333375"/>
          </a:xfrm>
          <a:prstGeom prst="rect">
            <a:avLst/>
          </a:prstGeom>
          <a:solidFill>
            <a:srgbClr val="006D77"/>
          </a:solidFill>
          <a:ln w="0">
            <a:noFill/>
            <a:prstDash val="solid"/>
          </a:ln>
        </p:spPr>
      </p:sp>
      <p:sp>
        <p:nvSpPr>
          <p:cNvPr id="40" name="s40">
            <a:extLst>
              <a:ext uri="{FF2B5EF4-FFF2-40B4-BE49-F238E27FC236}">
                <a16:creationId xmlns:a16="http://schemas.microsoft.com/office/drawing/2014/main" id="{0743C1AA-1536-40BE-8A06-227127613960}"/>
              </a:ext>
            </a:extLst>
          </p:cNvPr>
          <p:cNvSpPr>
            <a:spLocks noGrp="1"/>
          </p:cNvSpPr>
          <p:nvPr/>
        </p:nvSpPr>
        <p:spPr>
          <a:xfrm>
            <a:off x="9810750" y="3771900"/>
            <a:ext cx="685800" cy="333375"/>
          </a:xfrm>
          <a:prstGeom prst="rect">
            <a:avLst/>
          </a:prstGeom>
          <a:solidFill>
            <a:srgbClr val="006D77"/>
          </a:solidFill>
          <a:ln w="0">
            <a:noFill/>
            <a:prstDash val="solid"/>
          </a:ln>
        </p:spPr>
      </p:sp>
      <p:sp>
        <p:nvSpPr>
          <p:cNvPr id="41" name="s41">
            <a:extLst>
              <a:ext uri="{FF2B5EF4-FFF2-40B4-BE49-F238E27FC236}">
                <a16:creationId xmlns:a16="http://schemas.microsoft.com/office/drawing/2014/main" id="{5E819B4A-7870-4874-B081-FCB86637A94D}"/>
              </a:ext>
            </a:extLst>
          </p:cNvPr>
          <p:cNvSpPr>
            <a:spLocks noGrp="1"/>
          </p:cNvSpPr>
          <p:nvPr/>
        </p:nvSpPr>
        <p:spPr>
          <a:xfrm>
            <a:off x="10601325" y="3771900"/>
            <a:ext cx="685800" cy="333375"/>
          </a:xfrm>
          <a:prstGeom prst="rect">
            <a:avLst/>
          </a:prstGeom>
          <a:solidFill>
            <a:srgbClr val="006D77"/>
          </a:solidFill>
          <a:ln w="0">
            <a:noFill/>
            <a:prstDash val="solid"/>
          </a:ln>
        </p:spPr>
      </p:sp>
      <p:sp>
        <p:nvSpPr>
          <p:cNvPr id="42" name="t42">
            <a:extLst>
              <a:ext uri="{FF2B5EF4-FFF2-40B4-BE49-F238E27FC236}">
                <a16:creationId xmlns:a16="http://schemas.microsoft.com/office/drawing/2014/main" id="{1265B73E-D26A-47A9-A330-AE64A1028B79}"/>
              </a:ext>
            </a:extLst>
          </p:cNvPr>
          <p:cNvSpPr>
            <a:spLocks noGrp="1"/>
          </p:cNvSpPr>
          <p:nvPr/>
        </p:nvSpPr>
        <p:spPr>
          <a:xfrm>
            <a:off x="666750" y="4257675"/>
            <a:ext cx="1047750" cy="342900"/>
          </a:xfrm>
          <a:prstGeom prst="rect">
            <a:avLst/>
          </a:prstGeom>
        </p:spPr>
        <p:txBody>
          <a:bodyPr lIns="0" tIns="0" rIns="0" bIns="0" anchor="ctr"/>
          <a:lstStyle/>
          <a:p>
            <a:pPr algn="l">
              <a:spcBef>
                <a:spcPts val="0"/>
              </a:spcBef>
              <a:spcAft>
                <a:spcPts val="0"/>
              </a:spcAft>
              <a:buNone/>
              <a:defRPr sz="1725">
                <a:solidFill>
                  <a:srgbClr val="182C30"/>
                </a:solidFill>
                <a:latin typeface="Arial"/>
                <a:ea typeface="Arial"/>
                <a:cs typeface="Arial"/>
              </a:defRPr>
            </a:pPr>
            <a:r>
              <a:t>2023</a:t>
            </a:r>
          </a:p>
        </p:txBody>
      </p:sp>
      <p:sp>
        <p:nvSpPr>
          <p:cNvPr id="43" name="s43">
            <a:extLst>
              <a:ext uri="{FF2B5EF4-FFF2-40B4-BE49-F238E27FC236}">
                <a16:creationId xmlns:a16="http://schemas.microsoft.com/office/drawing/2014/main" id="{547DC51A-C682-4564-9008-5EA2283BDFAB}"/>
              </a:ext>
            </a:extLst>
          </p:cNvPr>
          <p:cNvSpPr>
            <a:spLocks noGrp="1"/>
          </p:cNvSpPr>
          <p:nvPr/>
        </p:nvSpPr>
        <p:spPr>
          <a:xfrm>
            <a:off x="1905000" y="4257675"/>
            <a:ext cx="685800" cy="333375"/>
          </a:xfrm>
          <a:prstGeom prst="rect">
            <a:avLst/>
          </a:prstGeom>
          <a:solidFill>
            <a:srgbClr val="006D77"/>
          </a:solidFill>
          <a:ln w="0">
            <a:noFill/>
            <a:prstDash val="solid"/>
          </a:ln>
        </p:spPr>
      </p:sp>
      <p:sp>
        <p:nvSpPr>
          <p:cNvPr id="44" name="s44">
            <a:extLst>
              <a:ext uri="{FF2B5EF4-FFF2-40B4-BE49-F238E27FC236}">
                <a16:creationId xmlns:a16="http://schemas.microsoft.com/office/drawing/2014/main" id="{8A2A4B08-75FE-4F7E-9ED4-34311EA445CE}"/>
              </a:ext>
            </a:extLst>
          </p:cNvPr>
          <p:cNvSpPr>
            <a:spLocks noGrp="1"/>
          </p:cNvSpPr>
          <p:nvPr/>
        </p:nvSpPr>
        <p:spPr>
          <a:xfrm>
            <a:off x="2695575" y="4257675"/>
            <a:ext cx="685800" cy="333375"/>
          </a:xfrm>
          <a:prstGeom prst="rect">
            <a:avLst/>
          </a:prstGeom>
          <a:solidFill>
            <a:srgbClr val="006D77"/>
          </a:solidFill>
          <a:ln w="0">
            <a:noFill/>
            <a:prstDash val="solid"/>
          </a:ln>
        </p:spPr>
      </p:sp>
      <p:sp>
        <p:nvSpPr>
          <p:cNvPr id="45" name="s45">
            <a:extLst>
              <a:ext uri="{FF2B5EF4-FFF2-40B4-BE49-F238E27FC236}">
                <a16:creationId xmlns:a16="http://schemas.microsoft.com/office/drawing/2014/main" id="{631B4A01-F3E6-47A0-A1DE-9D5823427872}"/>
              </a:ext>
            </a:extLst>
          </p:cNvPr>
          <p:cNvSpPr>
            <a:spLocks noGrp="1"/>
          </p:cNvSpPr>
          <p:nvPr/>
        </p:nvSpPr>
        <p:spPr>
          <a:xfrm>
            <a:off x="3486150" y="4257675"/>
            <a:ext cx="685800" cy="333375"/>
          </a:xfrm>
          <a:prstGeom prst="rect">
            <a:avLst/>
          </a:prstGeom>
          <a:solidFill>
            <a:srgbClr val="006D77"/>
          </a:solidFill>
          <a:ln w="0">
            <a:noFill/>
            <a:prstDash val="solid"/>
          </a:ln>
        </p:spPr>
      </p:sp>
      <p:sp>
        <p:nvSpPr>
          <p:cNvPr id="46" name="s46">
            <a:extLst>
              <a:ext uri="{FF2B5EF4-FFF2-40B4-BE49-F238E27FC236}">
                <a16:creationId xmlns:a16="http://schemas.microsoft.com/office/drawing/2014/main" id="{DA985744-BD7E-4B19-95BC-B79422A13BEF}"/>
              </a:ext>
            </a:extLst>
          </p:cNvPr>
          <p:cNvSpPr>
            <a:spLocks noGrp="1"/>
          </p:cNvSpPr>
          <p:nvPr/>
        </p:nvSpPr>
        <p:spPr>
          <a:xfrm>
            <a:off x="4276725" y="4257675"/>
            <a:ext cx="685800" cy="333375"/>
          </a:xfrm>
          <a:prstGeom prst="rect">
            <a:avLst/>
          </a:prstGeom>
          <a:solidFill>
            <a:srgbClr val="006D77"/>
          </a:solidFill>
          <a:ln w="0">
            <a:noFill/>
            <a:prstDash val="solid"/>
          </a:ln>
        </p:spPr>
      </p:sp>
      <p:sp>
        <p:nvSpPr>
          <p:cNvPr id="47" name="s47">
            <a:extLst>
              <a:ext uri="{FF2B5EF4-FFF2-40B4-BE49-F238E27FC236}">
                <a16:creationId xmlns:a16="http://schemas.microsoft.com/office/drawing/2014/main" id="{27F04E58-642E-4D4E-A7F9-8901A221B0F5}"/>
              </a:ext>
            </a:extLst>
          </p:cNvPr>
          <p:cNvSpPr>
            <a:spLocks noGrp="1"/>
          </p:cNvSpPr>
          <p:nvPr/>
        </p:nvSpPr>
        <p:spPr>
          <a:xfrm>
            <a:off x="5067300" y="4257675"/>
            <a:ext cx="685800" cy="333375"/>
          </a:xfrm>
          <a:prstGeom prst="rect">
            <a:avLst/>
          </a:prstGeom>
          <a:solidFill>
            <a:srgbClr val="006D77"/>
          </a:solidFill>
          <a:ln w="0">
            <a:noFill/>
            <a:prstDash val="solid"/>
          </a:ln>
        </p:spPr>
      </p:sp>
      <p:sp>
        <p:nvSpPr>
          <p:cNvPr id="48" name="s48">
            <a:extLst>
              <a:ext uri="{FF2B5EF4-FFF2-40B4-BE49-F238E27FC236}">
                <a16:creationId xmlns:a16="http://schemas.microsoft.com/office/drawing/2014/main" id="{710CB163-12E7-4AFE-8C3A-4D762ECD2C0C}"/>
              </a:ext>
            </a:extLst>
          </p:cNvPr>
          <p:cNvSpPr>
            <a:spLocks noGrp="1"/>
          </p:cNvSpPr>
          <p:nvPr/>
        </p:nvSpPr>
        <p:spPr>
          <a:xfrm>
            <a:off x="5857875" y="4257675"/>
            <a:ext cx="685800" cy="333375"/>
          </a:xfrm>
          <a:prstGeom prst="rect">
            <a:avLst/>
          </a:prstGeom>
          <a:solidFill>
            <a:srgbClr val="006D77"/>
          </a:solidFill>
          <a:ln w="0">
            <a:noFill/>
            <a:prstDash val="solid"/>
          </a:ln>
        </p:spPr>
      </p:sp>
      <p:sp>
        <p:nvSpPr>
          <p:cNvPr id="49" name="s49">
            <a:extLst>
              <a:ext uri="{FF2B5EF4-FFF2-40B4-BE49-F238E27FC236}">
                <a16:creationId xmlns:a16="http://schemas.microsoft.com/office/drawing/2014/main" id="{3BCD870A-676A-4452-8C1D-215CF98F1716}"/>
              </a:ext>
            </a:extLst>
          </p:cNvPr>
          <p:cNvSpPr>
            <a:spLocks noGrp="1"/>
          </p:cNvSpPr>
          <p:nvPr/>
        </p:nvSpPr>
        <p:spPr>
          <a:xfrm>
            <a:off x="6648450" y="4257675"/>
            <a:ext cx="685800" cy="333375"/>
          </a:xfrm>
          <a:prstGeom prst="rect">
            <a:avLst/>
          </a:prstGeom>
          <a:solidFill>
            <a:srgbClr val="006D77"/>
          </a:solidFill>
          <a:ln w="0">
            <a:noFill/>
            <a:prstDash val="solid"/>
          </a:ln>
        </p:spPr>
      </p:sp>
      <p:sp>
        <p:nvSpPr>
          <p:cNvPr id="50" name="s50">
            <a:extLst>
              <a:ext uri="{FF2B5EF4-FFF2-40B4-BE49-F238E27FC236}">
                <a16:creationId xmlns:a16="http://schemas.microsoft.com/office/drawing/2014/main" id="{B5D96975-930C-415E-8F47-4CBEB579D133}"/>
              </a:ext>
            </a:extLst>
          </p:cNvPr>
          <p:cNvSpPr>
            <a:spLocks noGrp="1"/>
          </p:cNvSpPr>
          <p:nvPr/>
        </p:nvSpPr>
        <p:spPr>
          <a:xfrm>
            <a:off x="7439025" y="4257675"/>
            <a:ext cx="685800" cy="333375"/>
          </a:xfrm>
          <a:prstGeom prst="rect">
            <a:avLst/>
          </a:prstGeom>
          <a:solidFill>
            <a:srgbClr val="006D77"/>
          </a:solidFill>
          <a:ln w="0">
            <a:noFill/>
            <a:prstDash val="solid"/>
          </a:ln>
        </p:spPr>
      </p:sp>
      <p:sp>
        <p:nvSpPr>
          <p:cNvPr id="51" name="s51">
            <a:extLst>
              <a:ext uri="{FF2B5EF4-FFF2-40B4-BE49-F238E27FC236}">
                <a16:creationId xmlns:a16="http://schemas.microsoft.com/office/drawing/2014/main" id="{BDE64381-927F-4089-A4EB-255432555232}"/>
              </a:ext>
            </a:extLst>
          </p:cNvPr>
          <p:cNvSpPr>
            <a:spLocks noGrp="1"/>
          </p:cNvSpPr>
          <p:nvPr/>
        </p:nvSpPr>
        <p:spPr>
          <a:xfrm>
            <a:off x="8229600" y="4257675"/>
            <a:ext cx="685800" cy="333375"/>
          </a:xfrm>
          <a:prstGeom prst="rect">
            <a:avLst/>
          </a:prstGeom>
          <a:solidFill>
            <a:srgbClr val="006D77"/>
          </a:solidFill>
          <a:ln w="0">
            <a:noFill/>
            <a:prstDash val="solid"/>
          </a:ln>
        </p:spPr>
      </p:sp>
      <p:sp>
        <p:nvSpPr>
          <p:cNvPr id="52" name="s52">
            <a:extLst>
              <a:ext uri="{FF2B5EF4-FFF2-40B4-BE49-F238E27FC236}">
                <a16:creationId xmlns:a16="http://schemas.microsoft.com/office/drawing/2014/main" id="{BF973DF4-EEE6-4EA7-A65B-70DF665727DE}"/>
              </a:ext>
            </a:extLst>
          </p:cNvPr>
          <p:cNvSpPr>
            <a:spLocks noGrp="1"/>
          </p:cNvSpPr>
          <p:nvPr/>
        </p:nvSpPr>
        <p:spPr>
          <a:xfrm>
            <a:off x="9020175" y="4257675"/>
            <a:ext cx="685800" cy="333375"/>
          </a:xfrm>
          <a:prstGeom prst="rect">
            <a:avLst/>
          </a:prstGeom>
          <a:solidFill>
            <a:srgbClr val="006D77"/>
          </a:solidFill>
          <a:ln w="0">
            <a:noFill/>
            <a:prstDash val="solid"/>
          </a:ln>
        </p:spPr>
      </p:sp>
      <p:sp>
        <p:nvSpPr>
          <p:cNvPr id="53" name="s53">
            <a:extLst>
              <a:ext uri="{FF2B5EF4-FFF2-40B4-BE49-F238E27FC236}">
                <a16:creationId xmlns:a16="http://schemas.microsoft.com/office/drawing/2014/main" id="{AB022512-B75C-4002-AB67-0291D3D67AC9}"/>
              </a:ext>
            </a:extLst>
          </p:cNvPr>
          <p:cNvSpPr>
            <a:spLocks noGrp="1"/>
          </p:cNvSpPr>
          <p:nvPr/>
        </p:nvSpPr>
        <p:spPr>
          <a:xfrm>
            <a:off x="9810750" y="4257675"/>
            <a:ext cx="685800" cy="333375"/>
          </a:xfrm>
          <a:prstGeom prst="rect">
            <a:avLst/>
          </a:prstGeom>
          <a:solidFill>
            <a:srgbClr val="006D77"/>
          </a:solidFill>
          <a:ln w="0">
            <a:noFill/>
            <a:prstDash val="solid"/>
          </a:ln>
        </p:spPr>
      </p:sp>
      <p:sp>
        <p:nvSpPr>
          <p:cNvPr id="54" name="s54">
            <a:extLst>
              <a:ext uri="{FF2B5EF4-FFF2-40B4-BE49-F238E27FC236}">
                <a16:creationId xmlns:a16="http://schemas.microsoft.com/office/drawing/2014/main" id="{F512743B-219F-43A0-A780-F027659A1659}"/>
              </a:ext>
            </a:extLst>
          </p:cNvPr>
          <p:cNvSpPr>
            <a:spLocks noGrp="1"/>
          </p:cNvSpPr>
          <p:nvPr/>
        </p:nvSpPr>
        <p:spPr>
          <a:xfrm>
            <a:off x="10601325" y="4257675"/>
            <a:ext cx="685800" cy="333375"/>
          </a:xfrm>
          <a:prstGeom prst="rect">
            <a:avLst/>
          </a:prstGeom>
          <a:solidFill>
            <a:srgbClr val="006D77"/>
          </a:solidFill>
          <a:ln w="0">
            <a:noFill/>
            <a:prstDash val="solid"/>
          </a:ln>
        </p:spPr>
      </p:sp>
      <p:sp>
        <p:nvSpPr>
          <p:cNvPr id="55" name="t55">
            <a:extLst>
              <a:ext uri="{FF2B5EF4-FFF2-40B4-BE49-F238E27FC236}">
                <a16:creationId xmlns:a16="http://schemas.microsoft.com/office/drawing/2014/main" id="{5569C6DD-92A4-4C72-A8E7-C6F5E1CC5918}"/>
              </a:ext>
            </a:extLst>
          </p:cNvPr>
          <p:cNvSpPr>
            <a:spLocks noGrp="1"/>
          </p:cNvSpPr>
          <p:nvPr/>
        </p:nvSpPr>
        <p:spPr>
          <a:xfrm>
            <a:off x="666750" y="4743450"/>
            <a:ext cx="1047750" cy="342900"/>
          </a:xfrm>
          <a:prstGeom prst="rect">
            <a:avLst/>
          </a:prstGeom>
        </p:spPr>
        <p:txBody>
          <a:bodyPr lIns="0" tIns="0" rIns="0" bIns="0" anchor="ctr"/>
          <a:lstStyle/>
          <a:p>
            <a:pPr algn="l">
              <a:spcBef>
                <a:spcPts val="0"/>
              </a:spcBef>
              <a:spcAft>
                <a:spcPts val="0"/>
              </a:spcAft>
              <a:buNone/>
              <a:defRPr sz="1725">
                <a:solidFill>
                  <a:srgbClr val="182C30"/>
                </a:solidFill>
                <a:latin typeface="Arial"/>
                <a:ea typeface="Arial"/>
                <a:cs typeface="Arial"/>
              </a:defRPr>
            </a:pPr>
            <a:r>
              <a:t>2024</a:t>
            </a:r>
          </a:p>
        </p:txBody>
      </p:sp>
      <p:sp>
        <p:nvSpPr>
          <p:cNvPr id="56" name="s56">
            <a:extLst>
              <a:ext uri="{FF2B5EF4-FFF2-40B4-BE49-F238E27FC236}">
                <a16:creationId xmlns:a16="http://schemas.microsoft.com/office/drawing/2014/main" id="{95DA2396-CED3-496E-B998-15BA68EEEA40}"/>
              </a:ext>
            </a:extLst>
          </p:cNvPr>
          <p:cNvSpPr>
            <a:spLocks noGrp="1"/>
          </p:cNvSpPr>
          <p:nvPr/>
        </p:nvSpPr>
        <p:spPr>
          <a:xfrm>
            <a:off x="1905000" y="4743450"/>
            <a:ext cx="685800" cy="333375"/>
          </a:xfrm>
          <a:prstGeom prst="rect">
            <a:avLst/>
          </a:prstGeom>
          <a:solidFill>
            <a:srgbClr val="006D77"/>
          </a:solidFill>
          <a:ln w="0">
            <a:noFill/>
            <a:prstDash val="solid"/>
          </a:ln>
        </p:spPr>
      </p:sp>
      <p:sp>
        <p:nvSpPr>
          <p:cNvPr id="57" name="s57">
            <a:extLst>
              <a:ext uri="{FF2B5EF4-FFF2-40B4-BE49-F238E27FC236}">
                <a16:creationId xmlns:a16="http://schemas.microsoft.com/office/drawing/2014/main" id="{E76D6647-48F9-44BB-A15C-F9A64A550661}"/>
              </a:ext>
            </a:extLst>
          </p:cNvPr>
          <p:cNvSpPr>
            <a:spLocks noGrp="1"/>
          </p:cNvSpPr>
          <p:nvPr/>
        </p:nvSpPr>
        <p:spPr>
          <a:xfrm>
            <a:off x="2695575" y="4743450"/>
            <a:ext cx="685800" cy="333375"/>
          </a:xfrm>
          <a:prstGeom prst="rect">
            <a:avLst/>
          </a:prstGeom>
          <a:solidFill>
            <a:srgbClr val="006D77"/>
          </a:solidFill>
          <a:ln w="0">
            <a:noFill/>
            <a:prstDash val="solid"/>
          </a:ln>
        </p:spPr>
      </p:sp>
      <p:sp>
        <p:nvSpPr>
          <p:cNvPr id="58" name="s58">
            <a:extLst>
              <a:ext uri="{FF2B5EF4-FFF2-40B4-BE49-F238E27FC236}">
                <a16:creationId xmlns:a16="http://schemas.microsoft.com/office/drawing/2014/main" id="{7F76CBD7-429A-45AB-9DB3-FFDEA35F5EDE}"/>
              </a:ext>
            </a:extLst>
          </p:cNvPr>
          <p:cNvSpPr>
            <a:spLocks noGrp="1"/>
          </p:cNvSpPr>
          <p:nvPr/>
        </p:nvSpPr>
        <p:spPr>
          <a:xfrm>
            <a:off x="3486150" y="4743450"/>
            <a:ext cx="685800" cy="333375"/>
          </a:xfrm>
          <a:prstGeom prst="rect">
            <a:avLst/>
          </a:prstGeom>
          <a:solidFill>
            <a:srgbClr val="006D77"/>
          </a:solidFill>
          <a:ln w="0">
            <a:noFill/>
            <a:prstDash val="solid"/>
          </a:ln>
        </p:spPr>
      </p:sp>
      <p:sp>
        <p:nvSpPr>
          <p:cNvPr id="59" name="s59">
            <a:extLst>
              <a:ext uri="{FF2B5EF4-FFF2-40B4-BE49-F238E27FC236}">
                <a16:creationId xmlns:a16="http://schemas.microsoft.com/office/drawing/2014/main" id="{9F81DD9A-7072-436D-9520-5E0AF6108BAA}"/>
              </a:ext>
            </a:extLst>
          </p:cNvPr>
          <p:cNvSpPr>
            <a:spLocks noGrp="1"/>
          </p:cNvSpPr>
          <p:nvPr/>
        </p:nvSpPr>
        <p:spPr>
          <a:xfrm>
            <a:off x="4276725" y="4743450"/>
            <a:ext cx="685800" cy="333375"/>
          </a:xfrm>
          <a:prstGeom prst="rect">
            <a:avLst/>
          </a:prstGeom>
          <a:solidFill>
            <a:srgbClr val="006D77"/>
          </a:solidFill>
          <a:ln w="0">
            <a:noFill/>
            <a:prstDash val="solid"/>
          </a:ln>
        </p:spPr>
      </p:sp>
      <p:sp>
        <p:nvSpPr>
          <p:cNvPr id="60" name="s60">
            <a:extLst>
              <a:ext uri="{FF2B5EF4-FFF2-40B4-BE49-F238E27FC236}">
                <a16:creationId xmlns:a16="http://schemas.microsoft.com/office/drawing/2014/main" id="{C6CB1427-B2B5-4001-A4E1-9EE93B6FAABE}"/>
              </a:ext>
            </a:extLst>
          </p:cNvPr>
          <p:cNvSpPr>
            <a:spLocks noGrp="1"/>
          </p:cNvSpPr>
          <p:nvPr/>
        </p:nvSpPr>
        <p:spPr>
          <a:xfrm>
            <a:off x="5067300" y="4743450"/>
            <a:ext cx="685800" cy="333375"/>
          </a:xfrm>
          <a:prstGeom prst="rect">
            <a:avLst/>
          </a:prstGeom>
          <a:solidFill>
            <a:srgbClr val="006D77"/>
          </a:solidFill>
          <a:ln w="0">
            <a:noFill/>
            <a:prstDash val="solid"/>
          </a:ln>
        </p:spPr>
      </p:sp>
      <p:sp>
        <p:nvSpPr>
          <p:cNvPr id="61" name="s61">
            <a:extLst>
              <a:ext uri="{FF2B5EF4-FFF2-40B4-BE49-F238E27FC236}">
                <a16:creationId xmlns:a16="http://schemas.microsoft.com/office/drawing/2014/main" id="{48920285-55BA-476E-887C-C7842A0FAE08}"/>
              </a:ext>
            </a:extLst>
          </p:cNvPr>
          <p:cNvSpPr>
            <a:spLocks noGrp="1"/>
          </p:cNvSpPr>
          <p:nvPr/>
        </p:nvSpPr>
        <p:spPr>
          <a:xfrm>
            <a:off x="5857875" y="4743450"/>
            <a:ext cx="685800" cy="333375"/>
          </a:xfrm>
          <a:prstGeom prst="rect">
            <a:avLst/>
          </a:prstGeom>
          <a:solidFill>
            <a:srgbClr val="006D77"/>
          </a:solidFill>
          <a:ln w="0">
            <a:noFill/>
            <a:prstDash val="solid"/>
          </a:ln>
        </p:spPr>
      </p:sp>
      <p:sp>
        <p:nvSpPr>
          <p:cNvPr id="62" name="s62">
            <a:extLst>
              <a:ext uri="{FF2B5EF4-FFF2-40B4-BE49-F238E27FC236}">
                <a16:creationId xmlns:a16="http://schemas.microsoft.com/office/drawing/2014/main" id="{DA75FEAD-6070-4635-AA8B-324E0AB81AE0}"/>
              </a:ext>
            </a:extLst>
          </p:cNvPr>
          <p:cNvSpPr>
            <a:spLocks noGrp="1"/>
          </p:cNvSpPr>
          <p:nvPr/>
        </p:nvSpPr>
        <p:spPr>
          <a:xfrm>
            <a:off x="6648450" y="4743450"/>
            <a:ext cx="685800" cy="333375"/>
          </a:xfrm>
          <a:prstGeom prst="rect">
            <a:avLst/>
          </a:prstGeom>
          <a:solidFill>
            <a:srgbClr val="006D77"/>
          </a:solidFill>
          <a:ln w="0">
            <a:noFill/>
            <a:prstDash val="solid"/>
          </a:ln>
        </p:spPr>
      </p:sp>
      <p:sp>
        <p:nvSpPr>
          <p:cNvPr id="63" name="s63">
            <a:extLst>
              <a:ext uri="{FF2B5EF4-FFF2-40B4-BE49-F238E27FC236}">
                <a16:creationId xmlns:a16="http://schemas.microsoft.com/office/drawing/2014/main" id="{13EADA4A-BF77-4813-BB87-9153DDE1BC35}"/>
              </a:ext>
            </a:extLst>
          </p:cNvPr>
          <p:cNvSpPr>
            <a:spLocks noGrp="1"/>
          </p:cNvSpPr>
          <p:nvPr/>
        </p:nvSpPr>
        <p:spPr>
          <a:xfrm>
            <a:off x="7439025" y="4743450"/>
            <a:ext cx="685800" cy="333375"/>
          </a:xfrm>
          <a:prstGeom prst="rect">
            <a:avLst/>
          </a:prstGeom>
          <a:solidFill>
            <a:srgbClr val="006D77"/>
          </a:solidFill>
          <a:ln w="0">
            <a:noFill/>
            <a:prstDash val="solid"/>
          </a:ln>
        </p:spPr>
      </p:sp>
      <p:sp>
        <p:nvSpPr>
          <p:cNvPr id="64" name="s64">
            <a:extLst>
              <a:ext uri="{FF2B5EF4-FFF2-40B4-BE49-F238E27FC236}">
                <a16:creationId xmlns:a16="http://schemas.microsoft.com/office/drawing/2014/main" id="{9B7905C2-B21B-4024-B6B8-F2279E35A949}"/>
              </a:ext>
            </a:extLst>
          </p:cNvPr>
          <p:cNvSpPr>
            <a:spLocks noGrp="1"/>
          </p:cNvSpPr>
          <p:nvPr/>
        </p:nvSpPr>
        <p:spPr>
          <a:xfrm>
            <a:off x="8229600" y="4743450"/>
            <a:ext cx="685800" cy="333375"/>
          </a:xfrm>
          <a:prstGeom prst="rect">
            <a:avLst/>
          </a:prstGeom>
          <a:solidFill>
            <a:srgbClr val="006D77"/>
          </a:solidFill>
          <a:ln w="0">
            <a:noFill/>
            <a:prstDash val="solid"/>
          </a:ln>
        </p:spPr>
      </p:sp>
      <p:sp>
        <p:nvSpPr>
          <p:cNvPr id="65" name="s65">
            <a:extLst>
              <a:ext uri="{FF2B5EF4-FFF2-40B4-BE49-F238E27FC236}">
                <a16:creationId xmlns:a16="http://schemas.microsoft.com/office/drawing/2014/main" id="{B2C7B7BC-C060-45A5-9CB1-4E683CA6374A}"/>
              </a:ext>
            </a:extLst>
          </p:cNvPr>
          <p:cNvSpPr>
            <a:spLocks noGrp="1"/>
          </p:cNvSpPr>
          <p:nvPr/>
        </p:nvSpPr>
        <p:spPr>
          <a:xfrm>
            <a:off x="9020175" y="4743450"/>
            <a:ext cx="685800" cy="333375"/>
          </a:xfrm>
          <a:prstGeom prst="rect">
            <a:avLst/>
          </a:prstGeom>
          <a:solidFill>
            <a:srgbClr val="006D77"/>
          </a:solidFill>
          <a:ln w="0">
            <a:noFill/>
            <a:prstDash val="solid"/>
          </a:ln>
        </p:spPr>
      </p:sp>
      <p:sp>
        <p:nvSpPr>
          <p:cNvPr id="66" name="s66">
            <a:extLst>
              <a:ext uri="{FF2B5EF4-FFF2-40B4-BE49-F238E27FC236}">
                <a16:creationId xmlns:a16="http://schemas.microsoft.com/office/drawing/2014/main" id="{C951A979-9678-4F87-A515-0C3D9667EC18}"/>
              </a:ext>
            </a:extLst>
          </p:cNvPr>
          <p:cNvSpPr>
            <a:spLocks noGrp="1"/>
          </p:cNvSpPr>
          <p:nvPr/>
        </p:nvSpPr>
        <p:spPr>
          <a:xfrm>
            <a:off x="9810750" y="4743450"/>
            <a:ext cx="685800" cy="333375"/>
          </a:xfrm>
          <a:prstGeom prst="rect">
            <a:avLst/>
          </a:prstGeom>
          <a:solidFill>
            <a:srgbClr val="006D77"/>
          </a:solidFill>
          <a:ln w="0">
            <a:noFill/>
            <a:prstDash val="solid"/>
          </a:ln>
        </p:spPr>
      </p:sp>
      <p:sp>
        <p:nvSpPr>
          <p:cNvPr id="67" name="s67">
            <a:extLst>
              <a:ext uri="{FF2B5EF4-FFF2-40B4-BE49-F238E27FC236}">
                <a16:creationId xmlns:a16="http://schemas.microsoft.com/office/drawing/2014/main" id="{5A155025-866A-4145-BF18-D1965D012E25}"/>
              </a:ext>
            </a:extLst>
          </p:cNvPr>
          <p:cNvSpPr>
            <a:spLocks noGrp="1"/>
          </p:cNvSpPr>
          <p:nvPr/>
        </p:nvSpPr>
        <p:spPr>
          <a:xfrm>
            <a:off x="10601325" y="4743450"/>
            <a:ext cx="685800" cy="333375"/>
          </a:xfrm>
          <a:prstGeom prst="rect">
            <a:avLst/>
          </a:prstGeom>
          <a:solidFill>
            <a:srgbClr val="006D77"/>
          </a:solidFill>
          <a:ln w="0">
            <a:noFill/>
            <a:prstDash val="solid"/>
          </a:ln>
        </p:spPr>
      </p:sp>
      <p:sp>
        <p:nvSpPr>
          <p:cNvPr id="68" name="t68">
            <a:extLst>
              <a:ext uri="{FF2B5EF4-FFF2-40B4-BE49-F238E27FC236}">
                <a16:creationId xmlns:a16="http://schemas.microsoft.com/office/drawing/2014/main" id="{CE1FD1E3-A434-4FEA-BE2D-2AB08602E1E3}"/>
              </a:ext>
            </a:extLst>
          </p:cNvPr>
          <p:cNvSpPr>
            <a:spLocks noGrp="1"/>
          </p:cNvSpPr>
          <p:nvPr/>
        </p:nvSpPr>
        <p:spPr>
          <a:xfrm>
            <a:off x="666750" y="5229225"/>
            <a:ext cx="1047750" cy="342900"/>
          </a:xfrm>
          <a:prstGeom prst="rect">
            <a:avLst/>
          </a:prstGeom>
        </p:spPr>
        <p:txBody>
          <a:bodyPr lIns="0" tIns="0" rIns="0" bIns="0" anchor="ctr"/>
          <a:lstStyle/>
          <a:p>
            <a:pPr algn="l">
              <a:spcBef>
                <a:spcPts val="0"/>
              </a:spcBef>
              <a:spcAft>
                <a:spcPts val="0"/>
              </a:spcAft>
              <a:buNone/>
              <a:defRPr sz="1725">
                <a:solidFill>
                  <a:srgbClr val="182C30"/>
                </a:solidFill>
                <a:latin typeface="Arial"/>
                <a:ea typeface="Arial"/>
                <a:cs typeface="Arial"/>
              </a:defRPr>
            </a:pPr>
            <a:r>
              <a:t>2025</a:t>
            </a:r>
          </a:p>
        </p:txBody>
      </p:sp>
      <p:sp>
        <p:nvSpPr>
          <p:cNvPr id="69" name="s69">
            <a:extLst>
              <a:ext uri="{FF2B5EF4-FFF2-40B4-BE49-F238E27FC236}">
                <a16:creationId xmlns:a16="http://schemas.microsoft.com/office/drawing/2014/main" id="{3330DA9C-2D78-4EB5-9547-2F69BC1D5061}"/>
              </a:ext>
            </a:extLst>
          </p:cNvPr>
          <p:cNvSpPr>
            <a:spLocks noGrp="1"/>
          </p:cNvSpPr>
          <p:nvPr/>
        </p:nvSpPr>
        <p:spPr>
          <a:xfrm>
            <a:off x="1905000" y="5229225"/>
            <a:ext cx="685800" cy="333375"/>
          </a:xfrm>
          <a:prstGeom prst="rect">
            <a:avLst/>
          </a:prstGeom>
          <a:solidFill>
            <a:srgbClr val="006D77"/>
          </a:solidFill>
          <a:ln w="0">
            <a:noFill/>
            <a:prstDash val="solid"/>
          </a:ln>
        </p:spPr>
      </p:sp>
      <p:sp>
        <p:nvSpPr>
          <p:cNvPr id="70" name="s70">
            <a:extLst>
              <a:ext uri="{FF2B5EF4-FFF2-40B4-BE49-F238E27FC236}">
                <a16:creationId xmlns:a16="http://schemas.microsoft.com/office/drawing/2014/main" id="{9A555386-841A-48CC-B8B5-DF70F70D904B}"/>
              </a:ext>
            </a:extLst>
          </p:cNvPr>
          <p:cNvSpPr>
            <a:spLocks noGrp="1"/>
          </p:cNvSpPr>
          <p:nvPr/>
        </p:nvSpPr>
        <p:spPr>
          <a:xfrm>
            <a:off x="2695575" y="5229225"/>
            <a:ext cx="685800" cy="333375"/>
          </a:xfrm>
          <a:prstGeom prst="rect">
            <a:avLst/>
          </a:prstGeom>
          <a:solidFill>
            <a:srgbClr val="006D77"/>
          </a:solidFill>
          <a:ln w="0">
            <a:noFill/>
            <a:prstDash val="solid"/>
          </a:ln>
        </p:spPr>
      </p:sp>
      <p:sp>
        <p:nvSpPr>
          <p:cNvPr id="71" name="s71">
            <a:extLst>
              <a:ext uri="{FF2B5EF4-FFF2-40B4-BE49-F238E27FC236}">
                <a16:creationId xmlns:a16="http://schemas.microsoft.com/office/drawing/2014/main" id="{1606B8EA-C591-4C2A-B686-928D7EDD5E03}"/>
              </a:ext>
            </a:extLst>
          </p:cNvPr>
          <p:cNvSpPr>
            <a:spLocks noGrp="1"/>
          </p:cNvSpPr>
          <p:nvPr/>
        </p:nvSpPr>
        <p:spPr>
          <a:xfrm>
            <a:off x="3486150" y="5229225"/>
            <a:ext cx="685800" cy="333375"/>
          </a:xfrm>
          <a:prstGeom prst="rect">
            <a:avLst/>
          </a:prstGeom>
          <a:solidFill>
            <a:srgbClr val="006D77"/>
          </a:solidFill>
          <a:ln w="0">
            <a:noFill/>
            <a:prstDash val="solid"/>
          </a:ln>
        </p:spPr>
      </p:sp>
      <p:sp>
        <p:nvSpPr>
          <p:cNvPr id="72" name="s72">
            <a:extLst>
              <a:ext uri="{FF2B5EF4-FFF2-40B4-BE49-F238E27FC236}">
                <a16:creationId xmlns:a16="http://schemas.microsoft.com/office/drawing/2014/main" id="{76B49C06-4BB9-43B2-9804-B09EDD21B265}"/>
              </a:ext>
            </a:extLst>
          </p:cNvPr>
          <p:cNvSpPr>
            <a:spLocks noGrp="1"/>
          </p:cNvSpPr>
          <p:nvPr/>
        </p:nvSpPr>
        <p:spPr>
          <a:xfrm>
            <a:off x="4276725" y="5229225"/>
            <a:ext cx="685800" cy="333375"/>
          </a:xfrm>
          <a:prstGeom prst="rect">
            <a:avLst/>
          </a:prstGeom>
          <a:solidFill>
            <a:srgbClr val="006D77"/>
          </a:solidFill>
          <a:ln w="0">
            <a:noFill/>
            <a:prstDash val="solid"/>
          </a:ln>
        </p:spPr>
      </p:sp>
      <p:sp>
        <p:nvSpPr>
          <p:cNvPr id="73" name="s73">
            <a:extLst>
              <a:ext uri="{FF2B5EF4-FFF2-40B4-BE49-F238E27FC236}">
                <a16:creationId xmlns:a16="http://schemas.microsoft.com/office/drawing/2014/main" id="{921CFD8C-B3D8-4AA9-B0EB-515DEB44EFE4}"/>
              </a:ext>
            </a:extLst>
          </p:cNvPr>
          <p:cNvSpPr>
            <a:spLocks noGrp="1"/>
          </p:cNvSpPr>
          <p:nvPr/>
        </p:nvSpPr>
        <p:spPr>
          <a:xfrm>
            <a:off x="5067300" y="5229225"/>
            <a:ext cx="685800" cy="333375"/>
          </a:xfrm>
          <a:prstGeom prst="rect">
            <a:avLst/>
          </a:prstGeom>
          <a:solidFill>
            <a:srgbClr val="006D77"/>
          </a:solidFill>
          <a:ln w="0">
            <a:noFill/>
            <a:prstDash val="solid"/>
          </a:ln>
        </p:spPr>
      </p:sp>
      <p:sp>
        <p:nvSpPr>
          <p:cNvPr id="74" name="s74">
            <a:extLst>
              <a:ext uri="{FF2B5EF4-FFF2-40B4-BE49-F238E27FC236}">
                <a16:creationId xmlns:a16="http://schemas.microsoft.com/office/drawing/2014/main" id="{8597FD50-5335-4DD7-ACEF-63F500563BD3}"/>
              </a:ext>
            </a:extLst>
          </p:cNvPr>
          <p:cNvSpPr>
            <a:spLocks noGrp="1"/>
          </p:cNvSpPr>
          <p:nvPr/>
        </p:nvSpPr>
        <p:spPr>
          <a:xfrm>
            <a:off x="5857875" y="5229225"/>
            <a:ext cx="685800" cy="333375"/>
          </a:xfrm>
          <a:prstGeom prst="rect">
            <a:avLst/>
          </a:prstGeom>
          <a:solidFill>
            <a:srgbClr val="006D77"/>
          </a:solidFill>
          <a:ln w="0">
            <a:noFill/>
            <a:prstDash val="solid"/>
          </a:ln>
        </p:spPr>
      </p:sp>
      <p:sp>
        <p:nvSpPr>
          <p:cNvPr id="75" name="s75">
            <a:extLst>
              <a:ext uri="{FF2B5EF4-FFF2-40B4-BE49-F238E27FC236}">
                <a16:creationId xmlns:a16="http://schemas.microsoft.com/office/drawing/2014/main" id="{8CEFCCD2-EDA1-49A3-8698-C9E2C5CBC45D}"/>
              </a:ext>
            </a:extLst>
          </p:cNvPr>
          <p:cNvSpPr>
            <a:spLocks noGrp="1"/>
          </p:cNvSpPr>
          <p:nvPr/>
        </p:nvSpPr>
        <p:spPr>
          <a:xfrm>
            <a:off x="6648450" y="5229225"/>
            <a:ext cx="685800" cy="333375"/>
          </a:xfrm>
          <a:prstGeom prst="rect">
            <a:avLst/>
          </a:prstGeom>
          <a:solidFill>
            <a:srgbClr val="006D77"/>
          </a:solidFill>
          <a:ln w="0">
            <a:noFill/>
            <a:prstDash val="solid"/>
          </a:ln>
        </p:spPr>
      </p:sp>
      <p:sp>
        <p:nvSpPr>
          <p:cNvPr id="76" name="s76">
            <a:extLst>
              <a:ext uri="{FF2B5EF4-FFF2-40B4-BE49-F238E27FC236}">
                <a16:creationId xmlns:a16="http://schemas.microsoft.com/office/drawing/2014/main" id="{7675B9F1-DDB1-42F5-80C1-91BC037904FA}"/>
              </a:ext>
            </a:extLst>
          </p:cNvPr>
          <p:cNvSpPr>
            <a:spLocks noGrp="1"/>
          </p:cNvSpPr>
          <p:nvPr/>
        </p:nvSpPr>
        <p:spPr>
          <a:xfrm>
            <a:off x="7439025" y="5229225"/>
            <a:ext cx="685800" cy="333375"/>
          </a:xfrm>
          <a:prstGeom prst="rect">
            <a:avLst/>
          </a:prstGeom>
          <a:solidFill>
            <a:srgbClr val="006D77"/>
          </a:solidFill>
          <a:ln w="0">
            <a:noFill/>
            <a:prstDash val="solid"/>
          </a:ln>
        </p:spPr>
      </p:sp>
      <p:sp>
        <p:nvSpPr>
          <p:cNvPr id="77" name="s77">
            <a:extLst>
              <a:ext uri="{FF2B5EF4-FFF2-40B4-BE49-F238E27FC236}">
                <a16:creationId xmlns:a16="http://schemas.microsoft.com/office/drawing/2014/main" id="{4F3AAA46-3760-40E7-BC1F-3C31D5DA7BA4}"/>
              </a:ext>
            </a:extLst>
          </p:cNvPr>
          <p:cNvSpPr>
            <a:spLocks noGrp="1"/>
          </p:cNvSpPr>
          <p:nvPr/>
        </p:nvSpPr>
        <p:spPr>
          <a:xfrm>
            <a:off x="8229600" y="5229225"/>
            <a:ext cx="685800" cy="333375"/>
          </a:xfrm>
          <a:prstGeom prst="rect">
            <a:avLst/>
          </a:prstGeom>
          <a:solidFill>
            <a:srgbClr val="006D77"/>
          </a:solidFill>
          <a:ln w="0">
            <a:noFill/>
            <a:prstDash val="solid"/>
          </a:ln>
        </p:spPr>
      </p:sp>
      <p:sp>
        <p:nvSpPr>
          <p:cNvPr id="78" name="s78">
            <a:extLst>
              <a:ext uri="{FF2B5EF4-FFF2-40B4-BE49-F238E27FC236}">
                <a16:creationId xmlns:a16="http://schemas.microsoft.com/office/drawing/2014/main" id="{8E3D017C-C286-4F79-B1DC-555EF3A995CA}"/>
              </a:ext>
            </a:extLst>
          </p:cNvPr>
          <p:cNvSpPr>
            <a:spLocks noGrp="1"/>
          </p:cNvSpPr>
          <p:nvPr/>
        </p:nvSpPr>
        <p:spPr>
          <a:xfrm>
            <a:off x="9020175" y="5229225"/>
            <a:ext cx="685800" cy="333375"/>
          </a:xfrm>
          <a:prstGeom prst="rect">
            <a:avLst/>
          </a:prstGeom>
          <a:solidFill>
            <a:srgbClr val="006D77"/>
          </a:solidFill>
          <a:ln w="0">
            <a:noFill/>
            <a:prstDash val="solid"/>
          </a:ln>
        </p:spPr>
      </p:sp>
      <p:sp>
        <p:nvSpPr>
          <p:cNvPr id="79" name="s79">
            <a:extLst>
              <a:ext uri="{FF2B5EF4-FFF2-40B4-BE49-F238E27FC236}">
                <a16:creationId xmlns:a16="http://schemas.microsoft.com/office/drawing/2014/main" id="{46900592-F19A-401D-A8C5-4D9E179782BA}"/>
              </a:ext>
            </a:extLst>
          </p:cNvPr>
          <p:cNvSpPr>
            <a:spLocks noGrp="1"/>
          </p:cNvSpPr>
          <p:nvPr/>
        </p:nvSpPr>
        <p:spPr>
          <a:xfrm>
            <a:off x="9810750" y="5229225"/>
            <a:ext cx="685800" cy="333375"/>
          </a:xfrm>
          <a:prstGeom prst="rect">
            <a:avLst/>
          </a:prstGeom>
          <a:solidFill>
            <a:srgbClr val="006D77"/>
          </a:solidFill>
          <a:ln w="0">
            <a:noFill/>
            <a:prstDash val="solid"/>
          </a:ln>
        </p:spPr>
      </p:sp>
      <p:sp>
        <p:nvSpPr>
          <p:cNvPr id="80" name="s80">
            <a:extLst>
              <a:ext uri="{FF2B5EF4-FFF2-40B4-BE49-F238E27FC236}">
                <a16:creationId xmlns:a16="http://schemas.microsoft.com/office/drawing/2014/main" id="{667E1325-242E-4FC1-931A-E2725CAA5C5F}"/>
              </a:ext>
            </a:extLst>
          </p:cNvPr>
          <p:cNvSpPr>
            <a:spLocks noGrp="1"/>
          </p:cNvSpPr>
          <p:nvPr/>
        </p:nvSpPr>
        <p:spPr>
          <a:xfrm>
            <a:off x="10601325" y="5229225"/>
            <a:ext cx="685800" cy="333375"/>
          </a:xfrm>
          <a:prstGeom prst="rect">
            <a:avLst/>
          </a:prstGeom>
          <a:solidFill>
            <a:srgbClr val="006D77"/>
          </a:solidFill>
          <a:ln w="0">
            <a:noFill/>
            <a:prstDash val="solid"/>
          </a:ln>
        </p:spPr>
      </p:sp>
      <p:sp>
        <p:nvSpPr>
          <p:cNvPr id="81" name="t81">
            <a:extLst>
              <a:ext uri="{FF2B5EF4-FFF2-40B4-BE49-F238E27FC236}">
                <a16:creationId xmlns:a16="http://schemas.microsoft.com/office/drawing/2014/main" id="{66955937-F0A4-4C00-AAEC-7B86B3C206BF}"/>
              </a:ext>
            </a:extLst>
          </p:cNvPr>
          <p:cNvSpPr>
            <a:spLocks noGrp="1"/>
          </p:cNvSpPr>
          <p:nvPr/>
        </p:nvSpPr>
        <p:spPr>
          <a:xfrm>
            <a:off x="666750" y="5781675"/>
            <a:ext cx="10858500" cy="381000"/>
          </a:xfrm>
          <a:prstGeom prst="rect">
            <a:avLst/>
          </a:prstGeom>
        </p:spPr>
        <p:txBody>
          <a:bodyPr lIns="0" tIns="0" rIns="0" bIns="0" anchor="ctr"/>
          <a:lstStyle/>
          <a:p>
            <a:pPr algn="l">
              <a:spcBef>
                <a:spcPts val="0"/>
              </a:spcBef>
              <a:spcAft>
                <a:spcPts val="0"/>
              </a:spcAft>
              <a:buNone/>
              <a:defRPr sz="1875">
                <a:solidFill>
                  <a:srgbClr val="182C30"/>
                </a:solidFill>
                <a:latin typeface="Arial"/>
                <a:ea typeface="Arial"/>
                <a:cs typeface="Arial"/>
              </a:defRPr>
            </a:pPr>
            <a:r>
              <a:t>IDs collected; eligibility has not been assessed.</a:t>
            </a:r>
          </a:p>
        </p:txBody>
      </p:sp>
      <p:sp>
        <p:nvSpPr>
          <p:cNvPr id="82" name="t82">
            <a:extLst>
              <a:ext uri="{FF2B5EF4-FFF2-40B4-BE49-F238E27FC236}">
                <a16:creationId xmlns:a16="http://schemas.microsoft.com/office/drawing/2014/main" id="{27347F00-73AF-4F46-9B39-EDAA6B765AC0}"/>
              </a:ext>
            </a:extLst>
          </p:cNvPr>
          <p:cNvSpPr>
            <a:spLocks noGrp="1"/>
          </p:cNvSpPr>
          <p:nvPr/>
        </p:nvSpPr>
        <p:spPr>
          <a:xfrm>
            <a:off x="666750" y="6210300"/>
            <a:ext cx="10477500" cy="285750"/>
          </a:xfrm>
          <a:prstGeom prst="rect">
            <a:avLst/>
          </a:prstGeom>
        </p:spPr>
        <p:txBody>
          <a:bodyPr lIns="0" tIns="0" rIns="0" bIns="0" anchor="ctr"/>
          <a:lstStyle/>
          <a:p>
            <a:pPr algn="l">
              <a:spcBef>
                <a:spcPts val="0"/>
              </a:spcBef>
              <a:spcAft>
                <a:spcPts val="0"/>
              </a:spcAft>
              <a:buNone/>
              <a:defRPr sz="1500">
                <a:solidFill>
                  <a:srgbClr val="5D7073"/>
                </a:solidFill>
                <a:latin typeface="Arial"/>
                <a:ea typeface="Arial"/>
                <a:cs typeface="Arial"/>
              </a:defRPr>
            </a:pPr>
            <a:r>
              <a:rPr sz="1500">
                <a:solidFill>
                  <a:srgbClr val="5D7073"/>
                </a:solidFill>
                <a:latin typeface="Arial"/>
                <a:ea typeface="Arial"/>
                <a:cs typeface="Arial"/>
              </a:rPr>
              <a:t>The final eligible sample may require collecting more candidates.</a:t>
            </a:r>
          </a:p>
        </p:txBody>
      </p:sp>
      <p:sp>
        <p:nvSpPr>
          <p:cNvPr id="85" name="Rectangle 84">
            <a:extLst>
              <a:ext uri="{FF2B5EF4-FFF2-40B4-BE49-F238E27FC236}">
                <a16:creationId xmlns:a16="http://schemas.microsoft.com/office/drawing/2014/main" id="{675F2FA2-6F7B-4909-803F-7F6F06147734}"/>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05</a:t>
            </a:r>
          </a:p>
        </p:txBody>
      </p:sp>
    </p:spTree>
    <p:extLst>
      <p:ext uri="{BB962C8B-B14F-4D97-AF65-F5344CB8AC3E}">
        <p14:creationId xmlns:p14="http://schemas.microsoft.com/office/powerpoint/2010/main" val="841538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9" name="text-1">
            <a:extLst>
              <a:ext uri="{FF2B5EF4-FFF2-40B4-BE49-F238E27FC236}">
                <a16:creationId xmlns:a16="http://schemas.microsoft.com/office/drawing/2014/main" id="{8592EBD2-BEDE-48E5-A91A-2A9926DE9B1C}"/>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Next: recover each project's early files</a:t>
            </a:r>
          </a:p>
        </p:txBody>
      </p:sp>
      <p:sp>
        <p:nvSpPr>
          <p:cNvPr id="2" name="shape-2">
            <a:extLst>
              <a:ext uri="{FF2B5EF4-FFF2-40B4-BE49-F238E27FC236}">
                <a16:creationId xmlns:a16="http://schemas.microsoft.com/office/drawing/2014/main" id="{B05A4858-B584-4571-B39D-F3E7F52621B0}"/>
              </a:ext>
            </a:extLst>
          </p:cNvPr>
          <p:cNvSpPr>
            <a:spLocks noGrp="1"/>
          </p:cNvSpPr>
          <p:nvPr/>
        </p:nvSpPr>
        <p:spPr>
          <a:xfrm>
            <a:off x="666750" y="2324100"/>
            <a:ext cx="3048000" cy="1009650"/>
          </a:xfrm>
          <a:prstGeom prst="rect">
            <a:avLst/>
          </a:prstGeom>
          <a:solidFill>
            <a:srgbClr val="D6E7E5"/>
          </a:solidFill>
          <a:ln w="0">
            <a:noFill/>
            <a:prstDash val="solid"/>
          </a:ln>
        </p:spPr>
      </p:sp>
      <p:sp>
        <p:nvSpPr>
          <p:cNvPr id="3" name="text-3">
            <a:extLst>
              <a:ext uri="{FF2B5EF4-FFF2-40B4-BE49-F238E27FC236}">
                <a16:creationId xmlns:a16="http://schemas.microsoft.com/office/drawing/2014/main" id="{5A3482FD-6225-48EB-8805-57FF575093FC}"/>
              </a:ext>
            </a:extLst>
          </p:cNvPr>
          <p:cNvSpPr>
            <a:spLocks noGrp="1"/>
          </p:cNvSpPr>
          <p:nvPr/>
        </p:nvSpPr>
        <p:spPr>
          <a:xfrm>
            <a:off x="857250" y="2495550"/>
            <a:ext cx="2667000" cy="381000"/>
          </a:xfrm>
          <a:prstGeom prst="rect">
            <a:avLst/>
          </a:prstGeom>
        </p:spPr>
        <p:txBody>
          <a:bodyPr lIns="0" tIns="0" rIns="0" bIns="0" anchor="ctr"/>
          <a:lstStyle/>
          <a:p>
            <a:pPr algn="l">
              <a:spcBef>
                <a:spcPts val="0"/>
              </a:spcBef>
              <a:spcAft>
                <a:spcPts val="0"/>
              </a:spcAft>
              <a:buNone/>
              <a:defRPr sz="1875" b="1">
                <a:solidFill>
                  <a:srgbClr val="182C30"/>
                </a:solidFill>
                <a:latin typeface="Arial"/>
                <a:ea typeface="Arial"/>
                <a:cs typeface="Arial"/>
              </a:defRPr>
            </a:pPr>
            <a:r>
              <a:t>Creation events</a:t>
            </a:r>
          </a:p>
        </p:txBody>
      </p:sp>
      <p:sp>
        <p:nvSpPr>
          <p:cNvPr id="4" name="text-4">
            <a:extLst>
              <a:ext uri="{FF2B5EF4-FFF2-40B4-BE49-F238E27FC236}">
                <a16:creationId xmlns:a16="http://schemas.microsoft.com/office/drawing/2014/main" id="{9062FCD9-D437-407E-B61E-1831274B072D}"/>
              </a:ext>
            </a:extLst>
          </p:cNvPr>
          <p:cNvSpPr>
            <a:spLocks noGrp="1"/>
          </p:cNvSpPr>
          <p:nvPr/>
        </p:nvSpPr>
        <p:spPr>
          <a:xfrm>
            <a:off x="857250" y="2914650"/>
            <a:ext cx="2667000" cy="228600"/>
          </a:xfrm>
          <a:prstGeom prst="rect">
            <a:avLst/>
          </a:prstGeom>
        </p:spPr>
        <p:txBody>
          <a:bodyPr lIns="0" tIns="0" rIns="0" bIns="0" anchor="ctr"/>
          <a:lstStyle/>
          <a:p>
            <a:pPr algn="l">
              <a:spcBef>
                <a:spcPts val="0"/>
              </a:spcBef>
              <a:spcAft>
                <a:spcPts val="0"/>
              </a:spcAft>
              <a:buNone/>
              <a:defRPr sz="1425" b="0">
                <a:solidFill>
                  <a:srgbClr val="5D7073"/>
                </a:solidFill>
                <a:latin typeface="Arial"/>
                <a:ea typeface="Arial"/>
                <a:cs typeface="Arial"/>
              </a:defRPr>
            </a:pPr>
            <a:r>
              <a:t>Distinct repository IDs</a:t>
            </a:r>
          </a:p>
        </p:txBody>
      </p:sp>
      <p:sp>
        <p:nvSpPr>
          <p:cNvPr id="5" name="shape-5">
            <a:extLst>
              <a:ext uri="{FF2B5EF4-FFF2-40B4-BE49-F238E27FC236}">
                <a16:creationId xmlns:a16="http://schemas.microsoft.com/office/drawing/2014/main" id="{0261E1B1-7ABE-4433-A0CE-2E290FF65387}"/>
              </a:ext>
            </a:extLst>
          </p:cNvPr>
          <p:cNvSpPr>
            <a:spLocks noGrp="1"/>
          </p:cNvSpPr>
          <p:nvPr/>
        </p:nvSpPr>
        <p:spPr>
          <a:xfrm>
            <a:off x="4572000" y="2324100"/>
            <a:ext cx="3048000" cy="1009650"/>
          </a:xfrm>
          <a:prstGeom prst="rect">
            <a:avLst/>
          </a:prstGeom>
          <a:solidFill>
            <a:srgbClr val="D6E7E5"/>
          </a:solidFill>
          <a:ln w="0">
            <a:noFill/>
            <a:prstDash val="solid"/>
          </a:ln>
        </p:spPr>
      </p:sp>
      <p:sp>
        <p:nvSpPr>
          <p:cNvPr id="6" name="text-6">
            <a:extLst>
              <a:ext uri="{FF2B5EF4-FFF2-40B4-BE49-F238E27FC236}">
                <a16:creationId xmlns:a16="http://schemas.microsoft.com/office/drawing/2014/main" id="{26E27EB5-3ADE-4234-9AEA-E1A43994AD64}"/>
              </a:ext>
            </a:extLst>
          </p:cNvPr>
          <p:cNvSpPr>
            <a:spLocks noGrp="1"/>
          </p:cNvSpPr>
          <p:nvPr/>
        </p:nvSpPr>
        <p:spPr>
          <a:xfrm>
            <a:off x="4762500" y="2495550"/>
            <a:ext cx="2667000" cy="381000"/>
          </a:xfrm>
          <a:prstGeom prst="rect">
            <a:avLst/>
          </a:prstGeom>
        </p:spPr>
        <p:txBody>
          <a:bodyPr lIns="0" tIns="0" rIns="0" bIns="0" anchor="ctr"/>
          <a:lstStyle/>
          <a:p>
            <a:pPr algn="l">
              <a:spcBef>
                <a:spcPts val="0"/>
              </a:spcBef>
              <a:spcAft>
                <a:spcPts val="0"/>
              </a:spcAft>
              <a:buNone/>
              <a:defRPr sz="1875" b="1">
                <a:solidFill>
                  <a:srgbClr val="182C30"/>
                </a:solidFill>
                <a:latin typeface="Arial"/>
                <a:ea typeface="Arial"/>
                <a:cs typeface="Arial"/>
              </a:defRPr>
            </a:pPr>
            <a:r>
              <a:t>Seeded ID order</a:t>
            </a:r>
          </a:p>
        </p:txBody>
      </p:sp>
      <p:sp>
        <p:nvSpPr>
          <p:cNvPr id="7" name="text-7">
            <a:extLst>
              <a:ext uri="{FF2B5EF4-FFF2-40B4-BE49-F238E27FC236}">
                <a16:creationId xmlns:a16="http://schemas.microsoft.com/office/drawing/2014/main" id="{B8705F00-43DF-4779-BCE5-8FFA425E5FAE}"/>
              </a:ext>
            </a:extLst>
          </p:cNvPr>
          <p:cNvSpPr>
            <a:spLocks noGrp="1"/>
          </p:cNvSpPr>
          <p:nvPr/>
        </p:nvSpPr>
        <p:spPr>
          <a:xfrm>
            <a:off x="4762500" y="2914650"/>
            <a:ext cx="2667000" cy="228600"/>
          </a:xfrm>
          <a:prstGeom prst="rect">
            <a:avLst/>
          </a:prstGeom>
        </p:spPr>
        <p:txBody>
          <a:bodyPr lIns="0" tIns="0" rIns="0" bIns="0" anchor="ctr"/>
          <a:lstStyle/>
          <a:p>
            <a:pPr algn="l">
              <a:spcBef>
                <a:spcPts val="0"/>
              </a:spcBef>
              <a:spcAft>
                <a:spcPts val="0"/>
              </a:spcAft>
              <a:buNone/>
              <a:defRPr sz="1425" b="0">
                <a:solidFill>
                  <a:srgbClr val="5D7073"/>
                </a:solidFill>
                <a:latin typeface="Arial"/>
                <a:ea typeface="Arial"/>
                <a:cs typeface="Arial"/>
              </a:defRPr>
            </a:pPr>
            <a:r>
              <a:t>Within each sampled month</a:t>
            </a:r>
          </a:p>
        </p:txBody>
      </p:sp>
      <p:sp>
        <p:nvSpPr>
          <p:cNvPr id="8" name="shape-8">
            <a:extLst>
              <a:ext uri="{FF2B5EF4-FFF2-40B4-BE49-F238E27FC236}">
                <a16:creationId xmlns:a16="http://schemas.microsoft.com/office/drawing/2014/main" id="{2A6C3B79-C274-4BCD-959C-116828859045}"/>
              </a:ext>
            </a:extLst>
          </p:cNvPr>
          <p:cNvSpPr>
            <a:spLocks noGrp="1"/>
          </p:cNvSpPr>
          <p:nvPr/>
        </p:nvSpPr>
        <p:spPr>
          <a:xfrm>
            <a:off x="8477250" y="2324100"/>
            <a:ext cx="3048000" cy="1009650"/>
          </a:xfrm>
          <a:prstGeom prst="rect">
            <a:avLst/>
          </a:prstGeom>
          <a:solidFill>
            <a:srgbClr val="D6E7E5"/>
          </a:solidFill>
          <a:ln w="0">
            <a:noFill/>
            <a:prstDash val="solid"/>
          </a:ln>
        </p:spPr>
      </p:sp>
      <p:sp>
        <p:nvSpPr>
          <p:cNvPr id="9" name="text-9">
            <a:extLst>
              <a:ext uri="{FF2B5EF4-FFF2-40B4-BE49-F238E27FC236}">
                <a16:creationId xmlns:a16="http://schemas.microsoft.com/office/drawing/2014/main" id="{FF478888-862A-4159-9A9A-91830727CDBD}"/>
              </a:ext>
            </a:extLst>
          </p:cNvPr>
          <p:cNvSpPr>
            <a:spLocks noGrp="1"/>
          </p:cNvSpPr>
          <p:nvPr/>
        </p:nvSpPr>
        <p:spPr>
          <a:xfrm>
            <a:off x="8667750" y="2495550"/>
            <a:ext cx="2667000" cy="381000"/>
          </a:xfrm>
          <a:prstGeom prst="rect">
            <a:avLst/>
          </a:prstGeom>
        </p:spPr>
        <p:txBody>
          <a:bodyPr lIns="0" tIns="0" rIns="0" bIns="0" anchor="ctr"/>
          <a:lstStyle/>
          <a:p>
            <a:pPr algn="l">
              <a:spcBef>
                <a:spcPts val="0"/>
              </a:spcBef>
              <a:spcAft>
                <a:spcPts val="0"/>
              </a:spcAft>
              <a:buNone/>
              <a:defRPr sz="1875" b="1">
                <a:solidFill>
                  <a:srgbClr val="182C30"/>
                </a:solidFill>
                <a:latin typeface="Arial"/>
                <a:ea typeface="Arial"/>
                <a:cs typeface="Arial"/>
              </a:defRPr>
            </a:pPr>
            <a:r>
              <a:t>Historical snapshot</a:t>
            </a:r>
          </a:p>
        </p:txBody>
      </p:sp>
      <p:sp>
        <p:nvSpPr>
          <p:cNvPr id="10" name="text-10">
            <a:extLst>
              <a:ext uri="{FF2B5EF4-FFF2-40B4-BE49-F238E27FC236}">
                <a16:creationId xmlns:a16="http://schemas.microsoft.com/office/drawing/2014/main" id="{71672920-9570-4FEC-B840-2387E5A219D0}"/>
              </a:ext>
            </a:extLst>
          </p:cNvPr>
          <p:cNvSpPr>
            <a:spLocks noGrp="1"/>
          </p:cNvSpPr>
          <p:nvPr/>
        </p:nvSpPr>
        <p:spPr>
          <a:xfrm>
            <a:off x="8667750" y="2914650"/>
            <a:ext cx="2667000" cy="228600"/>
          </a:xfrm>
          <a:prstGeom prst="rect">
            <a:avLst/>
          </a:prstGeom>
        </p:spPr>
        <p:txBody>
          <a:bodyPr lIns="0" tIns="0" rIns="0" bIns="0" anchor="ctr"/>
          <a:lstStyle/>
          <a:p>
            <a:pPr algn="l">
              <a:spcBef>
                <a:spcPts val="0"/>
              </a:spcBef>
              <a:spcAft>
                <a:spcPts val="0"/>
              </a:spcAft>
              <a:buNone/>
              <a:defRPr sz="1425" b="0">
                <a:solidFill>
                  <a:srgbClr val="5D7073"/>
                </a:solidFill>
                <a:latin typeface="Arial"/>
                <a:ea typeface="Arial"/>
                <a:cs typeface="Arial"/>
              </a:defRPr>
            </a:pPr>
            <a:r>
              <a:t>Latest recoverable by day 30</a:t>
            </a:r>
          </a:p>
        </p:txBody>
      </p:sp>
      <p:sp>
        <p:nvSpPr>
          <p:cNvPr id="11" name="text-11">
            <a:extLst>
              <a:ext uri="{FF2B5EF4-FFF2-40B4-BE49-F238E27FC236}">
                <a16:creationId xmlns:a16="http://schemas.microsoft.com/office/drawing/2014/main" id="{22758D43-3275-4077-9476-D5FD9E244C56}"/>
              </a:ext>
            </a:extLst>
          </p:cNvPr>
          <p:cNvSpPr>
            <a:spLocks noGrp="1"/>
          </p:cNvSpPr>
          <p:nvPr/>
        </p:nvSpPr>
        <p:spPr>
          <a:xfrm>
            <a:off x="666750" y="4105275"/>
            <a:ext cx="2667000" cy="419100"/>
          </a:xfrm>
          <a:prstGeom prst="rect">
            <a:avLst/>
          </a:prstGeom>
        </p:spPr>
        <p:txBody>
          <a:bodyPr lIns="0" tIns="0" rIns="0" bIns="0" anchor="ctr"/>
          <a:lstStyle/>
          <a:p>
            <a:pPr algn="l">
              <a:spcBef>
                <a:spcPts val="0"/>
              </a:spcBef>
              <a:spcAft>
                <a:spcPts val="0"/>
              </a:spcAft>
              <a:buNone/>
              <a:defRPr sz="2400" b="0">
                <a:solidFill>
                  <a:srgbClr val="006D77"/>
                </a:solidFill>
                <a:latin typeface="Georgia"/>
                <a:ea typeface="Georgia"/>
                <a:cs typeface="Georgia"/>
              </a:defRPr>
            </a:pPr>
            <a:r>
              <a:t>Keep records</a:t>
            </a:r>
          </a:p>
        </p:txBody>
      </p:sp>
      <p:sp>
        <p:nvSpPr>
          <p:cNvPr id="12" name="text-12">
            <a:extLst>
              <a:ext uri="{FF2B5EF4-FFF2-40B4-BE49-F238E27FC236}">
                <a16:creationId xmlns:a16="http://schemas.microsoft.com/office/drawing/2014/main" id="{A875AA13-41E8-442A-B744-7DEF61FB0AB4}"/>
              </a:ext>
            </a:extLst>
          </p:cNvPr>
          <p:cNvSpPr>
            <a:spLocks noGrp="1"/>
          </p:cNvSpPr>
          <p:nvPr/>
        </p:nvSpPr>
        <p:spPr>
          <a:xfrm>
            <a:off x="666750" y="4695825"/>
            <a:ext cx="6286500" cy="942975"/>
          </a:xfrm>
          <a:prstGeom prst="rect">
            <a:avLst/>
          </a:prstGeom>
        </p:spPr>
        <p:txBody>
          <a:bodyPr lIns="0" tIns="0" rIns="0" bIns="0" anchor="ctr"/>
          <a:lstStyle/>
          <a:p>
            <a:pPr algn="l">
              <a:spcBef>
                <a:spcPts val="0"/>
              </a:spcBef>
              <a:spcAft>
                <a:spcPts val="0"/>
              </a:spcAft>
              <a:buNone/>
              <a:defRPr sz="2025" b="0">
                <a:solidFill>
                  <a:srgbClr val="182C30"/>
                </a:solidFill>
                <a:latin typeface="Arial"/>
                <a:ea typeface="Arial"/>
                <a:cs typeface="Arial"/>
              </a:defRPr>
            </a:pPr>
            <a:r>
              <a:t>Repository ID · commit ID</a:t>
            </a:r>
          </a:p>
          <a:p>
            <a:pPr algn="l">
              <a:spcBef>
                <a:spcPts val="0"/>
              </a:spcBef>
              <a:spcAft>
                <a:spcPts val="0"/>
              </a:spcAft>
              <a:buNone/>
              <a:defRPr sz="2025" b="0">
                <a:solidFill>
                  <a:srgbClr val="182C30"/>
                </a:solidFill>
                <a:latin typeface="Arial"/>
                <a:ea typeface="Arial"/>
                <a:cs typeface="Arial"/>
              </a:defRPr>
            </a:pPr>
            <a:r>
              <a:t>Decision · evidence · cost</a:t>
            </a:r>
          </a:p>
        </p:txBody>
      </p:sp>
      <p:sp>
        <p:nvSpPr>
          <p:cNvPr id="13" name="shape-13">
            <a:extLst>
              <a:ext uri="{FF2B5EF4-FFF2-40B4-BE49-F238E27FC236}">
                <a16:creationId xmlns:a16="http://schemas.microsoft.com/office/drawing/2014/main" id="{9FC291B7-3795-46F4-8CDB-658098A8FEFA}"/>
              </a:ext>
            </a:extLst>
          </p:cNvPr>
          <p:cNvSpPr>
            <a:spLocks noGrp="1"/>
          </p:cNvSpPr>
          <p:nvPr/>
        </p:nvSpPr>
        <p:spPr>
          <a:xfrm>
            <a:off x="7477125" y="4048125"/>
            <a:ext cx="9525" cy="1714500"/>
          </a:xfrm>
          <a:prstGeom prst="rect">
            <a:avLst/>
          </a:prstGeom>
          <a:solidFill>
            <a:srgbClr val="C9D3D1"/>
          </a:solidFill>
          <a:ln w="0">
            <a:noFill/>
            <a:prstDash val="solid"/>
          </a:ln>
        </p:spPr>
      </p:sp>
      <p:sp>
        <p:nvSpPr>
          <p:cNvPr id="14" name="text-14">
            <a:extLst>
              <a:ext uri="{FF2B5EF4-FFF2-40B4-BE49-F238E27FC236}">
                <a16:creationId xmlns:a16="http://schemas.microsoft.com/office/drawing/2014/main" id="{BA41A935-0F68-4A0D-BC8E-8DC1F11EAC1C}"/>
              </a:ext>
            </a:extLst>
          </p:cNvPr>
          <p:cNvSpPr>
            <a:spLocks noGrp="1"/>
          </p:cNvSpPr>
          <p:nvPr/>
        </p:nvSpPr>
        <p:spPr>
          <a:xfrm>
            <a:off x="8039100" y="4105275"/>
            <a:ext cx="3486150" cy="419100"/>
          </a:xfrm>
          <a:prstGeom prst="rect">
            <a:avLst/>
          </a:prstGeom>
        </p:spPr>
        <p:txBody>
          <a:bodyPr lIns="0" tIns="0" rIns="0" bIns="0" anchor="ctr"/>
          <a:lstStyle/>
          <a:p>
            <a:pPr algn="l">
              <a:spcBef>
                <a:spcPts val="0"/>
              </a:spcBef>
              <a:spcAft>
                <a:spcPts val="0"/>
              </a:spcAft>
              <a:buNone/>
              <a:defRPr sz="2400" b="0">
                <a:solidFill>
                  <a:srgbClr val="B95C33"/>
                </a:solidFill>
                <a:latin typeface="Georgia"/>
                <a:ea typeface="Georgia"/>
                <a:cs typeface="Georgia"/>
              </a:defRPr>
            </a:pPr>
            <a:r>
              <a:t>If unavailable</a:t>
            </a:r>
          </a:p>
        </p:txBody>
      </p:sp>
      <p:sp>
        <p:nvSpPr>
          <p:cNvPr id="15" name="text-15">
            <a:extLst>
              <a:ext uri="{FF2B5EF4-FFF2-40B4-BE49-F238E27FC236}">
                <a16:creationId xmlns:a16="http://schemas.microsoft.com/office/drawing/2014/main" id="{83E90CFE-AD13-403C-AFDE-C4F6B5E4C822}"/>
              </a:ext>
            </a:extLst>
          </p:cNvPr>
          <p:cNvSpPr>
            <a:spLocks noGrp="1"/>
          </p:cNvSpPr>
          <p:nvPr/>
        </p:nvSpPr>
        <p:spPr>
          <a:xfrm>
            <a:off x="8039100" y="4695825"/>
            <a:ext cx="3486150" cy="942975"/>
          </a:xfrm>
          <a:prstGeom prst="rect">
            <a:avLst/>
          </a:prstGeom>
        </p:spPr>
        <p:txBody>
          <a:bodyPr lIns="0" tIns="0" rIns="0" bIns="0" anchor="ctr"/>
          <a:lstStyle/>
          <a:p>
            <a:pPr algn="l">
              <a:spcBef>
                <a:spcPts val="0"/>
              </a:spcBef>
              <a:spcAft>
                <a:spcPts val="0"/>
              </a:spcAft>
              <a:buNone/>
              <a:defRPr sz="2025" b="0">
                <a:solidFill>
                  <a:srgbClr val="182C30"/>
                </a:solidFill>
                <a:latin typeface="Arial"/>
                <a:ea typeface="Arial"/>
                <a:cs typeface="Arial"/>
              </a:defRPr>
            </a:pPr>
            <a:r>
              <a:t>Log the failure.</a:t>
            </a:r>
          </a:p>
          <a:p>
            <a:pPr algn="l">
              <a:spcBef>
                <a:spcPts val="0"/>
              </a:spcBef>
              <a:spcAft>
                <a:spcPts val="0"/>
              </a:spcAft>
              <a:buNone/>
              <a:defRPr sz="2025" b="0">
                <a:solidFill>
                  <a:srgbClr val="182C30"/>
                </a:solidFill>
                <a:latin typeface="Arial"/>
                <a:ea typeface="Arial"/>
                <a:cs typeface="Arial"/>
              </a:defRPr>
            </a:pPr>
            <a:r>
              <a:t>Take the next candidate.</a:t>
            </a:r>
          </a:p>
        </p:txBody>
      </p:sp>
      <p:sp>
        <p:nvSpPr>
          <p:cNvPr id="16" name="text-16">
            <a:extLst>
              <a:ext uri="{FF2B5EF4-FFF2-40B4-BE49-F238E27FC236}">
                <a16:creationId xmlns:a16="http://schemas.microsoft.com/office/drawing/2014/main" id="{CEAB7E84-CC55-4DE7-8783-A97DCDA62BA0}"/>
              </a:ext>
            </a:extLst>
          </p:cNvPr>
          <p:cNvSpPr>
            <a:spLocks noGrp="1"/>
          </p:cNvSpPr>
          <p:nvPr/>
        </p:nvSpPr>
        <p:spPr>
          <a:xfrm>
            <a:off x="666750" y="6334125"/>
            <a:ext cx="10287000" cy="238125"/>
          </a:xfrm>
          <a:prstGeom prst="rect">
            <a:avLst/>
          </a:prstGeom>
        </p:spPr>
        <p:txBody>
          <a:bodyPr lIns="0" tIns="0" rIns="0" bIns="0" anchor="ctr"/>
          <a:lstStyle/>
          <a:p>
            <a:pPr algn="l">
              <a:spcBef>
                <a:spcPts val="0"/>
              </a:spcBef>
              <a:spcAft>
                <a:spcPts val="0"/>
              </a:spcAft>
              <a:buNone/>
              <a:defRPr sz="975" b="0">
                <a:solidFill>
                  <a:srgbClr val="5D7073"/>
                </a:solidFill>
                <a:latin typeface="Arial"/>
                <a:ea typeface="Arial"/>
                <a:cs typeface="Arial"/>
              </a:defRPr>
            </a:pPr>
            <a:r>
              <a:t>GH Archive locates creation events; the GitHub API supplies repository contents. [4, 5]</a:t>
            </a:r>
          </a:p>
        </p:txBody>
      </p:sp>
      <p:cxnSp>
        <p:nvCxnSpPr>
          <p:cNvPr id="35" name="Straight Arrow Connector 16"/>
          <p:cNvCxnSpPr>
            <a:stCxn id="2" idx="3"/>
            <a:endCxn id="5" idx="1"/>
          </p:cNvCxnSpPr>
          <p:nvPr/>
        </p:nvCxnSpPr>
        <p:spPr>
          <a:xfrm>
            <a:off x="3714750" y="2828925"/>
            <a:ext cx="857250" cy="0"/>
          </a:xfrm>
          <a:prstGeom prst="straightConnector1">
            <a:avLst/>
          </a:prstGeom>
          <a:ln w="19050">
            <a:solidFill>
              <a:srgbClr val="006D77"/>
            </a:solidFill>
            <a:tailEnd type="arrow" w="med" len="med"/>
          </a:ln>
        </p:spPr>
      </p:cxnSp>
      <p:cxnSp>
        <p:nvCxnSpPr>
          <p:cNvPr id="36" name="Straight Arrow Connector 17"/>
          <p:cNvCxnSpPr>
            <a:stCxn id="5" idx="3"/>
            <a:endCxn id="8" idx="1"/>
          </p:cNvCxnSpPr>
          <p:nvPr/>
        </p:nvCxnSpPr>
        <p:spPr>
          <a:xfrm>
            <a:off x="7620000" y="2828925"/>
            <a:ext cx="857250" cy="0"/>
          </a:xfrm>
          <a:prstGeom prst="straightConnector1">
            <a:avLst/>
          </a:prstGeom>
          <a:ln w="19050">
            <a:solidFill>
              <a:srgbClr val="006D77"/>
            </a:solidFill>
            <a:tailEnd type="arrow" w="med" len="med"/>
          </a:ln>
        </p:spPr>
      </p:cxnSp>
      <p:sp>
        <p:nvSpPr>
          <p:cNvPr id="37" name="Rectangle 36">
            <a:extLst>
              <a:ext uri="{FF2B5EF4-FFF2-40B4-BE49-F238E27FC236}">
                <a16:creationId xmlns:a16="http://schemas.microsoft.com/office/drawing/2014/main" id="{E19EBA8D-8D7E-4B26-B88A-32C923ED85B4}"/>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06</a:t>
            </a:r>
          </a:p>
        </p:txBody>
      </p:sp>
    </p:spTree>
    <p:extLst>
      <p:ext uri="{BB962C8B-B14F-4D97-AF65-F5344CB8AC3E}">
        <p14:creationId xmlns:p14="http://schemas.microsoft.com/office/powerpoint/2010/main" val="970369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text-1">
            <a:extLst>
              <a:ext uri="{FF2B5EF4-FFF2-40B4-BE49-F238E27FC236}">
                <a16:creationId xmlns:a16="http://schemas.microsoft.com/office/drawing/2014/main" id="{C1C7E2E7-D309-4567-AE4B-4AC43EA881A3}"/>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Next: filter for documented software projects</a:t>
            </a:r>
          </a:p>
        </p:txBody>
      </p:sp>
      <p:sp>
        <p:nvSpPr>
          <p:cNvPr id="2" name="text-2">
            <a:extLst>
              <a:ext uri="{FF2B5EF4-FFF2-40B4-BE49-F238E27FC236}">
                <a16:creationId xmlns:a16="http://schemas.microsoft.com/office/drawing/2014/main" id="{F6A133E9-E025-4FCC-B505-1ED1A5285B1A}"/>
              </a:ext>
            </a:extLst>
          </p:cNvPr>
          <p:cNvSpPr>
            <a:spLocks noGrp="1"/>
          </p:cNvSpPr>
          <p:nvPr/>
        </p:nvSpPr>
        <p:spPr>
          <a:xfrm>
            <a:off x="666750" y="2085975"/>
            <a:ext cx="4762500" cy="523875"/>
          </a:xfrm>
          <a:prstGeom prst="rect">
            <a:avLst/>
          </a:prstGeom>
        </p:spPr>
        <p:txBody>
          <a:bodyPr lIns="0" tIns="0" rIns="0" bIns="0" anchor="ctr"/>
          <a:lstStyle/>
          <a:p>
            <a:pPr algn="l">
              <a:spcBef>
                <a:spcPts val="0"/>
              </a:spcBef>
              <a:spcAft>
                <a:spcPts val="0"/>
              </a:spcAft>
              <a:buNone/>
              <a:defRPr sz="2700" b="0">
                <a:solidFill>
                  <a:srgbClr val="006D77"/>
                </a:solidFill>
                <a:latin typeface="Georgia"/>
                <a:ea typeface="Georgia"/>
                <a:cs typeface="Georgia"/>
              </a:defRPr>
            </a:pPr>
            <a:r>
              <a:t>Rule pass</a:t>
            </a:r>
          </a:p>
        </p:txBody>
      </p:sp>
      <p:sp>
        <p:nvSpPr>
          <p:cNvPr id="3" name="text-3">
            <a:extLst>
              <a:ext uri="{FF2B5EF4-FFF2-40B4-BE49-F238E27FC236}">
                <a16:creationId xmlns:a16="http://schemas.microsoft.com/office/drawing/2014/main" id="{9FD77702-510C-4215-BA7C-0E9F03D78FFF}"/>
              </a:ext>
            </a:extLst>
          </p:cNvPr>
          <p:cNvSpPr>
            <a:spLocks noGrp="1"/>
          </p:cNvSpPr>
          <p:nvPr/>
        </p:nvSpPr>
        <p:spPr>
          <a:xfrm>
            <a:off x="666750" y="2867025"/>
            <a:ext cx="5238750" cy="15240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Remove forks, mirrors and profiles</a:t>
            </a:r>
          </a:p>
          <a:p>
            <a:pPr algn="l">
              <a:spcBef>
                <a:spcPts val="0"/>
              </a:spcBef>
              <a:spcAft>
                <a:spcPts val="0"/>
              </a:spcAft>
              <a:buNone/>
              <a:defRPr sz="1875" b="0">
                <a:solidFill>
                  <a:srgbClr val="182C30"/>
                </a:solidFill>
                <a:latin typeface="Arial"/>
                <a:ea typeface="Arial"/>
                <a:cs typeface="Arial"/>
              </a:defRPr>
            </a:pPr>
            <a:r>
              <a:t>Require source code + English README</a:t>
            </a:r>
          </a:p>
          <a:p>
            <a:pPr algn="l">
              <a:spcBef>
                <a:spcPts val="0"/>
              </a:spcBef>
              <a:spcAft>
                <a:spcPts val="0"/>
              </a:spcAft>
              <a:buNone/>
              <a:defRPr sz="1875" b="0">
                <a:solidFill>
                  <a:srgbClr val="182C30"/>
                </a:solidFill>
                <a:latin typeface="Arial"/>
                <a:ea typeface="Arial"/>
                <a:cs typeface="Arial"/>
              </a:defRPr>
            </a:pPr>
            <a:r>
              <a:t>Reject short or duplicate READMEs</a:t>
            </a:r>
          </a:p>
        </p:txBody>
      </p:sp>
      <p:sp>
        <p:nvSpPr>
          <p:cNvPr id="4" name="shape-4">
            <a:extLst>
              <a:ext uri="{FF2B5EF4-FFF2-40B4-BE49-F238E27FC236}">
                <a16:creationId xmlns:a16="http://schemas.microsoft.com/office/drawing/2014/main" id="{957076C8-7234-48C7-BF28-942EE7FEAAF9}"/>
              </a:ext>
            </a:extLst>
          </p:cNvPr>
          <p:cNvSpPr>
            <a:spLocks noGrp="1"/>
          </p:cNvSpPr>
          <p:nvPr/>
        </p:nvSpPr>
        <p:spPr>
          <a:xfrm>
            <a:off x="6134100" y="2105025"/>
            <a:ext cx="9525" cy="2952750"/>
          </a:xfrm>
          <a:prstGeom prst="rect">
            <a:avLst/>
          </a:prstGeom>
          <a:solidFill>
            <a:srgbClr val="C9D3D1"/>
          </a:solidFill>
          <a:ln w="0">
            <a:noFill/>
            <a:prstDash val="solid"/>
          </a:ln>
        </p:spPr>
      </p:sp>
      <p:sp>
        <p:nvSpPr>
          <p:cNvPr id="5" name="text-5">
            <a:extLst>
              <a:ext uri="{FF2B5EF4-FFF2-40B4-BE49-F238E27FC236}">
                <a16:creationId xmlns:a16="http://schemas.microsoft.com/office/drawing/2014/main" id="{07B55545-E815-40D1-9819-D02AF7A4E125}"/>
              </a:ext>
            </a:extLst>
          </p:cNvPr>
          <p:cNvSpPr>
            <a:spLocks noGrp="1"/>
          </p:cNvSpPr>
          <p:nvPr/>
        </p:nvSpPr>
        <p:spPr>
          <a:xfrm>
            <a:off x="6762750" y="2085975"/>
            <a:ext cx="4762500" cy="523875"/>
          </a:xfrm>
          <a:prstGeom prst="rect">
            <a:avLst/>
          </a:prstGeom>
        </p:spPr>
        <p:txBody>
          <a:bodyPr lIns="0" tIns="0" rIns="0" bIns="0" anchor="ctr"/>
          <a:lstStyle/>
          <a:p>
            <a:pPr algn="l">
              <a:spcBef>
                <a:spcPts val="0"/>
              </a:spcBef>
              <a:spcAft>
                <a:spcPts val="0"/>
              </a:spcAft>
              <a:buNone/>
              <a:defRPr sz="2700" b="0">
                <a:solidFill>
                  <a:srgbClr val="006D77"/>
                </a:solidFill>
                <a:latin typeface="Georgia"/>
                <a:ea typeface="Georgia"/>
                <a:cs typeface="Georgia"/>
              </a:defRPr>
            </a:pPr>
            <a:r>
              <a:t>GLM 5.3 pass</a:t>
            </a:r>
          </a:p>
        </p:txBody>
      </p:sp>
      <p:sp>
        <p:nvSpPr>
          <p:cNvPr id="6" name="text-6">
            <a:extLst>
              <a:ext uri="{FF2B5EF4-FFF2-40B4-BE49-F238E27FC236}">
                <a16:creationId xmlns:a16="http://schemas.microsoft.com/office/drawing/2014/main" id="{42FF4A6D-DF4E-4CB1-B8CE-BFF071D7F06E}"/>
              </a:ext>
            </a:extLst>
          </p:cNvPr>
          <p:cNvSpPr>
            <a:spLocks noGrp="1"/>
          </p:cNvSpPr>
          <p:nvPr/>
        </p:nvSpPr>
        <p:spPr>
          <a:xfrm>
            <a:off x="6762750" y="2867025"/>
            <a:ext cx="4762500" cy="15240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Keep “project” only</a:t>
            </a:r>
          </a:p>
          <a:p>
            <a:pPr algn="l">
              <a:spcBef>
                <a:spcPts val="0"/>
              </a:spcBef>
              <a:spcAft>
                <a:spcPts val="0"/>
              </a:spcAft>
              <a:buNone/>
              <a:defRPr sz="1875" b="0">
                <a:solidFill>
                  <a:srgbClr val="182C30"/>
                </a:solidFill>
                <a:latin typeface="Arial"/>
                <a:ea typeface="Arial"/>
                <a:cs typeface="Arial"/>
              </a:defRPr>
            </a:pPr>
            <a:r>
              <a:t>Exclude tutorials, coursework, templates,</a:t>
            </a:r>
          </a:p>
          <a:p>
            <a:pPr algn="l">
              <a:spcBef>
                <a:spcPts val="0"/>
              </a:spcBef>
              <a:spcAft>
                <a:spcPts val="0"/>
              </a:spcAft>
              <a:buNone/>
              <a:defRPr sz="1875" b="0">
                <a:solidFill>
                  <a:srgbClr val="182C30"/>
                </a:solidFill>
                <a:latin typeface="Arial"/>
                <a:ea typeface="Arial"/>
                <a:cs typeface="Arial"/>
              </a:defRPr>
            </a:pPr>
            <a:r>
              <a:t>non-software and unclear cases</a:t>
            </a:r>
          </a:p>
        </p:txBody>
      </p:sp>
      <p:sp>
        <p:nvSpPr>
          <p:cNvPr id="7" name="shape-7">
            <a:extLst>
              <a:ext uri="{FF2B5EF4-FFF2-40B4-BE49-F238E27FC236}">
                <a16:creationId xmlns:a16="http://schemas.microsoft.com/office/drawing/2014/main" id="{DF9505A3-3DF4-45DC-949D-903CB03C80EE}"/>
              </a:ext>
            </a:extLst>
          </p:cNvPr>
          <p:cNvSpPr>
            <a:spLocks noGrp="1"/>
          </p:cNvSpPr>
          <p:nvPr/>
        </p:nvSpPr>
        <p:spPr>
          <a:xfrm>
            <a:off x="666750" y="5257800"/>
            <a:ext cx="10858500" cy="9525"/>
          </a:xfrm>
          <a:prstGeom prst="rect">
            <a:avLst/>
          </a:prstGeom>
          <a:solidFill>
            <a:srgbClr val="C9D3D1"/>
          </a:solidFill>
          <a:ln w="0">
            <a:noFill/>
            <a:prstDash val="solid"/>
          </a:ln>
        </p:spPr>
      </p:sp>
      <p:sp>
        <p:nvSpPr>
          <p:cNvPr id="8" name="text-8">
            <a:extLst>
              <a:ext uri="{FF2B5EF4-FFF2-40B4-BE49-F238E27FC236}">
                <a16:creationId xmlns:a16="http://schemas.microsoft.com/office/drawing/2014/main" id="{696040FD-C181-4DBF-8BF6-834A565A3404}"/>
              </a:ext>
            </a:extLst>
          </p:cNvPr>
          <p:cNvSpPr>
            <a:spLocks noGrp="1"/>
          </p:cNvSpPr>
          <p:nvPr/>
        </p:nvSpPr>
        <p:spPr>
          <a:xfrm>
            <a:off x="666750" y="5505450"/>
            <a:ext cx="10858500" cy="619125"/>
          </a:xfrm>
          <a:prstGeom prst="rect">
            <a:avLst/>
          </a:prstGeom>
        </p:spPr>
        <p:txBody>
          <a:bodyPr lIns="0" tIns="0" rIns="0" bIns="0" anchor="ctr"/>
          <a:lstStyle/>
          <a:p>
            <a:pPr algn="l">
              <a:spcBef>
                <a:spcPts val="0"/>
              </a:spcBef>
              <a:spcAft>
                <a:spcPts val="0"/>
              </a:spcAft>
              <a:buNone/>
              <a:defRPr sz="1950" b="0">
                <a:solidFill>
                  <a:srgbClr val="182C30"/>
                </a:solidFill>
                <a:latin typeface="Arial"/>
                <a:ea typeface="Arial"/>
                <a:cs typeface="Arial"/>
              </a:defRPr>
            </a:pPr>
            <a:r>
              <a:t>Require a supporting quote. Record each decision and reason.</a:t>
            </a:r>
          </a:p>
        </p:txBody>
      </p:sp>
      <p:sp>
        <p:nvSpPr>
          <p:cNvPr id="9" name="text-9">
            <a:extLst>
              <a:ext uri="{FF2B5EF4-FFF2-40B4-BE49-F238E27FC236}">
                <a16:creationId xmlns:a16="http://schemas.microsoft.com/office/drawing/2014/main" id="{32A94B9B-D7D3-4E2B-8A77-441B8989DF3C}"/>
              </a:ext>
            </a:extLst>
          </p:cNvPr>
          <p:cNvSpPr>
            <a:spLocks noGrp="1"/>
          </p:cNvSpPr>
          <p:nvPr/>
        </p:nvSpPr>
        <p:spPr>
          <a:xfrm>
            <a:off x="666750" y="6334125"/>
            <a:ext cx="10287000" cy="238125"/>
          </a:xfrm>
          <a:prstGeom prst="rect">
            <a:avLst/>
          </a:prstGeom>
        </p:spPr>
        <p:txBody>
          <a:bodyPr lIns="0" tIns="0" rIns="0" bIns="0" anchor="ctr"/>
          <a:lstStyle/>
          <a:p>
            <a:pPr algn="l">
              <a:spcBef>
                <a:spcPts val="0"/>
              </a:spcBef>
              <a:spcAft>
                <a:spcPts val="0"/>
              </a:spcAft>
              <a:buNone/>
              <a:defRPr sz="975" b="0">
                <a:solidFill>
                  <a:srgbClr val="5D7073"/>
                </a:solidFill>
                <a:latin typeface="Arial"/>
                <a:ea typeface="Arial"/>
                <a:cs typeface="Arial"/>
              </a:defRPr>
            </a:pPr>
            <a:r>
              <a:t>README minimum: 30 words. Fixed prompt; identity and date redaction.</a:t>
            </a:r>
          </a:p>
        </p:txBody>
      </p:sp>
      <p:sp>
        <p:nvSpPr>
          <p:cNvPr id="12" name="Rectangle 11">
            <a:extLst>
              <a:ext uri="{FF2B5EF4-FFF2-40B4-BE49-F238E27FC236}">
                <a16:creationId xmlns:a16="http://schemas.microsoft.com/office/drawing/2014/main" id="{53A6DE56-772A-42DF-93C6-69D728948BD7}"/>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07</a:t>
            </a:r>
          </a:p>
        </p:txBody>
      </p:sp>
    </p:spTree>
    <p:extLst>
      <p:ext uri="{BB962C8B-B14F-4D97-AF65-F5344CB8AC3E}">
        <p14:creationId xmlns:p14="http://schemas.microsoft.com/office/powerpoint/2010/main" val="1468683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7" name="text-1">
            <a:extLst>
              <a:ext uri="{FF2B5EF4-FFF2-40B4-BE49-F238E27FC236}">
                <a16:creationId xmlns:a16="http://schemas.microsoft.com/office/drawing/2014/main" id="{A394D74E-1B0B-4FEC-98EB-22333D3D621C}"/>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Describe each project before comparing ideas</a:t>
            </a:r>
          </a:p>
        </p:txBody>
      </p:sp>
      <p:sp>
        <p:nvSpPr>
          <p:cNvPr id="2" name="shape-2">
            <a:extLst>
              <a:ext uri="{FF2B5EF4-FFF2-40B4-BE49-F238E27FC236}">
                <a16:creationId xmlns:a16="http://schemas.microsoft.com/office/drawing/2014/main" id="{BC96BC76-10D8-4667-BCA1-6D0AFDD8FBFA}"/>
              </a:ext>
            </a:extLst>
          </p:cNvPr>
          <p:cNvSpPr>
            <a:spLocks noGrp="1"/>
          </p:cNvSpPr>
          <p:nvPr/>
        </p:nvSpPr>
        <p:spPr>
          <a:xfrm>
            <a:off x="666750" y="2514600"/>
            <a:ext cx="2667000" cy="1381125"/>
          </a:xfrm>
          <a:prstGeom prst="rect">
            <a:avLst/>
          </a:prstGeom>
          <a:solidFill>
            <a:srgbClr val="D6E7E5"/>
          </a:solidFill>
          <a:ln w="0">
            <a:noFill/>
            <a:prstDash val="solid"/>
          </a:ln>
        </p:spPr>
      </p:sp>
      <p:sp>
        <p:nvSpPr>
          <p:cNvPr id="3" name="text-3">
            <a:extLst>
              <a:ext uri="{FF2B5EF4-FFF2-40B4-BE49-F238E27FC236}">
                <a16:creationId xmlns:a16="http://schemas.microsoft.com/office/drawing/2014/main" id="{99E6AEC3-FF1F-492C-BB13-9E1C2C07E86E}"/>
              </a:ext>
            </a:extLst>
          </p:cNvPr>
          <p:cNvSpPr>
            <a:spLocks noGrp="1"/>
          </p:cNvSpPr>
          <p:nvPr/>
        </p:nvSpPr>
        <p:spPr>
          <a:xfrm>
            <a:off x="857250" y="2686050"/>
            <a:ext cx="2286000" cy="381000"/>
          </a:xfrm>
          <a:prstGeom prst="rect">
            <a:avLst/>
          </a:prstGeom>
        </p:spPr>
        <p:txBody>
          <a:bodyPr lIns="0" tIns="0" rIns="0" bIns="0" anchor="ctr"/>
          <a:lstStyle/>
          <a:p>
            <a:pPr algn="l">
              <a:spcBef>
                <a:spcPts val="0"/>
              </a:spcBef>
              <a:spcAft>
                <a:spcPts val="0"/>
              </a:spcAft>
              <a:buNone/>
              <a:defRPr sz="1875" b="1">
                <a:solidFill>
                  <a:srgbClr val="182C30"/>
                </a:solidFill>
                <a:latin typeface="Arial"/>
                <a:ea typeface="Arial"/>
                <a:cs typeface="Arial"/>
              </a:defRPr>
            </a:pPr>
            <a:r>
              <a:t>Early files</a:t>
            </a:r>
          </a:p>
        </p:txBody>
      </p:sp>
      <p:sp>
        <p:nvSpPr>
          <p:cNvPr id="4" name="text-4">
            <a:extLst>
              <a:ext uri="{FF2B5EF4-FFF2-40B4-BE49-F238E27FC236}">
                <a16:creationId xmlns:a16="http://schemas.microsoft.com/office/drawing/2014/main" id="{0964328B-6BA1-425F-9A37-6B83E913E788}"/>
              </a:ext>
            </a:extLst>
          </p:cNvPr>
          <p:cNvSpPr>
            <a:spLocks noGrp="1"/>
          </p:cNvSpPr>
          <p:nvPr/>
        </p:nvSpPr>
        <p:spPr>
          <a:xfrm>
            <a:off x="857250" y="3105150"/>
            <a:ext cx="2286000" cy="600075"/>
          </a:xfrm>
          <a:prstGeom prst="rect">
            <a:avLst/>
          </a:prstGeom>
        </p:spPr>
        <p:txBody>
          <a:bodyPr lIns="0" tIns="0" rIns="0" bIns="0" anchor="ctr"/>
          <a:lstStyle/>
          <a:p>
            <a:pPr algn="l">
              <a:spcBef>
                <a:spcPts val="0"/>
              </a:spcBef>
              <a:spcAft>
                <a:spcPts val="0"/>
              </a:spcAft>
              <a:buNone/>
              <a:defRPr sz="1425" b="0">
                <a:solidFill>
                  <a:srgbClr val="5D7073"/>
                </a:solidFill>
                <a:latin typeface="Arial"/>
                <a:ea typeface="Arial"/>
                <a:cs typeface="Arial"/>
              </a:defRPr>
            </a:pPr>
            <a:r>
              <a:t>README + source evidence</a:t>
            </a:r>
          </a:p>
        </p:txBody>
      </p:sp>
      <p:sp>
        <p:nvSpPr>
          <p:cNvPr id="5" name="shape-5">
            <a:extLst>
              <a:ext uri="{FF2B5EF4-FFF2-40B4-BE49-F238E27FC236}">
                <a16:creationId xmlns:a16="http://schemas.microsoft.com/office/drawing/2014/main" id="{B4EA9D9C-EB88-4F8C-8643-D552FD6A377B}"/>
              </a:ext>
            </a:extLst>
          </p:cNvPr>
          <p:cNvSpPr>
            <a:spLocks noGrp="1"/>
          </p:cNvSpPr>
          <p:nvPr/>
        </p:nvSpPr>
        <p:spPr>
          <a:xfrm>
            <a:off x="4457700" y="2514600"/>
            <a:ext cx="3190875" cy="1381125"/>
          </a:xfrm>
          <a:prstGeom prst="rect">
            <a:avLst/>
          </a:prstGeom>
          <a:solidFill>
            <a:srgbClr val="D6E7E5"/>
          </a:solidFill>
          <a:ln w="0">
            <a:noFill/>
            <a:prstDash val="solid"/>
          </a:ln>
        </p:spPr>
      </p:sp>
      <p:sp>
        <p:nvSpPr>
          <p:cNvPr id="6" name="text-6">
            <a:extLst>
              <a:ext uri="{FF2B5EF4-FFF2-40B4-BE49-F238E27FC236}">
                <a16:creationId xmlns:a16="http://schemas.microsoft.com/office/drawing/2014/main" id="{869B84D9-97C7-46FB-B49D-6008437CDE68}"/>
              </a:ext>
            </a:extLst>
          </p:cNvPr>
          <p:cNvSpPr>
            <a:spLocks noGrp="1"/>
          </p:cNvSpPr>
          <p:nvPr/>
        </p:nvSpPr>
        <p:spPr>
          <a:xfrm>
            <a:off x="4648200" y="2686050"/>
            <a:ext cx="2809875" cy="381000"/>
          </a:xfrm>
          <a:prstGeom prst="rect">
            <a:avLst/>
          </a:prstGeom>
        </p:spPr>
        <p:txBody>
          <a:bodyPr lIns="0" tIns="0" rIns="0" bIns="0" anchor="ctr"/>
          <a:lstStyle/>
          <a:p>
            <a:pPr algn="l">
              <a:spcBef>
                <a:spcPts val="0"/>
              </a:spcBef>
              <a:spcAft>
                <a:spcPts val="0"/>
              </a:spcAft>
              <a:buNone/>
              <a:defRPr sz="1875" b="1">
                <a:solidFill>
                  <a:srgbClr val="182C30"/>
                </a:solidFill>
                <a:latin typeface="Arial"/>
                <a:ea typeface="Arial"/>
                <a:cs typeface="Arial"/>
              </a:defRPr>
            </a:pPr>
            <a:r>
              <a:t>Idea statement</a:t>
            </a:r>
          </a:p>
        </p:txBody>
      </p:sp>
      <p:sp>
        <p:nvSpPr>
          <p:cNvPr id="7" name="text-7">
            <a:extLst>
              <a:ext uri="{FF2B5EF4-FFF2-40B4-BE49-F238E27FC236}">
                <a16:creationId xmlns:a16="http://schemas.microsoft.com/office/drawing/2014/main" id="{90A48D25-5FAD-4F02-B4E2-476B58CF6DB8}"/>
              </a:ext>
            </a:extLst>
          </p:cNvPr>
          <p:cNvSpPr>
            <a:spLocks noGrp="1"/>
          </p:cNvSpPr>
          <p:nvPr/>
        </p:nvSpPr>
        <p:spPr>
          <a:xfrm>
            <a:off x="4648200" y="3105150"/>
            <a:ext cx="2809875" cy="600075"/>
          </a:xfrm>
          <a:prstGeom prst="rect">
            <a:avLst/>
          </a:prstGeom>
        </p:spPr>
        <p:txBody>
          <a:bodyPr lIns="0" tIns="0" rIns="0" bIns="0" anchor="ctr"/>
          <a:lstStyle/>
          <a:p>
            <a:pPr algn="l">
              <a:spcBef>
                <a:spcPts val="0"/>
              </a:spcBef>
              <a:spcAft>
                <a:spcPts val="0"/>
              </a:spcAft>
              <a:buNone/>
              <a:defRPr sz="1425" b="0">
                <a:solidFill>
                  <a:srgbClr val="5D7073"/>
                </a:solidFill>
                <a:latin typeface="Arial"/>
                <a:ea typeface="Arial"/>
                <a:cs typeface="Arial"/>
              </a:defRPr>
            </a:pPr>
            <a:r>
              <a:t>Purpose · users · function</a:t>
            </a:r>
          </a:p>
        </p:txBody>
      </p:sp>
      <p:sp>
        <p:nvSpPr>
          <p:cNvPr id="8" name="shape-8">
            <a:extLst>
              <a:ext uri="{FF2B5EF4-FFF2-40B4-BE49-F238E27FC236}">
                <a16:creationId xmlns:a16="http://schemas.microsoft.com/office/drawing/2014/main" id="{92FE023E-1A1C-4E72-BA05-541B5352FB2C}"/>
              </a:ext>
            </a:extLst>
          </p:cNvPr>
          <p:cNvSpPr>
            <a:spLocks noGrp="1"/>
          </p:cNvSpPr>
          <p:nvPr/>
        </p:nvSpPr>
        <p:spPr>
          <a:xfrm>
            <a:off x="8763000" y="2514600"/>
            <a:ext cx="2762250" cy="1381125"/>
          </a:xfrm>
          <a:prstGeom prst="rect">
            <a:avLst/>
          </a:prstGeom>
          <a:solidFill>
            <a:srgbClr val="D6E7E5"/>
          </a:solidFill>
          <a:ln w="0">
            <a:noFill/>
            <a:prstDash val="solid"/>
          </a:ln>
        </p:spPr>
      </p:sp>
      <p:sp>
        <p:nvSpPr>
          <p:cNvPr id="9" name="text-9">
            <a:extLst>
              <a:ext uri="{FF2B5EF4-FFF2-40B4-BE49-F238E27FC236}">
                <a16:creationId xmlns:a16="http://schemas.microsoft.com/office/drawing/2014/main" id="{ADD6D4E6-BBDF-4048-9A6D-B4E1C6E78C3D}"/>
              </a:ext>
            </a:extLst>
          </p:cNvPr>
          <p:cNvSpPr>
            <a:spLocks noGrp="1"/>
          </p:cNvSpPr>
          <p:nvPr/>
        </p:nvSpPr>
        <p:spPr>
          <a:xfrm>
            <a:off x="8953500" y="2686050"/>
            <a:ext cx="2381250" cy="381000"/>
          </a:xfrm>
          <a:prstGeom prst="rect">
            <a:avLst/>
          </a:prstGeom>
        </p:spPr>
        <p:txBody>
          <a:bodyPr lIns="0" tIns="0" rIns="0" bIns="0" anchor="ctr"/>
          <a:lstStyle/>
          <a:p>
            <a:pPr algn="l">
              <a:spcBef>
                <a:spcPts val="0"/>
              </a:spcBef>
              <a:spcAft>
                <a:spcPts val="0"/>
              </a:spcAft>
              <a:buNone/>
              <a:defRPr sz="1875" b="1">
                <a:solidFill>
                  <a:srgbClr val="182C30"/>
                </a:solidFill>
                <a:latin typeface="Arial"/>
                <a:ea typeface="Arial"/>
                <a:cs typeface="Arial"/>
              </a:defRPr>
            </a:pPr>
            <a:r>
              <a:t>Embedding</a:t>
            </a:r>
          </a:p>
        </p:txBody>
      </p:sp>
      <p:sp>
        <p:nvSpPr>
          <p:cNvPr id="10" name="text-10">
            <a:extLst>
              <a:ext uri="{FF2B5EF4-FFF2-40B4-BE49-F238E27FC236}">
                <a16:creationId xmlns:a16="http://schemas.microsoft.com/office/drawing/2014/main" id="{A087BA29-0BDF-49FB-A40D-C5E7C7323977}"/>
              </a:ext>
            </a:extLst>
          </p:cNvPr>
          <p:cNvSpPr>
            <a:spLocks noGrp="1"/>
          </p:cNvSpPr>
          <p:nvPr/>
        </p:nvSpPr>
        <p:spPr>
          <a:xfrm>
            <a:off x="8953500" y="3105150"/>
            <a:ext cx="2381250" cy="600075"/>
          </a:xfrm>
          <a:prstGeom prst="rect">
            <a:avLst/>
          </a:prstGeom>
        </p:spPr>
        <p:txBody>
          <a:bodyPr lIns="0" tIns="0" rIns="0" bIns="0" anchor="ctr"/>
          <a:lstStyle/>
          <a:p>
            <a:pPr algn="l">
              <a:spcBef>
                <a:spcPts val="0"/>
              </a:spcBef>
              <a:spcAft>
                <a:spcPts val="0"/>
              </a:spcAft>
              <a:buNone/>
              <a:defRPr sz="1425" b="0">
                <a:solidFill>
                  <a:srgbClr val="5D7073"/>
                </a:solidFill>
                <a:latin typeface="Arial"/>
                <a:ea typeface="Arial"/>
                <a:cs typeface="Arial"/>
              </a:defRPr>
            </a:pPr>
            <a:r>
              <a:t>Similar meanings sit close</a:t>
            </a:r>
          </a:p>
        </p:txBody>
      </p:sp>
      <p:sp>
        <p:nvSpPr>
          <p:cNvPr id="11" name="text-11">
            <a:extLst>
              <a:ext uri="{FF2B5EF4-FFF2-40B4-BE49-F238E27FC236}">
                <a16:creationId xmlns:a16="http://schemas.microsoft.com/office/drawing/2014/main" id="{E226C6B3-9A93-407D-B134-37563F73B633}"/>
              </a:ext>
            </a:extLst>
          </p:cNvPr>
          <p:cNvSpPr>
            <a:spLocks noGrp="1"/>
          </p:cNvSpPr>
          <p:nvPr/>
        </p:nvSpPr>
        <p:spPr>
          <a:xfrm>
            <a:off x="4457700" y="4200525"/>
            <a:ext cx="3190875" cy="485775"/>
          </a:xfrm>
          <a:prstGeom prst="rect">
            <a:avLst/>
          </a:prstGeom>
        </p:spPr>
        <p:txBody>
          <a:bodyPr lIns="0" tIns="0" rIns="0" bIns="0" anchor="ctr"/>
          <a:lstStyle/>
          <a:p>
            <a:pPr algn="l">
              <a:spcBef>
                <a:spcPts val="0"/>
              </a:spcBef>
              <a:spcAft>
                <a:spcPts val="0"/>
              </a:spcAft>
              <a:buNone/>
              <a:defRPr sz="2850" b="0">
                <a:solidFill>
                  <a:srgbClr val="006D77"/>
                </a:solidFill>
                <a:latin typeface="Georgia"/>
                <a:ea typeface="Georgia"/>
                <a:cs typeface="Georgia"/>
              </a:defRPr>
            </a:pPr>
            <a:r>
              <a:t>Up to 80 words</a:t>
            </a:r>
          </a:p>
        </p:txBody>
      </p:sp>
      <p:sp>
        <p:nvSpPr>
          <p:cNvPr id="12" name="text-12">
            <a:extLst>
              <a:ext uri="{FF2B5EF4-FFF2-40B4-BE49-F238E27FC236}">
                <a16:creationId xmlns:a16="http://schemas.microsoft.com/office/drawing/2014/main" id="{B5F36DA4-192F-4D17-B762-B8B3763C909B}"/>
              </a:ext>
            </a:extLst>
          </p:cNvPr>
          <p:cNvSpPr>
            <a:spLocks noGrp="1"/>
          </p:cNvSpPr>
          <p:nvPr/>
        </p:nvSpPr>
        <p:spPr>
          <a:xfrm>
            <a:off x="4457700" y="4819650"/>
            <a:ext cx="5715000" cy="3810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Supporting passages required</a:t>
            </a:r>
          </a:p>
        </p:txBody>
      </p:sp>
      <p:sp>
        <p:nvSpPr>
          <p:cNvPr id="13" name="text-13">
            <a:extLst>
              <a:ext uri="{FF2B5EF4-FFF2-40B4-BE49-F238E27FC236}">
                <a16:creationId xmlns:a16="http://schemas.microsoft.com/office/drawing/2014/main" id="{DBD9F156-C054-49A9-BBCF-EEEBBBDE2EC5}"/>
              </a:ext>
            </a:extLst>
          </p:cNvPr>
          <p:cNvSpPr>
            <a:spLocks noGrp="1"/>
          </p:cNvSpPr>
          <p:nvPr/>
        </p:nvSpPr>
        <p:spPr>
          <a:xfrm>
            <a:off x="4457700" y="5305425"/>
            <a:ext cx="6667500" cy="3810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Unclear purpose: insufficient evidence</a:t>
            </a:r>
          </a:p>
        </p:txBody>
      </p:sp>
      <p:sp>
        <p:nvSpPr>
          <p:cNvPr id="14" name="text-14">
            <a:extLst>
              <a:ext uri="{FF2B5EF4-FFF2-40B4-BE49-F238E27FC236}">
                <a16:creationId xmlns:a16="http://schemas.microsoft.com/office/drawing/2014/main" id="{2DB57A17-41F6-4204-9BB3-035D2C752DDF}"/>
              </a:ext>
            </a:extLst>
          </p:cNvPr>
          <p:cNvSpPr>
            <a:spLocks noGrp="1"/>
          </p:cNvSpPr>
          <p:nvPr/>
        </p:nvSpPr>
        <p:spPr>
          <a:xfrm>
            <a:off x="666750" y="6334125"/>
            <a:ext cx="10287000" cy="238125"/>
          </a:xfrm>
          <a:prstGeom prst="rect">
            <a:avLst/>
          </a:prstGeom>
        </p:spPr>
        <p:txBody>
          <a:bodyPr lIns="0" tIns="0" rIns="0" bIns="0" anchor="ctr"/>
          <a:lstStyle/>
          <a:p>
            <a:pPr algn="l">
              <a:spcBef>
                <a:spcPts val="0"/>
              </a:spcBef>
              <a:spcAft>
                <a:spcPts val="0"/>
              </a:spcAft>
              <a:buNone/>
              <a:defRPr sz="975" b="0">
                <a:solidFill>
                  <a:srgbClr val="5D7073"/>
                </a:solidFill>
                <a:latin typeface="Arial"/>
                <a:ea typeface="Arial"/>
                <a:cs typeface="Arial"/>
              </a:defRPr>
            </a:pPr>
            <a:r>
              <a:t>Planned: fixed summary prompt; all-MiniLM-L6-v2 embeddings. [9, 10]</a:t>
            </a:r>
          </a:p>
        </p:txBody>
      </p:sp>
      <p:cxnSp>
        <p:nvCxnSpPr>
          <p:cNvPr id="31" name="Straight Arrow Connector 14"/>
          <p:cNvCxnSpPr>
            <a:stCxn id="2" idx="3"/>
            <a:endCxn id="5" idx="1"/>
          </p:cNvCxnSpPr>
          <p:nvPr/>
        </p:nvCxnSpPr>
        <p:spPr>
          <a:xfrm>
            <a:off x="3333750" y="3205163"/>
            <a:ext cx="1123950" cy="0"/>
          </a:xfrm>
          <a:prstGeom prst="straightConnector1">
            <a:avLst/>
          </a:prstGeom>
          <a:ln w="19050">
            <a:solidFill>
              <a:srgbClr val="006D77"/>
            </a:solidFill>
            <a:tailEnd type="arrow" w="med" len="med"/>
          </a:ln>
        </p:spPr>
      </p:cxnSp>
      <p:cxnSp>
        <p:nvCxnSpPr>
          <p:cNvPr id="32" name="Straight Arrow Connector 15"/>
          <p:cNvCxnSpPr>
            <a:stCxn id="5" idx="3"/>
            <a:endCxn id="8" idx="1"/>
          </p:cNvCxnSpPr>
          <p:nvPr/>
        </p:nvCxnSpPr>
        <p:spPr>
          <a:xfrm>
            <a:off x="7648575" y="3205163"/>
            <a:ext cx="1114425" cy="0"/>
          </a:xfrm>
          <a:prstGeom prst="straightConnector1">
            <a:avLst/>
          </a:prstGeom>
          <a:ln w="19050">
            <a:solidFill>
              <a:srgbClr val="006D77"/>
            </a:solidFill>
            <a:tailEnd type="arrow" w="med" len="med"/>
          </a:ln>
        </p:spPr>
      </p:cxnSp>
      <p:sp>
        <p:nvSpPr>
          <p:cNvPr id="33" name="Rectangle 32">
            <a:extLst>
              <a:ext uri="{FF2B5EF4-FFF2-40B4-BE49-F238E27FC236}">
                <a16:creationId xmlns:a16="http://schemas.microsoft.com/office/drawing/2014/main" id="{63097A68-5257-4669-A49B-D14F0993CFB1}"/>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08</a:t>
            </a:r>
          </a:p>
        </p:txBody>
      </p:sp>
    </p:spTree>
    <p:extLst>
      <p:ext uri="{BB962C8B-B14F-4D97-AF65-F5344CB8AC3E}">
        <p14:creationId xmlns:p14="http://schemas.microsoft.com/office/powerpoint/2010/main" val="192608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8" name="t1">
            <a:extLst>
              <a:ext uri="{FF2B5EF4-FFF2-40B4-BE49-F238E27FC236}">
                <a16:creationId xmlns:a16="http://schemas.microsoft.com/office/drawing/2014/main" id="{3C29A034-913B-408E-A2B4-3B0642978091}"/>
              </a:ext>
            </a:extLst>
          </p:cNvPr>
          <p:cNvSpPr>
            <a:spLocks noGrp="1"/>
          </p:cNvSpPr>
          <p:nvPr/>
        </p:nvSpPr>
        <p:spPr>
          <a:xfrm>
            <a:off x="666750" y="514350"/>
            <a:ext cx="10858500" cy="1190625"/>
          </a:xfrm>
          <a:prstGeom prst="rect">
            <a:avLst/>
          </a:prstGeom>
        </p:spPr>
        <p:txBody>
          <a:bodyPr lIns="0" tIns="0" rIns="0" bIns="0" anchor="ctr"/>
          <a:lstStyle/>
          <a:p>
            <a:pPr algn="l">
              <a:spcBef>
                <a:spcPts val="0"/>
              </a:spcBef>
              <a:spcAft>
                <a:spcPts val="0"/>
              </a:spcAft>
              <a:buNone/>
              <a:defRPr sz="3300">
                <a:solidFill>
                  <a:srgbClr val="182C30"/>
                </a:solidFill>
                <a:latin typeface="Georgia"/>
                <a:ea typeface="Georgia"/>
                <a:cs typeface="Georgia"/>
              </a:defRPr>
            </a:pPr>
            <a:r>
              <a:t>Turn repository details into an idea statement</a:t>
            </a:r>
          </a:p>
        </p:txBody>
      </p:sp>
      <p:sp>
        <p:nvSpPr>
          <p:cNvPr id="2" name="t2">
            <a:extLst>
              <a:ext uri="{FF2B5EF4-FFF2-40B4-BE49-F238E27FC236}">
                <a16:creationId xmlns:a16="http://schemas.microsoft.com/office/drawing/2014/main" id="{0400CC39-4277-4D34-8C37-278B02560FF1}"/>
              </a:ext>
            </a:extLst>
          </p:cNvPr>
          <p:cNvSpPr>
            <a:spLocks noGrp="1"/>
          </p:cNvSpPr>
          <p:nvPr/>
        </p:nvSpPr>
        <p:spPr>
          <a:xfrm>
            <a:off x="666750" y="1714500"/>
            <a:ext cx="6572250" cy="428625"/>
          </a:xfrm>
          <a:prstGeom prst="rect">
            <a:avLst/>
          </a:prstGeom>
        </p:spPr>
        <p:txBody>
          <a:bodyPr lIns="0" tIns="0" rIns="0" bIns="0" anchor="ctr"/>
          <a:lstStyle/>
          <a:p>
            <a:pPr algn="l">
              <a:spcBef>
                <a:spcPts val="0"/>
              </a:spcBef>
              <a:spcAft>
                <a:spcPts val="0"/>
              </a:spcAft>
              <a:buNone/>
              <a:defRPr sz="1875">
                <a:solidFill>
                  <a:srgbClr val="182C30"/>
                </a:solidFill>
                <a:latin typeface="Arial"/>
                <a:ea typeface="Arial"/>
                <a:cs typeface="Arial"/>
              </a:defRPr>
            </a:pPr>
            <a:r>
              <a:t>charmbracelet/gum</a:t>
            </a:r>
          </a:p>
        </p:txBody>
      </p:sp>
      <p:pic>
        <p:nvPicPr>
          <p:cNvPr id="10" name="historical-repository"/>
          <p:cNvPicPr>
            <a:picLocks noChangeAspect="1"/>
          </p:cNvPicPr>
          <p:nvPr/>
        </p:nvPicPr>
        <p:blipFill>
          <a:blip r:embed="rId3"/>
          <a:stretch/>
        </p:blipFill>
        <p:spPr>
          <a:xfrm>
            <a:off x="666750" y="2308081"/>
            <a:ext cx="6572250" cy="3699164"/>
          </a:xfrm>
          <a:prstGeom prst="rect">
            <a:avLst/>
          </a:prstGeom>
        </p:spPr>
      </p:pic>
      <p:sp>
        <p:nvSpPr>
          <p:cNvPr id="4" name="t3">
            <a:extLst>
              <a:ext uri="{FF2B5EF4-FFF2-40B4-BE49-F238E27FC236}">
                <a16:creationId xmlns:a16="http://schemas.microsoft.com/office/drawing/2014/main" id="{C2357748-D651-4AD9-8394-2E0608BFEA87}"/>
              </a:ext>
            </a:extLst>
          </p:cNvPr>
          <p:cNvSpPr>
            <a:spLocks noGrp="1"/>
          </p:cNvSpPr>
          <p:nvPr/>
        </p:nvSpPr>
        <p:spPr>
          <a:xfrm>
            <a:off x="7762875" y="1714500"/>
            <a:ext cx="3762375" cy="428625"/>
          </a:xfrm>
          <a:prstGeom prst="rect">
            <a:avLst/>
          </a:prstGeom>
        </p:spPr>
        <p:txBody>
          <a:bodyPr lIns="0" tIns="0" rIns="0" bIns="0" anchor="ctr"/>
          <a:lstStyle/>
          <a:p>
            <a:pPr algn="l">
              <a:spcBef>
                <a:spcPts val="0"/>
              </a:spcBef>
              <a:spcAft>
                <a:spcPts val="0"/>
              </a:spcAft>
              <a:buNone/>
              <a:defRPr sz="1875">
                <a:solidFill>
                  <a:srgbClr val="006D77"/>
                </a:solidFill>
                <a:latin typeface="Arial"/>
                <a:ea typeface="Arial"/>
                <a:cs typeface="Arial"/>
              </a:defRPr>
            </a:pPr>
            <a:r>
              <a:t>Illustrative LLM summary</a:t>
            </a:r>
          </a:p>
        </p:txBody>
      </p:sp>
      <p:sp>
        <p:nvSpPr>
          <p:cNvPr id="5" name="t4">
            <a:extLst>
              <a:ext uri="{FF2B5EF4-FFF2-40B4-BE49-F238E27FC236}">
                <a16:creationId xmlns:a16="http://schemas.microsoft.com/office/drawing/2014/main" id="{BEAAC3DA-2411-4CB4-88CC-ABD977F804D2}"/>
              </a:ext>
            </a:extLst>
          </p:cNvPr>
          <p:cNvSpPr>
            <a:spLocks noGrp="1"/>
          </p:cNvSpPr>
          <p:nvPr/>
        </p:nvSpPr>
        <p:spPr>
          <a:xfrm>
            <a:off x="7762875" y="2419350"/>
            <a:ext cx="3762375" cy="3476625"/>
          </a:xfrm>
          <a:prstGeom prst="rect">
            <a:avLst/>
          </a:prstGeom>
        </p:spPr>
        <p:txBody>
          <a:bodyPr lIns="0" tIns="0" rIns="0" bIns="0" anchor="ctr"/>
          <a:lstStyle/>
          <a:p>
            <a:pPr algn="l">
              <a:spcBef>
                <a:spcPts val="0"/>
              </a:spcBef>
              <a:spcAft>
                <a:spcPts val="0"/>
              </a:spcAft>
              <a:buNone/>
              <a:defRPr sz="2100">
                <a:solidFill>
                  <a:srgbClr val="182C30"/>
                </a:solidFill>
                <a:latin typeface="Arial"/>
                <a:ea typeface="Arial"/>
                <a:cs typeface="Arial"/>
              </a:defRPr>
            </a:pPr>
            <a:r>
              <a:t>Gum helps shell-script authors add interactive prompts and styled terminal output without writing Go.</a:t>
            </a:r>
          </a:p>
          <a:p>
            <a:pPr algn="l">
              <a:spcBef>
                <a:spcPts val="0"/>
              </a:spcBef>
              <a:spcAft>
                <a:spcPts val="0"/>
              </a:spcAft>
              <a:buNone/>
              <a:defRPr sz="2100">
                <a:solidFill>
                  <a:srgbClr val="182C30"/>
                </a:solidFill>
                <a:latin typeface="Arial"/>
                <a:ea typeface="Arial"/>
                <a:cs typeface="Arial"/>
              </a:defRPr>
            </a:pPr>
            <a:endParaRPr/>
          </a:p>
          <a:p>
            <a:pPr algn="l">
              <a:spcBef>
                <a:spcPts val="0"/>
              </a:spcBef>
              <a:spcAft>
                <a:spcPts val="0"/>
              </a:spcAft>
              <a:buNone/>
              <a:defRPr sz="2100">
                <a:solidFill>
                  <a:srgbClr val="182C30"/>
                </a:solidFill>
                <a:latin typeface="Arial"/>
                <a:ea typeface="Arial"/>
                <a:cs typeface="Arial"/>
              </a:defRPr>
            </a:pPr>
            <a:r>
              <a:t>It provides commands for text input, fuzzy selection, progress indicators, and text layout.</a:t>
            </a:r>
          </a:p>
        </p:txBody>
      </p:sp>
      <p:sp>
        <p:nvSpPr>
          <p:cNvPr id="6" name="t5">
            <a:extLst>
              <a:ext uri="{FF2B5EF4-FFF2-40B4-BE49-F238E27FC236}">
                <a16:creationId xmlns:a16="http://schemas.microsoft.com/office/drawing/2014/main" id="{FD18339E-A148-4477-961E-E00621C584B0}"/>
              </a:ext>
            </a:extLst>
          </p:cNvPr>
          <p:cNvSpPr>
            <a:spLocks noGrp="1"/>
          </p:cNvSpPr>
          <p:nvPr/>
        </p:nvSpPr>
        <p:spPr>
          <a:xfrm>
            <a:off x="666750" y="6229350"/>
            <a:ext cx="10287000" cy="266700"/>
          </a:xfrm>
          <a:prstGeom prst="rect">
            <a:avLst/>
          </a:prstGeom>
        </p:spPr>
        <p:txBody>
          <a:bodyPr lIns="0" tIns="0" rIns="0" bIns="0" anchor="ctr"/>
          <a:lstStyle/>
          <a:p>
            <a:pPr algn="l">
              <a:spcBef>
                <a:spcPts val="0"/>
              </a:spcBef>
              <a:spcAft>
                <a:spcPts val="0"/>
              </a:spcAft>
              <a:buNone/>
              <a:defRPr sz="1425">
                <a:solidFill>
                  <a:srgbClr val="5D7073"/>
                </a:solidFill>
                <a:latin typeface="Arial"/>
                <a:ea typeface="Arial"/>
                <a:cs typeface="Arial"/>
              </a:defRPr>
            </a:pPr>
            <a:r>
              <a:t>Early commit be4027c · demonstration only; summary extraction is planned. [11]</a:t>
            </a:r>
          </a:p>
        </p:txBody>
      </p:sp>
      <p:sp>
        <p:nvSpPr>
          <p:cNvPr id="3" name="Rectangle 2">
            <a:extLst>
              <a:ext uri="{FF2B5EF4-FFF2-40B4-BE49-F238E27FC236}">
                <a16:creationId xmlns:a16="http://schemas.microsoft.com/office/drawing/2014/main" id="{87C28690-20DC-44B9-9F21-1E4076758DBC}"/>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09</a:t>
            </a:r>
          </a:p>
        </p:txBody>
      </p:sp>
    </p:spTree>
    <p:extLst>
      <p:ext uri="{BB962C8B-B14F-4D97-AF65-F5344CB8AC3E}">
        <p14:creationId xmlns:p14="http://schemas.microsoft.com/office/powerpoint/2010/main" val="774045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1CCBD87-8922-41D0-9BE5-E94DF8584AF2}"/>
              </a:ext>
            </a:extLst>
          </p:cNvPr>
          <p:cNvSpPr>
            <a:spLocks noGrp="1"/>
          </p:cNvSpPr>
          <p:nvPr/>
        </p:nvSpPr>
        <p:spPr>
          <a:xfrm>
            <a:off x="666750" y="476250"/>
            <a:ext cx="10858500" cy="1190625"/>
          </a:xfrm>
          <a:prstGeom prst="rect">
            <a:avLst/>
          </a:prstGeom>
        </p:spPr>
        <p:txBody>
          <a:bodyPr lIns="0" tIns="0" rIns="0" bIns="0" anchor="ctr"/>
          <a:lstStyle/>
          <a:p>
            <a:pPr algn="l">
              <a:buNone/>
              <a:defRPr sz="3300">
                <a:solidFill>
                  <a:srgbClr val="182C30"/>
                </a:solidFill>
                <a:latin typeface="Georgia"/>
                <a:ea typeface="Georgia"/>
                <a:cs typeface="Georgia"/>
              </a:defRPr>
            </a:pPr>
            <a:r>
              <a:t>More varied ideas produce a higher monthly score</a:t>
            </a:r>
          </a:p>
        </p:txBody>
      </p:sp>
      <p:sp>
        <p:nvSpPr>
          <p:cNvPr id="2" name="Rectangle 1">
            <a:extLst>
              <a:ext uri="{FF2B5EF4-FFF2-40B4-BE49-F238E27FC236}">
                <a16:creationId xmlns:a16="http://schemas.microsoft.com/office/drawing/2014/main" id="{E6F64F56-B3B5-4AA2-AC8C-7A2C112F838F}"/>
              </a:ext>
            </a:extLst>
          </p:cNvPr>
          <p:cNvSpPr>
            <a:spLocks noGrp="1"/>
          </p:cNvSpPr>
          <p:nvPr/>
        </p:nvSpPr>
        <p:spPr>
          <a:xfrm>
            <a:off x="1143000" y="1809750"/>
            <a:ext cx="4191000" cy="428625"/>
          </a:xfrm>
          <a:prstGeom prst="rect">
            <a:avLst/>
          </a:prstGeom>
        </p:spPr>
        <p:txBody>
          <a:bodyPr lIns="0" tIns="0" rIns="0" bIns="0" anchor="ctr"/>
          <a:lstStyle/>
          <a:p>
            <a:pPr algn="ctr">
              <a:buNone/>
              <a:defRPr sz="2100">
                <a:solidFill>
                  <a:srgbClr val="006D77"/>
                </a:solidFill>
                <a:latin typeface="Arial"/>
                <a:ea typeface="Arial"/>
                <a:cs typeface="Arial"/>
              </a:defRPr>
            </a:pPr>
            <a:r>
              <a:t>Similar ideas</a:t>
            </a:r>
          </a:p>
        </p:txBody>
      </p:sp>
      <p:sp>
        <p:nvSpPr>
          <p:cNvPr id="3" name="Rectangle 2">
            <a:extLst>
              <a:ext uri="{FF2B5EF4-FFF2-40B4-BE49-F238E27FC236}">
                <a16:creationId xmlns:a16="http://schemas.microsoft.com/office/drawing/2014/main" id="{AA50A086-AE0B-43DA-BA0E-F1E6179FE970}"/>
              </a:ext>
            </a:extLst>
          </p:cNvPr>
          <p:cNvSpPr>
            <a:spLocks noGrp="1"/>
          </p:cNvSpPr>
          <p:nvPr/>
        </p:nvSpPr>
        <p:spPr>
          <a:xfrm>
            <a:off x="6858000" y="1809750"/>
            <a:ext cx="4191000" cy="428625"/>
          </a:xfrm>
          <a:prstGeom prst="rect">
            <a:avLst/>
          </a:prstGeom>
        </p:spPr>
        <p:txBody>
          <a:bodyPr lIns="0" tIns="0" rIns="0" bIns="0" anchor="ctr"/>
          <a:lstStyle/>
          <a:p>
            <a:pPr algn="ctr">
              <a:buNone/>
              <a:defRPr sz="2100">
                <a:solidFill>
                  <a:srgbClr val="006D77"/>
                </a:solidFill>
                <a:latin typeface="Arial"/>
                <a:ea typeface="Arial"/>
                <a:cs typeface="Arial"/>
              </a:defRPr>
            </a:pPr>
            <a:r>
              <a:t>Varied ideas</a:t>
            </a:r>
          </a:p>
        </p:txBody>
      </p:sp>
      <p:sp>
        <p:nvSpPr>
          <p:cNvPr id="4" name="Oval 3">
            <a:extLst>
              <a:ext uri="{FF2B5EF4-FFF2-40B4-BE49-F238E27FC236}">
                <a16:creationId xmlns:a16="http://schemas.microsoft.com/office/drawing/2014/main" id="{DCD4F2EF-EEF8-4919-8298-84A68C425567}"/>
              </a:ext>
            </a:extLst>
          </p:cNvPr>
          <p:cNvSpPr>
            <a:spLocks noGrp="1"/>
          </p:cNvSpPr>
          <p:nvPr/>
        </p:nvSpPr>
        <p:spPr>
          <a:xfrm>
            <a:off x="2714625" y="3095625"/>
            <a:ext cx="190500" cy="190500"/>
          </a:xfrm>
          <a:prstGeom prst="ellipse">
            <a:avLst/>
          </a:prstGeom>
          <a:solidFill>
            <a:srgbClr val="006D77"/>
          </a:solidFill>
          <a:ln w="0">
            <a:noFill/>
            <a:prstDash val="solid"/>
          </a:ln>
        </p:spPr>
      </p:sp>
      <p:sp>
        <p:nvSpPr>
          <p:cNvPr id="5" name="Oval 4">
            <a:extLst>
              <a:ext uri="{FF2B5EF4-FFF2-40B4-BE49-F238E27FC236}">
                <a16:creationId xmlns:a16="http://schemas.microsoft.com/office/drawing/2014/main" id="{5B80E7E0-33BB-4225-9751-6B8750FCBD7D}"/>
              </a:ext>
            </a:extLst>
          </p:cNvPr>
          <p:cNvSpPr>
            <a:spLocks noGrp="1"/>
          </p:cNvSpPr>
          <p:nvPr/>
        </p:nvSpPr>
        <p:spPr>
          <a:xfrm>
            <a:off x="2876550" y="3381375"/>
            <a:ext cx="190500" cy="190500"/>
          </a:xfrm>
          <a:prstGeom prst="ellipse">
            <a:avLst/>
          </a:prstGeom>
          <a:solidFill>
            <a:srgbClr val="006D77"/>
          </a:solidFill>
          <a:ln w="0">
            <a:noFill/>
            <a:prstDash val="solid"/>
          </a:ln>
        </p:spPr>
      </p:sp>
      <p:sp>
        <p:nvSpPr>
          <p:cNvPr id="6" name="Oval 5">
            <a:extLst>
              <a:ext uri="{FF2B5EF4-FFF2-40B4-BE49-F238E27FC236}">
                <a16:creationId xmlns:a16="http://schemas.microsoft.com/office/drawing/2014/main" id="{F0442B1F-0D1E-49B0-9F7F-E4AE9A1E5579}"/>
              </a:ext>
            </a:extLst>
          </p:cNvPr>
          <p:cNvSpPr>
            <a:spLocks noGrp="1"/>
          </p:cNvSpPr>
          <p:nvPr/>
        </p:nvSpPr>
        <p:spPr>
          <a:xfrm>
            <a:off x="3143250" y="2962275"/>
            <a:ext cx="190500" cy="190500"/>
          </a:xfrm>
          <a:prstGeom prst="ellipse">
            <a:avLst/>
          </a:prstGeom>
          <a:solidFill>
            <a:srgbClr val="006D77"/>
          </a:solidFill>
          <a:ln w="0">
            <a:noFill/>
            <a:prstDash val="solid"/>
          </a:ln>
        </p:spPr>
      </p:sp>
      <p:sp>
        <p:nvSpPr>
          <p:cNvPr id="7" name="Oval 6">
            <a:extLst>
              <a:ext uri="{FF2B5EF4-FFF2-40B4-BE49-F238E27FC236}">
                <a16:creationId xmlns:a16="http://schemas.microsoft.com/office/drawing/2014/main" id="{40B54E57-46C0-4154-BA22-FC7A2E9E8E35}"/>
              </a:ext>
            </a:extLst>
          </p:cNvPr>
          <p:cNvSpPr>
            <a:spLocks noGrp="1"/>
          </p:cNvSpPr>
          <p:nvPr/>
        </p:nvSpPr>
        <p:spPr>
          <a:xfrm>
            <a:off x="3314700" y="3305175"/>
            <a:ext cx="190500" cy="190500"/>
          </a:xfrm>
          <a:prstGeom prst="ellipse">
            <a:avLst/>
          </a:prstGeom>
          <a:solidFill>
            <a:srgbClr val="006D77"/>
          </a:solidFill>
          <a:ln w="0">
            <a:noFill/>
            <a:prstDash val="solid"/>
          </a:ln>
        </p:spPr>
      </p:sp>
      <p:sp>
        <p:nvSpPr>
          <p:cNvPr id="8" name="Oval 7">
            <a:extLst>
              <a:ext uri="{FF2B5EF4-FFF2-40B4-BE49-F238E27FC236}">
                <a16:creationId xmlns:a16="http://schemas.microsoft.com/office/drawing/2014/main" id="{ACEF519E-9D95-484B-B222-C8D88D741FA8}"/>
              </a:ext>
            </a:extLst>
          </p:cNvPr>
          <p:cNvSpPr>
            <a:spLocks noGrp="1"/>
          </p:cNvSpPr>
          <p:nvPr/>
        </p:nvSpPr>
        <p:spPr>
          <a:xfrm>
            <a:off x="3524250" y="3162300"/>
            <a:ext cx="190500" cy="190500"/>
          </a:xfrm>
          <a:prstGeom prst="ellipse">
            <a:avLst/>
          </a:prstGeom>
          <a:solidFill>
            <a:srgbClr val="006D77"/>
          </a:solidFill>
          <a:ln w="0">
            <a:noFill/>
            <a:prstDash val="solid"/>
          </a:ln>
        </p:spPr>
      </p:sp>
      <p:sp>
        <p:nvSpPr>
          <p:cNvPr id="9" name="Oval 8">
            <a:extLst>
              <a:ext uri="{FF2B5EF4-FFF2-40B4-BE49-F238E27FC236}">
                <a16:creationId xmlns:a16="http://schemas.microsoft.com/office/drawing/2014/main" id="{D3CDD4B7-846F-4694-8AC0-5D15A79107FB}"/>
              </a:ext>
            </a:extLst>
          </p:cNvPr>
          <p:cNvSpPr>
            <a:spLocks noGrp="1"/>
          </p:cNvSpPr>
          <p:nvPr/>
        </p:nvSpPr>
        <p:spPr>
          <a:xfrm>
            <a:off x="3048000" y="3590925"/>
            <a:ext cx="190500" cy="190500"/>
          </a:xfrm>
          <a:prstGeom prst="ellipse">
            <a:avLst/>
          </a:prstGeom>
          <a:solidFill>
            <a:srgbClr val="006D77"/>
          </a:solidFill>
          <a:ln w="0">
            <a:noFill/>
            <a:prstDash val="solid"/>
          </a:ln>
        </p:spPr>
      </p:sp>
      <p:sp>
        <p:nvSpPr>
          <p:cNvPr id="10" name="Oval 9">
            <a:extLst>
              <a:ext uri="{FF2B5EF4-FFF2-40B4-BE49-F238E27FC236}">
                <a16:creationId xmlns:a16="http://schemas.microsoft.com/office/drawing/2014/main" id="{9708C630-EC59-4ACC-93C6-2AD5A9FF2295}"/>
              </a:ext>
            </a:extLst>
          </p:cNvPr>
          <p:cNvSpPr>
            <a:spLocks noGrp="1"/>
          </p:cNvSpPr>
          <p:nvPr/>
        </p:nvSpPr>
        <p:spPr>
          <a:xfrm>
            <a:off x="3476625" y="3581400"/>
            <a:ext cx="190500" cy="190500"/>
          </a:xfrm>
          <a:prstGeom prst="ellipse">
            <a:avLst/>
          </a:prstGeom>
          <a:solidFill>
            <a:srgbClr val="006D77"/>
          </a:solidFill>
          <a:ln w="0">
            <a:noFill/>
            <a:prstDash val="solid"/>
          </a:ln>
        </p:spPr>
      </p:sp>
      <p:sp>
        <p:nvSpPr>
          <p:cNvPr id="11" name="Oval 10">
            <a:extLst>
              <a:ext uri="{FF2B5EF4-FFF2-40B4-BE49-F238E27FC236}">
                <a16:creationId xmlns:a16="http://schemas.microsoft.com/office/drawing/2014/main" id="{1A12A9BA-738B-4586-85BD-D7F919A0B2CD}"/>
              </a:ext>
            </a:extLst>
          </p:cNvPr>
          <p:cNvSpPr>
            <a:spLocks noGrp="1"/>
          </p:cNvSpPr>
          <p:nvPr/>
        </p:nvSpPr>
        <p:spPr>
          <a:xfrm>
            <a:off x="2743200" y="3648075"/>
            <a:ext cx="190500" cy="190500"/>
          </a:xfrm>
          <a:prstGeom prst="ellipse">
            <a:avLst/>
          </a:prstGeom>
          <a:solidFill>
            <a:srgbClr val="006D77"/>
          </a:solidFill>
          <a:ln w="0">
            <a:noFill/>
            <a:prstDash val="solid"/>
          </a:ln>
        </p:spPr>
      </p:sp>
      <p:sp>
        <p:nvSpPr>
          <p:cNvPr id="12" name="Oval 11">
            <a:extLst>
              <a:ext uri="{FF2B5EF4-FFF2-40B4-BE49-F238E27FC236}">
                <a16:creationId xmlns:a16="http://schemas.microsoft.com/office/drawing/2014/main" id="{12882B89-0B75-4C07-9D3A-BD9F1D540ED8}"/>
              </a:ext>
            </a:extLst>
          </p:cNvPr>
          <p:cNvSpPr>
            <a:spLocks noGrp="1"/>
          </p:cNvSpPr>
          <p:nvPr/>
        </p:nvSpPr>
        <p:spPr>
          <a:xfrm>
            <a:off x="7334250" y="2571750"/>
            <a:ext cx="190500" cy="190500"/>
          </a:xfrm>
          <a:prstGeom prst="ellipse">
            <a:avLst/>
          </a:prstGeom>
          <a:solidFill>
            <a:srgbClr val="006D77"/>
          </a:solidFill>
          <a:ln w="0">
            <a:noFill/>
            <a:prstDash val="solid"/>
          </a:ln>
        </p:spPr>
      </p:sp>
      <p:sp>
        <p:nvSpPr>
          <p:cNvPr id="13" name="Oval 12">
            <a:extLst>
              <a:ext uri="{FF2B5EF4-FFF2-40B4-BE49-F238E27FC236}">
                <a16:creationId xmlns:a16="http://schemas.microsoft.com/office/drawing/2014/main" id="{429B39B3-1B48-46EB-9EA6-E18F7CB4693B}"/>
              </a:ext>
            </a:extLst>
          </p:cNvPr>
          <p:cNvSpPr>
            <a:spLocks noGrp="1"/>
          </p:cNvSpPr>
          <p:nvPr/>
        </p:nvSpPr>
        <p:spPr>
          <a:xfrm>
            <a:off x="8001000" y="3810000"/>
            <a:ext cx="190500" cy="190500"/>
          </a:xfrm>
          <a:prstGeom prst="ellipse">
            <a:avLst/>
          </a:prstGeom>
          <a:solidFill>
            <a:srgbClr val="006D77"/>
          </a:solidFill>
          <a:ln w="0">
            <a:noFill/>
            <a:prstDash val="solid"/>
          </a:ln>
        </p:spPr>
      </p:sp>
      <p:sp>
        <p:nvSpPr>
          <p:cNvPr id="14" name="Oval 13">
            <a:extLst>
              <a:ext uri="{FF2B5EF4-FFF2-40B4-BE49-F238E27FC236}">
                <a16:creationId xmlns:a16="http://schemas.microsoft.com/office/drawing/2014/main" id="{8784DB71-9A32-4BC1-AA2B-345377E5F3FD}"/>
              </a:ext>
            </a:extLst>
          </p:cNvPr>
          <p:cNvSpPr>
            <a:spLocks noGrp="1"/>
          </p:cNvSpPr>
          <p:nvPr/>
        </p:nvSpPr>
        <p:spPr>
          <a:xfrm>
            <a:off x="8667750" y="3076575"/>
            <a:ext cx="190500" cy="190500"/>
          </a:xfrm>
          <a:prstGeom prst="ellipse">
            <a:avLst/>
          </a:prstGeom>
          <a:solidFill>
            <a:srgbClr val="006D77"/>
          </a:solidFill>
          <a:ln w="0">
            <a:noFill/>
            <a:prstDash val="solid"/>
          </a:ln>
        </p:spPr>
      </p:sp>
      <p:sp>
        <p:nvSpPr>
          <p:cNvPr id="15" name="Oval 14">
            <a:extLst>
              <a:ext uri="{FF2B5EF4-FFF2-40B4-BE49-F238E27FC236}">
                <a16:creationId xmlns:a16="http://schemas.microsoft.com/office/drawing/2014/main" id="{45726AE1-A5C7-4793-B7BF-47494A44361A}"/>
              </a:ext>
            </a:extLst>
          </p:cNvPr>
          <p:cNvSpPr>
            <a:spLocks noGrp="1"/>
          </p:cNvSpPr>
          <p:nvPr/>
        </p:nvSpPr>
        <p:spPr>
          <a:xfrm>
            <a:off x="10048875" y="2543175"/>
            <a:ext cx="190500" cy="190500"/>
          </a:xfrm>
          <a:prstGeom prst="ellipse">
            <a:avLst/>
          </a:prstGeom>
          <a:solidFill>
            <a:srgbClr val="006D77"/>
          </a:solidFill>
          <a:ln w="0">
            <a:noFill/>
            <a:prstDash val="solid"/>
          </a:ln>
        </p:spPr>
      </p:sp>
      <p:sp>
        <p:nvSpPr>
          <p:cNvPr id="16" name="Oval 15">
            <a:extLst>
              <a:ext uri="{FF2B5EF4-FFF2-40B4-BE49-F238E27FC236}">
                <a16:creationId xmlns:a16="http://schemas.microsoft.com/office/drawing/2014/main" id="{55160974-4794-4471-B380-F1C788F2ECCF}"/>
              </a:ext>
            </a:extLst>
          </p:cNvPr>
          <p:cNvSpPr>
            <a:spLocks noGrp="1"/>
          </p:cNvSpPr>
          <p:nvPr/>
        </p:nvSpPr>
        <p:spPr>
          <a:xfrm>
            <a:off x="10287000" y="3857625"/>
            <a:ext cx="190500" cy="190500"/>
          </a:xfrm>
          <a:prstGeom prst="ellipse">
            <a:avLst/>
          </a:prstGeom>
          <a:solidFill>
            <a:srgbClr val="006D77"/>
          </a:solidFill>
          <a:ln w="0">
            <a:noFill/>
            <a:prstDash val="solid"/>
          </a:ln>
        </p:spPr>
      </p:sp>
      <p:sp>
        <p:nvSpPr>
          <p:cNvPr id="17" name="Oval 16">
            <a:extLst>
              <a:ext uri="{FF2B5EF4-FFF2-40B4-BE49-F238E27FC236}">
                <a16:creationId xmlns:a16="http://schemas.microsoft.com/office/drawing/2014/main" id="{AA8C1A82-300E-4D4D-9FA9-1BCCADAF0DED}"/>
              </a:ext>
            </a:extLst>
          </p:cNvPr>
          <p:cNvSpPr>
            <a:spLocks noGrp="1"/>
          </p:cNvSpPr>
          <p:nvPr/>
        </p:nvSpPr>
        <p:spPr>
          <a:xfrm>
            <a:off x="9144000" y="4143375"/>
            <a:ext cx="190500" cy="190500"/>
          </a:xfrm>
          <a:prstGeom prst="ellipse">
            <a:avLst/>
          </a:prstGeom>
          <a:solidFill>
            <a:srgbClr val="006D77"/>
          </a:solidFill>
          <a:ln w="0">
            <a:noFill/>
            <a:prstDash val="solid"/>
          </a:ln>
        </p:spPr>
      </p:sp>
      <p:sp>
        <p:nvSpPr>
          <p:cNvPr id="18" name="Oval 17">
            <a:extLst>
              <a:ext uri="{FF2B5EF4-FFF2-40B4-BE49-F238E27FC236}">
                <a16:creationId xmlns:a16="http://schemas.microsoft.com/office/drawing/2014/main" id="{B9F60698-0F34-49BC-B960-762D1635992E}"/>
              </a:ext>
            </a:extLst>
          </p:cNvPr>
          <p:cNvSpPr>
            <a:spLocks noGrp="1"/>
          </p:cNvSpPr>
          <p:nvPr/>
        </p:nvSpPr>
        <p:spPr>
          <a:xfrm>
            <a:off x="9096375" y="2286000"/>
            <a:ext cx="190500" cy="190500"/>
          </a:xfrm>
          <a:prstGeom prst="ellipse">
            <a:avLst/>
          </a:prstGeom>
          <a:solidFill>
            <a:srgbClr val="006D77"/>
          </a:solidFill>
          <a:ln w="0">
            <a:noFill/>
            <a:prstDash val="solid"/>
          </a:ln>
        </p:spPr>
      </p:sp>
      <p:sp>
        <p:nvSpPr>
          <p:cNvPr id="19" name="Oval 18">
            <a:extLst>
              <a:ext uri="{FF2B5EF4-FFF2-40B4-BE49-F238E27FC236}">
                <a16:creationId xmlns:a16="http://schemas.microsoft.com/office/drawing/2014/main" id="{BDF1371E-B485-4377-944E-FF1EDB971651}"/>
              </a:ext>
            </a:extLst>
          </p:cNvPr>
          <p:cNvSpPr>
            <a:spLocks noGrp="1"/>
          </p:cNvSpPr>
          <p:nvPr/>
        </p:nvSpPr>
        <p:spPr>
          <a:xfrm>
            <a:off x="7429500" y="3381375"/>
            <a:ext cx="190500" cy="190500"/>
          </a:xfrm>
          <a:prstGeom prst="ellipse">
            <a:avLst/>
          </a:prstGeom>
          <a:solidFill>
            <a:srgbClr val="006D77"/>
          </a:solidFill>
          <a:ln w="0">
            <a:noFill/>
            <a:prstDash val="solid"/>
          </a:ln>
        </p:spPr>
      </p:sp>
      <p:sp>
        <p:nvSpPr>
          <p:cNvPr id="20" name="Rectangle 19">
            <a:extLst>
              <a:ext uri="{FF2B5EF4-FFF2-40B4-BE49-F238E27FC236}">
                <a16:creationId xmlns:a16="http://schemas.microsoft.com/office/drawing/2014/main" id="{ADAC27B2-BECC-40E1-88D0-96B144E64F0C}"/>
              </a:ext>
            </a:extLst>
          </p:cNvPr>
          <p:cNvSpPr>
            <a:spLocks noGrp="1"/>
          </p:cNvSpPr>
          <p:nvPr/>
        </p:nvSpPr>
        <p:spPr>
          <a:xfrm>
            <a:off x="1143000" y="4524375"/>
            <a:ext cx="4191000" cy="381000"/>
          </a:xfrm>
          <a:prstGeom prst="rect">
            <a:avLst/>
          </a:prstGeom>
        </p:spPr>
        <p:txBody>
          <a:bodyPr lIns="0" tIns="0" rIns="0" bIns="0" anchor="ctr"/>
          <a:lstStyle/>
          <a:p>
            <a:pPr algn="ctr">
              <a:buNone/>
              <a:defRPr sz="1875">
                <a:solidFill>
                  <a:srgbClr val="182C30"/>
                </a:solidFill>
                <a:latin typeface="Arial"/>
                <a:ea typeface="Arial"/>
                <a:cs typeface="Arial"/>
              </a:defRPr>
            </a:pPr>
            <a:r>
              <a:t>Lower average distance</a:t>
            </a:r>
          </a:p>
        </p:txBody>
      </p:sp>
      <p:sp>
        <p:nvSpPr>
          <p:cNvPr id="21" name="Rectangle 20">
            <a:extLst>
              <a:ext uri="{FF2B5EF4-FFF2-40B4-BE49-F238E27FC236}">
                <a16:creationId xmlns:a16="http://schemas.microsoft.com/office/drawing/2014/main" id="{BF9AE2F3-ADA7-47DB-84D0-DBA85AC6B212}"/>
              </a:ext>
            </a:extLst>
          </p:cNvPr>
          <p:cNvSpPr>
            <a:spLocks noGrp="1"/>
          </p:cNvSpPr>
          <p:nvPr/>
        </p:nvSpPr>
        <p:spPr>
          <a:xfrm>
            <a:off x="6858000" y="4524375"/>
            <a:ext cx="4191000" cy="381000"/>
          </a:xfrm>
          <a:prstGeom prst="rect">
            <a:avLst/>
          </a:prstGeom>
        </p:spPr>
        <p:txBody>
          <a:bodyPr lIns="0" tIns="0" rIns="0" bIns="0" anchor="ctr"/>
          <a:lstStyle/>
          <a:p>
            <a:pPr algn="ctr">
              <a:buNone/>
              <a:defRPr sz="1875">
                <a:solidFill>
                  <a:srgbClr val="182C30"/>
                </a:solidFill>
                <a:latin typeface="Arial"/>
                <a:ea typeface="Arial"/>
                <a:cs typeface="Arial"/>
              </a:defRPr>
            </a:pPr>
            <a:r>
              <a:t>Higher average distance</a:t>
            </a:r>
          </a:p>
        </p:txBody>
      </p:sp>
      <p:sp>
        <p:nvSpPr>
          <p:cNvPr id="22" name="Rectangle 21">
            <a:extLst>
              <a:ext uri="{FF2B5EF4-FFF2-40B4-BE49-F238E27FC236}">
                <a16:creationId xmlns:a16="http://schemas.microsoft.com/office/drawing/2014/main" id="{BC49A390-DFF8-44C0-A33C-CDB03EF0B154}"/>
              </a:ext>
            </a:extLst>
          </p:cNvPr>
          <p:cNvSpPr>
            <a:spLocks noGrp="1"/>
          </p:cNvSpPr>
          <p:nvPr/>
        </p:nvSpPr>
        <p:spPr>
          <a:xfrm>
            <a:off x="952500" y="5286375"/>
            <a:ext cx="10287000" cy="571500"/>
          </a:xfrm>
          <a:prstGeom prst="rect">
            <a:avLst/>
          </a:prstGeom>
        </p:spPr>
        <p:txBody>
          <a:bodyPr lIns="0" tIns="0" rIns="0" bIns="0" anchor="ctr"/>
          <a:lstStyle/>
          <a:p>
            <a:pPr algn="ctr">
              <a:buNone/>
              <a:defRPr sz="2100">
                <a:solidFill>
                  <a:srgbClr val="182C30"/>
                </a:solidFill>
                <a:latin typeface="Arial"/>
                <a:ea typeface="Arial"/>
                <a:cs typeface="Arial"/>
              </a:defRPr>
            </a:pPr>
            <a:r>
              <a:t>Idea vectors  →  Compare every pair  →  Average within the month</a:t>
            </a:r>
          </a:p>
        </p:txBody>
      </p:sp>
      <p:sp>
        <p:nvSpPr>
          <p:cNvPr id="23" name="Rectangle 22">
            <a:extLst>
              <a:ext uri="{FF2B5EF4-FFF2-40B4-BE49-F238E27FC236}">
                <a16:creationId xmlns:a16="http://schemas.microsoft.com/office/drawing/2014/main" id="{3A1A66F9-45F1-4A3D-AA17-E3F920BEA4BD}"/>
              </a:ext>
            </a:extLst>
          </p:cNvPr>
          <p:cNvSpPr>
            <a:spLocks noGrp="1"/>
          </p:cNvSpPr>
          <p:nvPr/>
        </p:nvSpPr>
        <p:spPr>
          <a:xfrm>
            <a:off x="666750" y="6238875"/>
            <a:ext cx="10382250" cy="285750"/>
          </a:xfrm>
          <a:prstGeom prst="rect">
            <a:avLst/>
          </a:prstGeom>
        </p:spPr>
        <p:txBody>
          <a:bodyPr lIns="0" tIns="0" rIns="0" bIns="0" anchor="ctr"/>
          <a:lstStyle/>
          <a:p>
            <a:pPr algn="l">
              <a:buNone/>
              <a:defRPr sz="1350">
                <a:solidFill>
                  <a:srgbClr val="5D7073"/>
                </a:solidFill>
                <a:latin typeface="Arial"/>
                <a:ea typeface="Arial"/>
                <a:cs typeface="Arial"/>
              </a:defRPr>
            </a:pPr>
            <a:r>
              <a:t>Schematic of similarity; not study data or a 2D analysis.</a:t>
            </a:r>
          </a:p>
        </p:txBody>
      </p:sp>
      <p:sp>
        <p:nvSpPr>
          <p:cNvPr id="24" name="Rectangle 23">
            <a:extLst>
              <a:ext uri="{FF2B5EF4-FFF2-40B4-BE49-F238E27FC236}">
                <a16:creationId xmlns:a16="http://schemas.microsoft.com/office/drawing/2014/main" id="{3A5D5452-F230-423E-A124-C1D87B53D269}"/>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10</a:t>
            </a:r>
          </a:p>
        </p:txBody>
      </p:sp>
    </p:spTree>
    <p:extLst>
      <p:ext uri="{BB962C8B-B14F-4D97-AF65-F5344CB8AC3E}">
        <p14:creationId xmlns:p14="http://schemas.microsoft.com/office/powerpoint/2010/main" val="116109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50" name="Rectangle 149">
            <a:extLst>
              <a:ext uri="{FF2B5EF4-FFF2-40B4-BE49-F238E27FC236}">
                <a16:creationId xmlns:a16="http://schemas.microsoft.com/office/drawing/2014/main" id="{88EFD070-40B5-453E-B7E3-799A8AAD08E8}"/>
              </a:ext>
            </a:extLst>
          </p:cNvPr>
          <p:cNvSpPr>
            <a:spLocks noGrp="1"/>
          </p:cNvSpPr>
          <p:nvPr/>
        </p:nvSpPr>
        <p:spPr>
          <a:xfrm>
            <a:off x="666750" y="476250"/>
            <a:ext cx="10858500" cy="1190625"/>
          </a:xfrm>
          <a:prstGeom prst="rect">
            <a:avLst/>
          </a:prstGeom>
        </p:spPr>
        <p:txBody>
          <a:bodyPr lIns="0" tIns="0" rIns="0" bIns="0" anchor="ctr"/>
          <a:lstStyle/>
          <a:p>
            <a:pPr>
              <a:defRPr sz="3300">
                <a:solidFill>
                  <a:srgbClr val="182C30"/>
                </a:solidFill>
                <a:latin typeface="Georgia"/>
                <a:ea typeface="Georgia"/>
                <a:cs typeface="Georgia"/>
              </a:defRPr>
            </a:pPr>
            <a:r>
              <a:t>Test whether the diversity trend changes after release</a:t>
            </a:r>
          </a:p>
        </p:txBody>
      </p:sp>
      <p:sp>
        <p:nvSpPr>
          <p:cNvPr id="2" name="Rectangle 1">
            <a:extLst>
              <a:ext uri="{FF2B5EF4-FFF2-40B4-BE49-F238E27FC236}">
                <a16:creationId xmlns:a16="http://schemas.microsoft.com/office/drawing/2014/main" id="{975AC20C-9676-4B0B-84EB-8C0DA099C47B}"/>
              </a:ext>
            </a:extLst>
          </p:cNvPr>
          <p:cNvSpPr>
            <a:spLocks noGrp="1"/>
          </p:cNvSpPr>
          <p:nvPr/>
        </p:nvSpPr>
        <p:spPr>
          <a:xfrm>
            <a:off x="1428750" y="5143500"/>
            <a:ext cx="9525" cy="9525"/>
          </a:xfrm>
          <a:prstGeom prst="rect">
            <a:avLst/>
          </a:prstGeom>
          <a:noFill/>
          <a:ln w="0">
            <a:noFill/>
            <a:prstDash val="solid"/>
          </a:ln>
        </p:spPr>
      </p:sp>
      <p:sp>
        <p:nvSpPr>
          <p:cNvPr id="3" name="Rectangle 2">
            <a:extLst>
              <a:ext uri="{FF2B5EF4-FFF2-40B4-BE49-F238E27FC236}">
                <a16:creationId xmlns:a16="http://schemas.microsoft.com/office/drawing/2014/main" id="{73C0BD98-4E3C-49B7-AE25-C41829DB3992}"/>
              </a:ext>
            </a:extLst>
          </p:cNvPr>
          <p:cNvSpPr>
            <a:spLocks noGrp="1"/>
          </p:cNvSpPr>
          <p:nvPr/>
        </p:nvSpPr>
        <p:spPr>
          <a:xfrm>
            <a:off x="10953750" y="5143500"/>
            <a:ext cx="9525" cy="9525"/>
          </a:xfrm>
          <a:prstGeom prst="rect">
            <a:avLst/>
          </a:prstGeom>
          <a:noFill/>
          <a:ln w="0">
            <a:noFill/>
            <a:prstDash val="solid"/>
          </a:ln>
        </p:spPr>
      </p:sp>
      <p:cxnSp>
        <p:nvCxnSpPr>
          <p:cNvPr id="4" name="Straight Arrow Connector 3"/>
          <p:cNvCxnSpPr>
            <a:stCxn id="2" idx="3"/>
            <a:endCxn id="3" idx="1"/>
          </p:cNvCxnSpPr>
          <p:nvPr/>
        </p:nvCxnSpPr>
        <p:spPr>
          <a:xfrm>
            <a:off x="1438275" y="5148263"/>
            <a:ext cx="9515475" cy="0"/>
          </a:xfrm>
          <a:prstGeom prst="straightConnector1">
            <a:avLst/>
          </a:prstGeom>
          <a:ln w="19050">
            <a:solidFill>
              <a:srgbClr val="5D7073"/>
            </a:solidFill>
          </a:ln>
        </p:spPr>
      </p:cxnSp>
      <p:sp>
        <p:nvSpPr>
          <p:cNvPr id="5" name="Rectangle 4">
            <a:extLst>
              <a:ext uri="{FF2B5EF4-FFF2-40B4-BE49-F238E27FC236}">
                <a16:creationId xmlns:a16="http://schemas.microsoft.com/office/drawing/2014/main" id="{1826E3DE-5667-4EEB-A2D0-1408111A456E}"/>
              </a:ext>
            </a:extLst>
          </p:cNvPr>
          <p:cNvSpPr>
            <a:spLocks noGrp="1"/>
          </p:cNvSpPr>
          <p:nvPr/>
        </p:nvSpPr>
        <p:spPr>
          <a:xfrm>
            <a:off x="1428750" y="5143500"/>
            <a:ext cx="9525" cy="9525"/>
          </a:xfrm>
          <a:prstGeom prst="rect">
            <a:avLst/>
          </a:prstGeom>
          <a:noFill/>
          <a:ln w="0">
            <a:noFill/>
            <a:prstDash val="solid"/>
          </a:ln>
        </p:spPr>
      </p:sp>
      <p:sp>
        <p:nvSpPr>
          <p:cNvPr id="6" name="Rectangle 5">
            <a:extLst>
              <a:ext uri="{FF2B5EF4-FFF2-40B4-BE49-F238E27FC236}">
                <a16:creationId xmlns:a16="http://schemas.microsoft.com/office/drawing/2014/main" id="{1CBE4FF4-FAC9-4FA9-A92A-0B89D336004D}"/>
              </a:ext>
            </a:extLst>
          </p:cNvPr>
          <p:cNvSpPr>
            <a:spLocks noGrp="1"/>
          </p:cNvSpPr>
          <p:nvPr/>
        </p:nvSpPr>
        <p:spPr>
          <a:xfrm>
            <a:off x="1428750" y="1952625"/>
            <a:ext cx="9525" cy="9525"/>
          </a:xfrm>
          <a:prstGeom prst="rect">
            <a:avLst/>
          </a:prstGeom>
          <a:noFill/>
          <a:ln w="0">
            <a:noFill/>
            <a:prstDash val="solid"/>
          </a:ln>
        </p:spPr>
      </p:sp>
      <p:cxnSp>
        <p:nvCxnSpPr>
          <p:cNvPr id="7" name="Straight Arrow Connector 6"/>
          <p:cNvCxnSpPr>
            <a:stCxn id="5" idx="3"/>
            <a:endCxn id="6" idx="1"/>
          </p:cNvCxnSpPr>
          <p:nvPr/>
        </p:nvCxnSpPr>
        <p:spPr>
          <a:xfrm flipH="1" flipV="1">
            <a:off x="1428750" y="1957388"/>
            <a:ext cx="9525" cy="3190875"/>
          </a:xfrm>
          <a:prstGeom prst="straightConnector1">
            <a:avLst/>
          </a:prstGeom>
          <a:ln w="19050">
            <a:solidFill>
              <a:srgbClr val="5D7073"/>
            </a:solidFill>
          </a:ln>
        </p:spPr>
      </p:cxnSp>
      <p:sp>
        <p:nvSpPr>
          <p:cNvPr id="8" name="Rectangle 7">
            <a:extLst>
              <a:ext uri="{FF2B5EF4-FFF2-40B4-BE49-F238E27FC236}">
                <a16:creationId xmlns:a16="http://schemas.microsoft.com/office/drawing/2014/main" id="{6EF64170-7BC6-4322-B8F3-49C891A03BAB}"/>
              </a:ext>
            </a:extLst>
          </p:cNvPr>
          <p:cNvSpPr>
            <a:spLocks noGrp="1"/>
          </p:cNvSpPr>
          <p:nvPr/>
        </p:nvSpPr>
        <p:spPr>
          <a:xfrm>
            <a:off x="5087302" y="1952625"/>
            <a:ext cx="9525" cy="9525"/>
          </a:xfrm>
          <a:prstGeom prst="rect">
            <a:avLst/>
          </a:prstGeom>
          <a:noFill/>
          <a:ln w="0">
            <a:noFill/>
            <a:prstDash val="solid"/>
          </a:ln>
        </p:spPr>
      </p:sp>
      <p:sp>
        <p:nvSpPr>
          <p:cNvPr id="9" name="Rectangle 8">
            <a:extLst>
              <a:ext uri="{FF2B5EF4-FFF2-40B4-BE49-F238E27FC236}">
                <a16:creationId xmlns:a16="http://schemas.microsoft.com/office/drawing/2014/main" id="{92A9CB43-FCB6-466F-AECE-28EC587D6681}"/>
              </a:ext>
            </a:extLst>
          </p:cNvPr>
          <p:cNvSpPr>
            <a:spLocks noGrp="1"/>
          </p:cNvSpPr>
          <p:nvPr/>
        </p:nvSpPr>
        <p:spPr>
          <a:xfrm>
            <a:off x="5087302" y="5143500"/>
            <a:ext cx="9525" cy="9525"/>
          </a:xfrm>
          <a:prstGeom prst="rect">
            <a:avLst/>
          </a:prstGeom>
          <a:noFill/>
          <a:ln w="0">
            <a:noFill/>
            <a:prstDash val="solid"/>
          </a:ln>
        </p:spPr>
      </p:sp>
      <p:cxnSp>
        <p:nvCxnSpPr>
          <p:cNvPr id="10" name="Straight Arrow Connector 9"/>
          <p:cNvCxnSpPr>
            <a:stCxn id="8" idx="3"/>
            <a:endCxn id="9" idx="1"/>
          </p:cNvCxnSpPr>
          <p:nvPr/>
        </p:nvCxnSpPr>
        <p:spPr>
          <a:xfrm flipH="1">
            <a:off x="5087302" y="1957388"/>
            <a:ext cx="9525" cy="3190875"/>
          </a:xfrm>
          <a:prstGeom prst="straightConnector1">
            <a:avLst/>
          </a:prstGeom>
          <a:ln w="19050">
            <a:solidFill>
              <a:srgbClr val="BAC8C8"/>
            </a:solidFill>
          </a:ln>
        </p:spPr>
      </p:cxnSp>
      <p:sp>
        <p:nvSpPr>
          <p:cNvPr id="11" name="Rectangle 10">
            <a:extLst>
              <a:ext uri="{FF2B5EF4-FFF2-40B4-BE49-F238E27FC236}">
                <a16:creationId xmlns:a16="http://schemas.microsoft.com/office/drawing/2014/main" id="{BEBBCAC2-8E0A-44BB-8FA6-E21802A0A27D}"/>
              </a:ext>
            </a:extLst>
          </p:cNvPr>
          <p:cNvSpPr>
            <a:spLocks noGrp="1"/>
          </p:cNvSpPr>
          <p:nvPr/>
        </p:nvSpPr>
        <p:spPr>
          <a:xfrm>
            <a:off x="1428750" y="3319463"/>
            <a:ext cx="9525" cy="9525"/>
          </a:xfrm>
          <a:prstGeom prst="rect">
            <a:avLst/>
          </a:prstGeom>
          <a:noFill/>
          <a:ln w="0">
            <a:noFill/>
            <a:prstDash val="solid"/>
          </a:ln>
        </p:spPr>
      </p:sp>
      <p:sp>
        <p:nvSpPr>
          <p:cNvPr id="12" name="Rectangle 11">
            <a:extLst>
              <a:ext uri="{FF2B5EF4-FFF2-40B4-BE49-F238E27FC236}">
                <a16:creationId xmlns:a16="http://schemas.microsoft.com/office/drawing/2014/main" id="{28AB91EE-FCBC-42B6-AE45-F388C2A1491B}"/>
              </a:ext>
            </a:extLst>
          </p:cNvPr>
          <p:cNvSpPr>
            <a:spLocks noGrp="1"/>
          </p:cNvSpPr>
          <p:nvPr/>
        </p:nvSpPr>
        <p:spPr>
          <a:xfrm>
            <a:off x="5087302" y="2990850"/>
            <a:ext cx="9525" cy="9525"/>
          </a:xfrm>
          <a:prstGeom prst="rect">
            <a:avLst/>
          </a:prstGeom>
          <a:noFill/>
          <a:ln w="0">
            <a:noFill/>
            <a:prstDash val="solid"/>
          </a:ln>
        </p:spPr>
      </p:sp>
      <p:cxnSp>
        <p:nvCxnSpPr>
          <p:cNvPr id="13" name="Straight Arrow Connector 12"/>
          <p:cNvCxnSpPr>
            <a:stCxn id="11" idx="3"/>
            <a:endCxn id="12" idx="1"/>
          </p:cNvCxnSpPr>
          <p:nvPr/>
        </p:nvCxnSpPr>
        <p:spPr>
          <a:xfrm flipV="1">
            <a:off x="1438275" y="2995613"/>
            <a:ext cx="3649027" cy="328613"/>
          </a:xfrm>
          <a:prstGeom prst="straightConnector1">
            <a:avLst/>
          </a:prstGeom>
          <a:ln w="19050">
            <a:solidFill>
              <a:srgbClr val="006D77"/>
            </a:solidFill>
          </a:ln>
        </p:spPr>
      </p:cxnSp>
      <p:sp>
        <p:nvSpPr>
          <p:cNvPr id="14" name="Rectangle 13">
            <a:extLst>
              <a:ext uri="{FF2B5EF4-FFF2-40B4-BE49-F238E27FC236}">
                <a16:creationId xmlns:a16="http://schemas.microsoft.com/office/drawing/2014/main" id="{482B5EDB-7562-46FA-B605-9E983C3BD551}"/>
              </a:ext>
            </a:extLst>
          </p:cNvPr>
          <p:cNvSpPr>
            <a:spLocks noGrp="1"/>
          </p:cNvSpPr>
          <p:nvPr/>
        </p:nvSpPr>
        <p:spPr>
          <a:xfrm>
            <a:off x="5087302" y="3609975"/>
            <a:ext cx="9525" cy="9525"/>
          </a:xfrm>
          <a:prstGeom prst="rect">
            <a:avLst/>
          </a:prstGeom>
          <a:noFill/>
          <a:ln w="0">
            <a:noFill/>
            <a:prstDash val="solid"/>
          </a:ln>
        </p:spPr>
      </p:sp>
      <p:sp>
        <p:nvSpPr>
          <p:cNvPr id="15" name="Rectangle 14">
            <a:extLst>
              <a:ext uri="{FF2B5EF4-FFF2-40B4-BE49-F238E27FC236}">
                <a16:creationId xmlns:a16="http://schemas.microsoft.com/office/drawing/2014/main" id="{D01899CB-4514-4063-AE9F-24E6155179DB}"/>
              </a:ext>
            </a:extLst>
          </p:cNvPr>
          <p:cNvSpPr>
            <a:spLocks noGrp="1"/>
          </p:cNvSpPr>
          <p:nvPr/>
        </p:nvSpPr>
        <p:spPr>
          <a:xfrm>
            <a:off x="10813733" y="4501515"/>
            <a:ext cx="9525" cy="9525"/>
          </a:xfrm>
          <a:prstGeom prst="rect">
            <a:avLst/>
          </a:prstGeom>
          <a:noFill/>
          <a:ln w="0">
            <a:noFill/>
            <a:prstDash val="solid"/>
          </a:ln>
        </p:spPr>
      </p:sp>
      <p:cxnSp>
        <p:nvCxnSpPr>
          <p:cNvPr id="16" name="Straight Arrow Connector 15"/>
          <p:cNvCxnSpPr>
            <a:stCxn id="14" idx="3"/>
            <a:endCxn id="15" idx="1"/>
          </p:cNvCxnSpPr>
          <p:nvPr/>
        </p:nvCxnSpPr>
        <p:spPr>
          <a:xfrm>
            <a:off x="5096827" y="3614738"/>
            <a:ext cx="5716906" cy="891540"/>
          </a:xfrm>
          <a:prstGeom prst="straightConnector1">
            <a:avLst/>
          </a:prstGeom>
          <a:ln w="19050">
            <a:solidFill>
              <a:srgbClr val="B95C33"/>
            </a:solidFill>
          </a:ln>
        </p:spPr>
      </p:cxnSp>
      <p:sp>
        <p:nvSpPr>
          <p:cNvPr id="17" name="Rectangle 16">
            <a:extLst>
              <a:ext uri="{FF2B5EF4-FFF2-40B4-BE49-F238E27FC236}">
                <a16:creationId xmlns:a16="http://schemas.microsoft.com/office/drawing/2014/main" id="{5B237274-5210-430D-BE9C-EBFB293B7CF0}"/>
              </a:ext>
            </a:extLst>
          </p:cNvPr>
          <p:cNvSpPr>
            <a:spLocks noGrp="1"/>
          </p:cNvSpPr>
          <p:nvPr/>
        </p:nvSpPr>
        <p:spPr>
          <a:xfrm>
            <a:off x="5087302" y="2990850"/>
            <a:ext cx="9525" cy="9525"/>
          </a:xfrm>
          <a:prstGeom prst="rect">
            <a:avLst/>
          </a:prstGeom>
          <a:noFill/>
          <a:ln w="0">
            <a:noFill/>
            <a:prstDash val="solid"/>
          </a:ln>
        </p:spPr>
      </p:sp>
      <p:sp>
        <p:nvSpPr>
          <p:cNvPr id="18" name="Rectangle 17">
            <a:extLst>
              <a:ext uri="{FF2B5EF4-FFF2-40B4-BE49-F238E27FC236}">
                <a16:creationId xmlns:a16="http://schemas.microsoft.com/office/drawing/2014/main" id="{7A093130-105D-4A60-A471-BD575C3BA83E}"/>
              </a:ext>
            </a:extLst>
          </p:cNvPr>
          <p:cNvSpPr>
            <a:spLocks noGrp="1"/>
          </p:cNvSpPr>
          <p:nvPr/>
        </p:nvSpPr>
        <p:spPr>
          <a:xfrm>
            <a:off x="5246370" y="2976563"/>
            <a:ext cx="9525" cy="9525"/>
          </a:xfrm>
          <a:prstGeom prst="rect">
            <a:avLst/>
          </a:prstGeom>
          <a:noFill/>
          <a:ln w="0">
            <a:noFill/>
            <a:prstDash val="solid"/>
          </a:ln>
        </p:spPr>
      </p:sp>
      <p:cxnSp>
        <p:nvCxnSpPr>
          <p:cNvPr id="19" name="Straight Arrow Connector 18"/>
          <p:cNvCxnSpPr>
            <a:stCxn id="17" idx="3"/>
            <a:endCxn id="18" idx="1"/>
          </p:cNvCxnSpPr>
          <p:nvPr/>
        </p:nvCxnSpPr>
        <p:spPr>
          <a:xfrm flipV="1">
            <a:off x="5096827" y="2981326"/>
            <a:ext cx="149543" cy="14287"/>
          </a:xfrm>
          <a:prstGeom prst="straightConnector1">
            <a:avLst/>
          </a:prstGeom>
          <a:ln w="19050">
            <a:solidFill>
              <a:srgbClr val="5D7073"/>
            </a:solidFill>
          </a:ln>
        </p:spPr>
      </p:cxnSp>
      <p:sp>
        <p:nvSpPr>
          <p:cNvPr id="20" name="Rectangle 19">
            <a:extLst>
              <a:ext uri="{FF2B5EF4-FFF2-40B4-BE49-F238E27FC236}">
                <a16:creationId xmlns:a16="http://schemas.microsoft.com/office/drawing/2014/main" id="{4B4384D1-1E31-4F04-9C8A-E658E4A11825}"/>
              </a:ext>
            </a:extLst>
          </p:cNvPr>
          <p:cNvSpPr>
            <a:spLocks noGrp="1"/>
          </p:cNvSpPr>
          <p:nvPr/>
        </p:nvSpPr>
        <p:spPr>
          <a:xfrm>
            <a:off x="5405438" y="2962275"/>
            <a:ext cx="9525" cy="9525"/>
          </a:xfrm>
          <a:prstGeom prst="rect">
            <a:avLst/>
          </a:prstGeom>
          <a:noFill/>
          <a:ln w="0">
            <a:noFill/>
            <a:prstDash val="solid"/>
          </a:ln>
        </p:spPr>
      </p:sp>
      <p:sp>
        <p:nvSpPr>
          <p:cNvPr id="21" name="Rectangle 20">
            <a:extLst>
              <a:ext uri="{FF2B5EF4-FFF2-40B4-BE49-F238E27FC236}">
                <a16:creationId xmlns:a16="http://schemas.microsoft.com/office/drawing/2014/main" id="{F517890C-F561-4155-B9F9-36A72C1D7DC0}"/>
              </a:ext>
            </a:extLst>
          </p:cNvPr>
          <p:cNvSpPr>
            <a:spLocks noGrp="1"/>
          </p:cNvSpPr>
          <p:nvPr/>
        </p:nvSpPr>
        <p:spPr>
          <a:xfrm>
            <a:off x="5564505" y="2947988"/>
            <a:ext cx="9525" cy="9525"/>
          </a:xfrm>
          <a:prstGeom prst="rect">
            <a:avLst/>
          </a:prstGeom>
          <a:noFill/>
          <a:ln w="0">
            <a:noFill/>
            <a:prstDash val="solid"/>
          </a:ln>
        </p:spPr>
      </p:sp>
      <p:cxnSp>
        <p:nvCxnSpPr>
          <p:cNvPr id="22" name="Straight Arrow Connector 21"/>
          <p:cNvCxnSpPr>
            <a:stCxn id="20" idx="3"/>
            <a:endCxn id="21" idx="1"/>
          </p:cNvCxnSpPr>
          <p:nvPr/>
        </p:nvCxnSpPr>
        <p:spPr>
          <a:xfrm flipV="1">
            <a:off x="5414963" y="2952751"/>
            <a:ext cx="149542" cy="14287"/>
          </a:xfrm>
          <a:prstGeom prst="straightConnector1">
            <a:avLst/>
          </a:prstGeom>
          <a:ln w="19050">
            <a:solidFill>
              <a:srgbClr val="5D7073"/>
            </a:solidFill>
          </a:ln>
        </p:spPr>
      </p:cxnSp>
      <p:sp>
        <p:nvSpPr>
          <p:cNvPr id="23" name="Rectangle 22">
            <a:extLst>
              <a:ext uri="{FF2B5EF4-FFF2-40B4-BE49-F238E27FC236}">
                <a16:creationId xmlns:a16="http://schemas.microsoft.com/office/drawing/2014/main" id="{26282131-A216-4D9E-BF9D-1589B8A11133}"/>
              </a:ext>
            </a:extLst>
          </p:cNvPr>
          <p:cNvSpPr>
            <a:spLocks noGrp="1"/>
          </p:cNvSpPr>
          <p:nvPr/>
        </p:nvSpPr>
        <p:spPr>
          <a:xfrm>
            <a:off x="5723573" y="2933700"/>
            <a:ext cx="9525" cy="9525"/>
          </a:xfrm>
          <a:prstGeom prst="rect">
            <a:avLst/>
          </a:prstGeom>
          <a:noFill/>
          <a:ln w="0">
            <a:noFill/>
            <a:prstDash val="solid"/>
          </a:ln>
        </p:spPr>
      </p:sp>
      <p:sp>
        <p:nvSpPr>
          <p:cNvPr id="24" name="Rectangle 23">
            <a:extLst>
              <a:ext uri="{FF2B5EF4-FFF2-40B4-BE49-F238E27FC236}">
                <a16:creationId xmlns:a16="http://schemas.microsoft.com/office/drawing/2014/main" id="{FA8CAE12-866A-40E4-A3FB-CB8082F911DD}"/>
              </a:ext>
            </a:extLst>
          </p:cNvPr>
          <p:cNvSpPr>
            <a:spLocks noGrp="1"/>
          </p:cNvSpPr>
          <p:nvPr/>
        </p:nvSpPr>
        <p:spPr>
          <a:xfrm>
            <a:off x="5882640" y="2919413"/>
            <a:ext cx="9525" cy="9525"/>
          </a:xfrm>
          <a:prstGeom prst="rect">
            <a:avLst/>
          </a:prstGeom>
          <a:noFill/>
          <a:ln w="0">
            <a:noFill/>
            <a:prstDash val="solid"/>
          </a:ln>
        </p:spPr>
      </p:sp>
      <p:cxnSp>
        <p:nvCxnSpPr>
          <p:cNvPr id="25" name="Straight Arrow Connector 24"/>
          <p:cNvCxnSpPr>
            <a:stCxn id="23" idx="3"/>
            <a:endCxn id="24" idx="1"/>
          </p:cNvCxnSpPr>
          <p:nvPr/>
        </p:nvCxnSpPr>
        <p:spPr>
          <a:xfrm flipV="1">
            <a:off x="5733098" y="2924176"/>
            <a:ext cx="149542" cy="14287"/>
          </a:xfrm>
          <a:prstGeom prst="straightConnector1">
            <a:avLst/>
          </a:prstGeom>
          <a:ln w="19050">
            <a:solidFill>
              <a:srgbClr val="5D7073"/>
            </a:solidFill>
          </a:ln>
        </p:spPr>
      </p:cxnSp>
      <p:sp>
        <p:nvSpPr>
          <p:cNvPr id="26" name="Rectangle 25">
            <a:extLst>
              <a:ext uri="{FF2B5EF4-FFF2-40B4-BE49-F238E27FC236}">
                <a16:creationId xmlns:a16="http://schemas.microsoft.com/office/drawing/2014/main" id="{C3EC88D5-7B57-458A-AD03-1F656BB91B95}"/>
              </a:ext>
            </a:extLst>
          </p:cNvPr>
          <p:cNvSpPr>
            <a:spLocks noGrp="1"/>
          </p:cNvSpPr>
          <p:nvPr/>
        </p:nvSpPr>
        <p:spPr>
          <a:xfrm>
            <a:off x="6041708" y="2905125"/>
            <a:ext cx="9525" cy="9525"/>
          </a:xfrm>
          <a:prstGeom prst="rect">
            <a:avLst/>
          </a:prstGeom>
          <a:noFill/>
          <a:ln w="0">
            <a:noFill/>
            <a:prstDash val="solid"/>
          </a:ln>
        </p:spPr>
      </p:sp>
      <p:sp>
        <p:nvSpPr>
          <p:cNvPr id="27" name="Rectangle 26">
            <a:extLst>
              <a:ext uri="{FF2B5EF4-FFF2-40B4-BE49-F238E27FC236}">
                <a16:creationId xmlns:a16="http://schemas.microsoft.com/office/drawing/2014/main" id="{9F613C02-BECF-41A0-BED7-82CA30FB0617}"/>
              </a:ext>
            </a:extLst>
          </p:cNvPr>
          <p:cNvSpPr>
            <a:spLocks noGrp="1"/>
          </p:cNvSpPr>
          <p:nvPr/>
        </p:nvSpPr>
        <p:spPr>
          <a:xfrm>
            <a:off x="6200775" y="2890838"/>
            <a:ext cx="9525" cy="9525"/>
          </a:xfrm>
          <a:prstGeom prst="rect">
            <a:avLst/>
          </a:prstGeom>
          <a:noFill/>
          <a:ln w="0">
            <a:noFill/>
            <a:prstDash val="solid"/>
          </a:ln>
        </p:spPr>
      </p:sp>
      <p:cxnSp>
        <p:nvCxnSpPr>
          <p:cNvPr id="28" name="Straight Arrow Connector 27"/>
          <p:cNvCxnSpPr>
            <a:stCxn id="26" idx="3"/>
            <a:endCxn id="27" idx="1"/>
          </p:cNvCxnSpPr>
          <p:nvPr/>
        </p:nvCxnSpPr>
        <p:spPr>
          <a:xfrm flipV="1">
            <a:off x="6051233" y="2895601"/>
            <a:ext cx="149542" cy="14287"/>
          </a:xfrm>
          <a:prstGeom prst="straightConnector1">
            <a:avLst/>
          </a:prstGeom>
          <a:ln w="19050">
            <a:solidFill>
              <a:srgbClr val="5D7073"/>
            </a:solidFill>
          </a:ln>
        </p:spPr>
      </p:cxnSp>
      <p:sp>
        <p:nvSpPr>
          <p:cNvPr id="29" name="Rectangle 28">
            <a:extLst>
              <a:ext uri="{FF2B5EF4-FFF2-40B4-BE49-F238E27FC236}">
                <a16:creationId xmlns:a16="http://schemas.microsoft.com/office/drawing/2014/main" id="{FCA6EBA6-5AC2-46B0-9A72-5F2CCC94A725}"/>
              </a:ext>
            </a:extLst>
          </p:cNvPr>
          <p:cNvSpPr>
            <a:spLocks noGrp="1"/>
          </p:cNvSpPr>
          <p:nvPr/>
        </p:nvSpPr>
        <p:spPr>
          <a:xfrm>
            <a:off x="6359842" y="2876550"/>
            <a:ext cx="9525" cy="9525"/>
          </a:xfrm>
          <a:prstGeom prst="rect">
            <a:avLst/>
          </a:prstGeom>
          <a:noFill/>
          <a:ln w="0">
            <a:noFill/>
            <a:prstDash val="solid"/>
          </a:ln>
        </p:spPr>
      </p:sp>
      <p:sp>
        <p:nvSpPr>
          <p:cNvPr id="30" name="Rectangle 29">
            <a:extLst>
              <a:ext uri="{FF2B5EF4-FFF2-40B4-BE49-F238E27FC236}">
                <a16:creationId xmlns:a16="http://schemas.microsoft.com/office/drawing/2014/main" id="{FBB4F406-4448-4754-8368-066A913E089A}"/>
              </a:ext>
            </a:extLst>
          </p:cNvPr>
          <p:cNvSpPr>
            <a:spLocks noGrp="1"/>
          </p:cNvSpPr>
          <p:nvPr/>
        </p:nvSpPr>
        <p:spPr>
          <a:xfrm>
            <a:off x="6518910" y="2862263"/>
            <a:ext cx="9525" cy="9525"/>
          </a:xfrm>
          <a:prstGeom prst="rect">
            <a:avLst/>
          </a:prstGeom>
          <a:noFill/>
          <a:ln w="0">
            <a:noFill/>
            <a:prstDash val="solid"/>
          </a:ln>
        </p:spPr>
      </p:sp>
      <p:cxnSp>
        <p:nvCxnSpPr>
          <p:cNvPr id="31" name="Straight Arrow Connector 30"/>
          <p:cNvCxnSpPr>
            <a:stCxn id="29" idx="3"/>
            <a:endCxn id="30" idx="1"/>
          </p:cNvCxnSpPr>
          <p:nvPr/>
        </p:nvCxnSpPr>
        <p:spPr>
          <a:xfrm flipV="1">
            <a:off x="6369367" y="2867026"/>
            <a:ext cx="149543" cy="14287"/>
          </a:xfrm>
          <a:prstGeom prst="straightConnector1">
            <a:avLst/>
          </a:prstGeom>
          <a:ln w="19050">
            <a:solidFill>
              <a:srgbClr val="5D7073"/>
            </a:solidFill>
          </a:ln>
        </p:spPr>
      </p:cxnSp>
      <p:sp>
        <p:nvSpPr>
          <p:cNvPr id="32" name="Rectangle 31">
            <a:extLst>
              <a:ext uri="{FF2B5EF4-FFF2-40B4-BE49-F238E27FC236}">
                <a16:creationId xmlns:a16="http://schemas.microsoft.com/office/drawing/2014/main" id="{74166882-6ECC-4AD4-B9E2-A4D2E980FF81}"/>
              </a:ext>
            </a:extLst>
          </p:cNvPr>
          <p:cNvSpPr>
            <a:spLocks noGrp="1"/>
          </p:cNvSpPr>
          <p:nvPr/>
        </p:nvSpPr>
        <p:spPr>
          <a:xfrm>
            <a:off x="6677978" y="2847975"/>
            <a:ext cx="9525" cy="9525"/>
          </a:xfrm>
          <a:prstGeom prst="rect">
            <a:avLst/>
          </a:prstGeom>
          <a:noFill/>
          <a:ln w="0">
            <a:noFill/>
            <a:prstDash val="solid"/>
          </a:ln>
        </p:spPr>
      </p:sp>
      <p:sp>
        <p:nvSpPr>
          <p:cNvPr id="33" name="Rectangle 32">
            <a:extLst>
              <a:ext uri="{FF2B5EF4-FFF2-40B4-BE49-F238E27FC236}">
                <a16:creationId xmlns:a16="http://schemas.microsoft.com/office/drawing/2014/main" id="{B5D24A62-9FE2-4837-A20F-D19903D8751E}"/>
              </a:ext>
            </a:extLst>
          </p:cNvPr>
          <p:cNvSpPr>
            <a:spLocks noGrp="1"/>
          </p:cNvSpPr>
          <p:nvPr/>
        </p:nvSpPr>
        <p:spPr>
          <a:xfrm>
            <a:off x="6837045" y="2833688"/>
            <a:ext cx="9525" cy="9525"/>
          </a:xfrm>
          <a:prstGeom prst="rect">
            <a:avLst/>
          </a:prstGeom>
          <a:noFill/>
          <a:ln w="0">
            <a:noFill/>
            <a:prstDash val="solid"/>
          </a:ln>
        </p:spPr>
      </p:sp>
      <p:cxnSp>
        <p:nvCxnSpPr>
          <p:cNvPr id="34" name="Straight Arrow Connector 33"/>
          <p:cNvCxnSpPr>
            <a:stCxn id="32" idx="3"/>
            <a:endCxn id="33" idx="1"/>
          </p:cNvCxnSpPr>
          <p:nvPr/>
        </p:nvCxnSpPr>
        <p:spPr>
          <a:xfrm flipV="1">
            <a:off x="6687503" y="2838451"/>
            <a:ext cx="149542" cy="14287"/>
          </a:xfrm>
          <a:prstGeom prst="straightConnector1">
            <a:avLst/>
          </a:prstGeom>
          <a:ln w="19050">
            <a:solidFill>
              <a:srgbClr val="5D7073"/>
            </a:solidFill>
          </a:ln>
        </p:spPr>
      </p:cxnSp>
      <p:sp>
        <p:nvSpPr>
          <p:cNvPr id="35" name="Rectangle 34">
            <a:extLst>
              <a:ext uri="{FF2B5EF4-FFF2-40B4-BE49-F238E27FC236}">
                <a16:creationId xmlns:a16="http://schemas.microsoft.com/office/drawing/2014/main" id="{60778774-370D-4A0A-B195-6A0674DEBDFB}"/>
              </a:ext>
            </a:extLst>
          </p:cNvPr>
          <p:cNvSpPr>
            <a:spLocks noGrp="1"/>
          </p:cNvSpPr>
          <p:nvPr/>
        </p:nvSpPr>
        <p:spPr>
          <a:xfrm>
            <a:off x="6996113" y="2819400"/>
            <a:ext cx="9525" cy="9525"/>
          </a:xfrm>
          <a:prstGeom prst="rect">
            <a:avLst/>
          </a:prstGeom>
          <a:noFill/>
          <a:ln w="0">
            <a:noFill/>
            <a:prstDash val="solid"/>
          </a:ln>
        </p:spPr>
      </p:sp>
      <p:sp>
        <p:nvSpPr>
          <p:cNvPr id="36" name="Rectangle 35">
            <a:extLst>
              <a:ext uri="{FF2B5EF4-FFF2-40B4-BE49-F238E27FC236}">
                <a16:creationId xmlns:a16="http://schemas.microsoft.com/office/drawing/2014/main" id="{09C686B1-8EE9-42EF-B9CE-33A8364389E5}"/>
              </a:ext>
            </a:extLst>
          </p:cNvPr>
          <p:cNvSpPr>
            <a:spLocks noGrp="1"/>
          </p:cNvSpPr>
          <p:nvPr/>
        </p:nvSpPr>
        <p:spPr>
          <a:xfrm>
            <a:off x="7155180" y="2805113"/>
            <a:ext cx="9525" cy="9525"/>
          </a:xfrm>
          <a:prstGeom prst="rect">
            <a:avLst/>
          </a:prstGeom>
          <a:noFill/>
          <a:ln w="0">
            <a:noFill/>
            <a:prstDash val="solid"/>
          </a:ln>
        </p:spPr>
      </p:sp>
      <p:cxnSp>
        <p:nvCxnSpPr>
          <p:cNvPr id="37" name="Straight Arrow Connector 36"/>
          <p:cNvCxnSpPr>
            <a:stCxn id="35" idx="3"/>
            <a:endCxn id="36" idx="1"/>
          </p:cNvCxnSpPr>
          <p:nvPr/>
        </p:nvCxnSpPr>
        <p:spPr>
          <a:xfrm flipV="1">
            <a:off x="7005638" y="2809876"/>
            <a:ext cx="149542" cy="14287"/>
          </a:xfrm>
          <a:prstGeom prst="straightConnector1">
            <a:avLst/>
          </a:prstGeom>
          <a:ln w="19050">
            <a:solidFill>
              <a:srgbClr val="5D7073"/>
            </a:solidFill>
          </a:ln>
        </p:spPr>
      </p:cxnSp>
      <p:sp>
        <p:nvSpPr>
          <p:cNvPr id="38" name="Rectangle 37">
            <a:extLst>
              <a:ext uri="{FF2B5EF4-FFF2-40B4-BE49-F238E27FC236}">
                <a16:creationId xmlns:a16="http://schemas.microsoft.com/office/drawing/2014/main" id="{D6B44A30-E271-4ADD-9D75-0CC815F2934C}"/>
              </a:ext>
            </a:extLst>
          </p:cNvPr>
          <p:cNvSpPr>
            <a:spLocks noGrp="1"/>
          </p:cNvSpPr>
          <p:nvPr/>
        </p:nvSpPr>
        <p:spPr>
          <a:xfrm>
            <a:off x="7314248" y="2790825"/>
            <a:ext cx="9525" cy="9525"/>
          </a:xfrm>
          <a:prstGeom prst="rect">
            <a:avLst/>
          </a:prstGeom>
          <a:noFill/>
          <a:ln w="0">
            <a:noFill/>
            <a:prstDash val="solid"/>
          </a:ln>
        </p:spPr>
      </p:sp>
      <p:sp>
        <p:nvSpPr>
          <p:cNvPr id="39" name="Rectangle 38">
            <a:extLst>
              <a:ext uri="{FF2B5EF4-FFF2-40B4-BE49-F238E27FC236}">
                <a16:creationId xmlns:a16="http://schemas.microsoft.com/office/drawing/2014/main" id="{1A0821B6-A02F-4447-9779-0B0898871EF6}"/>
              </a:ext>
            </a:extLst>
          </p:cNvPr>
          <p:cNvSpPr>
            <a:spLocks noGrp="1"/>
          </p:cNvSpPr>
          <p:nvPr/>
        </p:nvSpPr>
        <p:spPr>
          <a:xfrm>
            <a:off x="7473315" y="2776538"/>
            <a:ext cx="9525" cy="9525"/>
          </a:xfrm>
          <a:prstGeom prst="rect">
            <a:avLst/>
          </a:prstGeom>
          <a:noFill/>
          <a:ln w="0">
            <a:noFill/>
            <a:prstDash val="solid"/>
          </a:ln>
        </p:spPr>
      </p:sp>
      <p:cxnSp>
        <p:nvCxnSpPr>
          <p:cNvPr id="40" name="Straight Arrow Connector 39"/>
          <p:cNvCxnSpPr>
            <a:stCxn id="38" idx="3"/>
            <a:endCxn id="39" idx="1"/>
          </p:cNvCxnSpPr>
          <p:nvPr/>
        </p:nvCxnSpPr>
        <p:spPr>
          <a:xfrm flipV="1">
            <a:off x="7323773" y="2781301"/>
            <a:ext cx="149542" cy="14287"/>
          </a:xfrm>
          <a:prstGeom prst="straightConnector1">
            <a:avLst/>
          </a:prstGeom>
          <a:ln w="19050">
            <a:solidFill>
              <a:srgbClr val="5D7073"/>
            </a:solidFill>
          </a:ln>
        </p:spPr>
      </p:cxnSp>
      <p:sp>
        <p:nvSpPr>
          <p:cNvPr id="41" name="Rectangle 40">
            <a:extLst>
              <a:ext uri="{FF2B5EF4-FFF2-40B4-BE49-F238E27FC236}">
                <a16:creationId xmlns:a16="http://schemas.microsoft.com/office/drawing/2014/main" id="{F0A72486-C8DA-478A-AC3A-B76DD0AD6218}"/>
              </a:ext>
            </a:extLst>
          </p:cNvPr>
          <p:cNvSpPr>
            <a:spLocks noGrp="1"/>
          </p:cNvSpPr>
          <p:nvPr/>
        </p:nvSpPr>
        <p:spPr>
          <a:xfrm>
            <a:off x="7632383" y="2762250"/>
            <a:ext cx="9525" cy="9525"/>
          </a:xfrm>
          <a:prstGeom prst="rect">
            <a:avLst/>
          </a:prstGeom>
          <a:noFill/>
          <a:ln w="0">
            <a:noFill/>
            <a:prstDash val="solid"/>
          </a:ln>
        </p:spPr>
      </p:sp>
      <p:sp>
        <p:nvSpPr>
          <p:cNvPr id="42" name="Rectangle 41">
            <a:extLst>
              <a:ext uri="{FF2B5EF4-FFF2-40B4-BE49-F238E27FC236}">
                <a16:creationId xmlns:a16="http://schemas.microsoft.com/office/drawing/2014/main" id="{51FA9807-0D38-4D78-A06D-2FA8D3D84A01}"/>
              </a:ext>
            </a:extLst>
          </p:cNvPr>
          <p:cNvSpPr>
            <a:spLocks noGrp="1"/>
          </p:cNvSpPr>
          <p:nvPr/>
        </p:nvSpPr>
        <p:spPr>
          <a:xfrm>
            <a:off x="7791450" y="2747963"/>
            <a:ext cx="9525" cy="9525"/>
          </a:xfrm>
          <a:prstGeom prst="rect">
            <a:avLst/>
          </a:prstGeom>
          <a:noFill/>
          <a:ln w="0">
            <a:noFill/>
            <a:prstDash val="solid"/>
          </a:ln>
        </p:spPr>
      </p:sp>
      <p:cxnSp>
        <p:nvCxnSpPr>
          <p:cNvPr id="43" name="Straight Arrow Connector 42"/>
          <p:cNvCxnSpPr>
            <a:stCxn id="41" idx="3"/>
            <a:endCxn id="42" idx="1"/>
          </p:cNvCxnSpPr>
          <p:nvPr/>
        </p:nvCxnSpPr>
        <p:spPr>
          <a:xfrm flipV="1">
            <a:off x="7641908" y="2752726"/>
            <a:ext cx="149542" cy="14287"/>
          </a:xfrm>
          <a:prstGeom prst="straightConnector1">
            <a:avLst/>
          </a:prstGeom>
          <a:ln w="19050">
            <a:solidFill>
              <a:srgbClr val="5D7073"/>
            </a:solidFill>
          </a:ln>
        </p:spPr>
      </p:cxnSp>
      <p:sp>
        <p:nvSpPr>
          <p:cNvPr id="44" name="Rectangle 43">
            <a:extLst>
              <a:ext uri="{FF2B5EF4-FFF2-40B4-BE49-F238E27FC236}">
                <a16:creationId xmlns:a16="http://schemas.microsoft.com/office/drawing/2014/main" id="{0ACABDF9-A00E-4657-8568-00172CC7BF39}"/>
              </a:ext>
            </a:extLst>
          </p:cNvPr>
          <p:cNvSpPr>
            <a:spLocks noGrp="1"/>
          </p:cNvSpPr>
          <p:nvPr/>
        </p:nvSpPr>
        <p:spPr>
          <a:xfrm>
            <a:off x="7950517" y="2733675"/>
            <a:ext cx="9525" cy="9525"/>
          </a:xfrm>
          <a:prstGeom prst="rect">
            <a:avLst/>
          </a:prstGeom>
          <a:noFill/>
          <a:ln w="0">
            <a:noFill/>
            <a:prstDash val="solid"/>
          </a:ln>
        </p:spPr>
      </p:sp>
      <p:sp>
        <p:nvSpPr>
          <p:cNvPr id="45" name="Rectangle 44">
            <a:extLst>
              <a:ext uri="{FF2B5EF4-FFF2-40B4-BE49-F238E27FC236}">
                <a16:creationId xmlns:a16="http://schemas.microsoft.com/office/drawing/2014/main" id="{649F6BD7-5929-4916-B2D6-ACFF89DE00C2}"/>
              </a:ext>
            </a:extLst>
          </p:cNvPr>
          <p:cNvSpPr>
            <a:spLocks noGrp="1"/>
          </p:cNvSpPr>
          <p:nvPr/>
        </p:nvSpPr>
        <p:spPr>
          <a:xfrm>
            <a:off x="8109585" y="2719388"/>
            <a:ext cx="9525" cy="9525"/>
          </a:xfrm>
          <a:prstGeom prst="rect">
            <a:avLst/>
          </a:prstGeom>
          <a:noFill/>
          <a:ln w="0">
            <a:noFill/>
            <a:prstDash val="solid"/>
          </a:ln>
        </p:spPr>
      </p:sp>
      <p:cxnSp>
        <p:nvCxnSpPr>
          <p:cNvPr id="46" name="Straight Arrow Connector 45"/>
          <p:cNvCxnSpPr>
            <a:stCxn id="44" idx="3"/>
            <a:endCxn id="45" idx="1"/>
          </p:cNvCxnSpPr>
          <p:nvPr/>
        </p:nvCxnSpPr>
        <p:spPr>
          <a:xfrm flipV="1">
            <a:off x="7960042" y="2724151"/>
            <a:ext cx="149543" cy="14287"/>
          </a:xfrm>
          <a:prstGeom prst="straightConnector1">
            <a:avLst/>
          </a:prstGeom>
          <a:ln w="19050">
            <a:solidFill>
              <a:srgbClr val="5D7073"/>
            </a:solidFill>
          </a:ln>
        </p:spPr>
      </p:cxnSp>
      <p:sp>
        <p:nvSpPr>
          <p:cNvPr id="47" name="Rectangle 46">
            <a:extLst>
              <a:ext uri="{FF2B5EF4-FFF2-40B4-BE49-F238E27FC236}">
                <a16:creationId xmlns:a16="http://schemas.microsoft.com/office/drawing/2014/main" id="{CD53A1B0-F4C6-4796-A044-5BD92E042440}"/>
              </a:ext>
            </a:extLst>
          </p:cNvPr>
          <p:cNvSpPr>
            <a:spLocks noGrp="1"/>
          </p:cNvSpPr>
          <p:nvPr/>
        </p:nvSpPr>
        <p:spPr>
          <a:xfrm>
            <a:off x="8268653" y="2705100"/>
            <a:ext cx="9525" cy="9525"/>
          </a:xfrm>
          <a:prstGeom prst="rect">
            <a:avLst/>
          </a:prstGeom>
          <a:noFill/>
          <a:ln w="0">
            <a:noFill/>
            <a:prstDash val="solid"/>
          </a:ln>
        </p:spPr>
      </p:sp>
      <p:sp>
        <p:nvSpPr>
          <p:cNvPr id="48" name="Rectangle 47">
            <a:extLst>
              <a:ext uri="{FF2B5EF4-FFF2-40B4-BE49-F238E27FC236}">
                <a16:creationId xmlns:a16="http://schemas.microsoft.com/office/drawing/2014/main" id="{99524F2A-9A72-4B79-97B7-704C3355C033}"/>
              </a:ext>
            </a:extLst>
          </p:cNvPr>
          <p:cNvSpPr>
            <a:spLocks noGrp="1"/>
          </p:cNvSpPr>
          <p:nvPr/>
        </p:nvSpPr>
        <p:spPr>
          <a:xfrm>
            <a:off x="8427720" y="2690813"/>
            <a:ext cx="9525" cy="9525"/>
          </a:xfrm>
          <a:prstGeom prst="rect">
            <a:avLst/>
          </a:prstGeom>
          <a:noFill/>
          <a:ln w="0">
            <a:noFill/>
            <a:prstDash val="solid"/>
          </a:ln>
        </p:spPr>
      </p:sp>
      <p:cxnSp>
        <p:nvCxnSpPr>
          <p:cNvPr id="49" name="Straight Arrow Connector 48"/>
          <p:cNvCxnSpPr>
            <a:stCxn id="47" idx="3"/>
            <a:endCxn id="48" idx="1"/>
          </p:cNvCxnSpPr>
          <p:nvPr/>
        </p:nvCxnSpPr>
        <p:spPr>
          <a:xfrm flipV="1">
            <a:off x="8278178" y="2695576"/>
            <a:ext cx="149542" cy="14287"/>
          </a:xfrm>
          <a:prstGeom prst="straightConnector1">
            <a:avLst/>
          </a:prstGeom>
          <a:ln w="19050">
            <a:solidFill>
              <a:srgbClr val="5D7073"/>
            </a:solidFill>
          </a:ln>
        </p:spPr>
      </p:cxnSp>
      <p:sp>
        <p:nvSpPr>
          <p:cNvPr id="50" name="Rectangle 49">
            <a:extLst>
              <a:ext uri="{FF2B5EF4-FFF2-40B4-BE49-F238E27FC236}">
                <a16:creationId xmlns:a16="http://schemas.microsoft.com/office/drawing/2014/main" id="{2FC8BE17-D49C-4064-A857-BA9C224108C3}"/>
              </a:ext>
            </a:extLst>
          </p:cNvPr>
          <p:cNvSpPr>
            <a:spLocks noGrp="1"/>
          </p:cNvSpPr>
          <p:nvPr/>
        </p:nvSpPr>
        <p:spPr>
          <a:xfrm>
            <a:off x="8586788" y="2676525"/>
            <a:ext cx="9525" cy="9525"/>
          </a:xfrm>
          <a:prstGeom prst="rect">
            <a:avLst/>
          </a:prstGeom>
          <a:noFill/>
          <a:ln w="0">
            <a:noFill/>
            <a:prstDash val="solid"/>
          </a:ln>
        </p:spPr>
      </p:sp>
      <p:sp>
        <p:nvSpPr>
          <p:cNvPr id="51" name="Rectangle 50">
            <a:extLst>
              <a:ext uri="{FF2B5EF4-FFF2-40B4-BE49-F238E27FC236}">
                <a16:creationId xmlns:a16="http://schemas.microsoft.com/office/drawing/2014/main" id="{323781F6-92B7-4FB4-B160-39BA2A348EF9}"/>
              </a:ext>
            </a:extLst>
          </p:cNvPr>
          <p:cNvSpPr>
            <a:spLocks noGrp="1"/>
          </p:cNvSpPr>
          <p:nvPr/>
        </p:nvSpPr>
        <p:spPr>
          <a:xfrm>
            <a:off x="8745855" y="2662238"/>
            <a:ext cx="9525" cy="9525"/>
          </a:xfrm>
          <a:prstGeom prst="rect">
            <a:avLst/>
          </a:prstGeom>
          <a:noFill/>
          <a:ln w="0">
            <a:noFill/>
            <a:prstDash val="solid"/>
          </a:ln>
        </p:spPr>
      </p:sp>
      <p:cxnSp>
        <p:nvCxnSpPr>
          <p:cNvPr id="52" name="Straight Arrow Connector 51"/>
          <p:cNvCxnSpPr>
            <a:stCxn id="50" idx="3"/>
            <a:endCxn id="51" idx="1"/>
          </p:cNvCxnSpPr>
          <p:nvPr/>
        </p:nvCxnSpPr>
        <p:spPr>
          <a:xfrm flipV="1">
            <a:off x="8596313" y="2667001"/>
            <a:ext cx="149542" cy="14287"/>
          </a:xfrm>
          <a:prstGeom prst="straightConnector1">
            <a:avLst/>
          </a:prstGeom>
          <a:ln w="19050">
            <a:solidFill>
              <a:srgbClr val="5D7073"/>
            </a:solidFill>
          </a:ln>
        </p:spPr>
      </p:cxnSp>
      <p:sp>
        <p:nvSpPr>
          <p:cNvPr id="53" name="Rectangle 52">
            <a:extLst>
              <a:ext uri="{FF2B5EF4-FFF2-40B4-BE49-F238E27FC236}">
                <a16:creationId xmlns:a16="http://schemas.microsoft.com/office/drawing/2014/main" id="{C33CD808-9804-42BD-BCB2-AE3D7E58CEA2}"/>
              </a:ext>
            </a:extLst>
          </p:cNvPr>
          <p:cNvSpPr>
            <a:spLocks noGrp="1"/>
          </p:cNvSpPr>
          <p:nvPr/>
        </p:nvSpPr>
        <p:spPr>
          <a:xfrm>
            <a:off x="8904923" y="2647950"/>
            <a:ext cx="9525" cy="9525"/>
          </a:xfrm>
          <a:prstGeom prst="rect">
            <a:avLst/>
          </a:prstGeom>
          <a:noFill/>
          <a:ln w="0">
            <a:noFill/>
            <a:prstDash val="solid"/>
          </a:ln>
        </p:spPr>
      </p:sp>
      <p:sp>
        <p:nvSpPr>
          <p:cNvPr id="54" name="Rectangle 53">
            <a:extLst>
              <a:ext uri="{FF2B5EF4-FFF2-40B4-BE49-F238E27FC236}">
                <a16:creationId xmlns:a16="http://schemas.microsoft.com/office/drawing/2014/main" id="{B3EBF179-EB20-4F3A-B051-C44CBB51969D}"/>
              </a:ext>
            </a:extLst>
          </p:cNvPr>
          <p:cNvSpPr>
            <a:spLocks noGrp="1"/>
          </p:cNvSpPr>
          <p:nvPr/>
        </p:nvSpPr>
        <p:spPr>
          <a:xfrm>
            <a:off x="9063990" y="2633663"/>
            <a:ext cx="9525" cy="9525"/>
          </a:xfrm>
          <a:prstGeom prst="rect">
            <a:avLst/>
          </a:prstGeom>
          <a:noFill/>
          <a:ln w="0">
            <a:noFill/>
            <a:prstDash val="solid"/>
          </a:ln>
        </p:spPr>
      </p:sp>
      <p:cxnSp>
        <p:nvCxnSpPr>
          <p:cNvPr id="55" name="Straight Arrow Connector 54"/>
          <p:cNvCxnSpPr>
            <a:stCxn id="53" idx="3"/>
            <a:endCxn id="54" idx="1"/>
          </p:cNvCxnSpPr>
          <p:nvPr/>
        </p:nvCxnSpPr>
        <p:spPr>
          <a:xfrm flipV="1">
            <a:off x="8914448" y="2638426"/>
            <a:ext cx="149542" cy="14287"/>
          </a:xfrm>
          <a:prstGeom prst="straightConnector1">
            <a:avLst/>
          </a:prstGeom>
          <a:ln w="19050">
            <a:solidFill>
              <a:srgbClr val="5D7073"/>
            </a:solidFill>
          </a:ln>
        </p:spPr>
      </p:cxnSp>
      <p:sp>
        <p:nvSpPr>
          <p:cNvPr id="56" name="Rectangle 55">
            <a:extLst>
              <a:ext uri="{FF2B5EF4-FFF2-40B4-BE49-F238E27FC236}">
                <a16:creationId xmlns:a16="http://schemas.microsoft.com/office/drawing/2014/main" id="{646151BD-079C-4A08-AB9F-B35CA6BE2131}"/>
              </a:ext>
            </a:extLst>
          </p:cNvPr>
          <p:cNvSpPr>
            <a:spLocks noGrp="1"/>
          </p:cNvSpPr>
          <p:nvPr/>
        </p:nvSpPr>
        <p:spPr>
          <a:xfrm>
            <a:off x="9223058" y="2619375"/>
            <a:ext cx="9525" cy="9525"/>
          </a:xfrm>
          <a:prstGeom prst="rect">
            <a:avLst/>
          </a:prstGeom>
          <a:noFill/>
          <a:ln w="0">
            <a:noFill/>
            <a:prstDash val="solid"/>
          </a:ln>
        </p:spPr>
      </p:sp>
      <p:sp>
        <p:nvSpPr>
          <p:cNvPr id="57" name="Rectangle 56">
            <a:extLst>
              <a:ext uri="{FF2B5EF4-FFF2-40B4-BE49-F238E27FC236}">
                <a16:creationId xmlns:a16="http://schemas.microsoft.com/office/drawing/2014/main" id="{FDDA1657-0E4F-4F0E-9E42-DA4B45F92529}"/>
              </a:ext>
            </a:extLst>
          </p:cNvPr>
          <p:cNvSpPr>
            <a:spLocks noGrp="1"/>
          </p:cNvSpPr>
          <p:nvPr/>
        </p:nvSpPr>
        <p:spPr>
          <a:xfrm>
            <a:off x="9382125" y="2605088"/>
            <a:ext cx="9525" cy="9525"/>
          </a:xfrm>
          <a:prstGeom prst="rect">
            <a:avLst/>
          </a:prstGeom>
          <a:noFill/>
          <a:ln w="0">
            <a:noFill/>
            <a:prstDash val="solid"/>
          </a:ln>
        </p:spPr>
      </p:sp>
      <p:cxnSp>
        <p:nvCxnSpPr>
          <p:cNvPr id="58" name="Straight Arrow Connector 57"/>
          <p:cNvCxnSpPr>
            <a:stCxn id="56" idx="3"/>
            <a:endCxn id="57" idx="1"/>
          </p:cNvCxnSpPr>
          <p:nvPr/>
        </p:nvCxnSpPr>
        <p:spPr>
          <a:xfrm flipV="1">
            <a:off x="9232583" y="2609851"/>
            <a:ext cx="149542" cy="14287"/>
          </a:xfrm>
          <a:prstGeom prst="straightConnector1">
            <a:avLst/>
          </a:prstGeom>
          <a:ln w="19050">
            <a:solidFill>
              <a:srgbClr val="5D7073"/>
            </a:solidFill>
          </a:ln>
        </p:spPr>
      </p:cxnSp>
      <p:sp>
        <p:nvSpPr>
          <p:cNvPr id="59" name="Rectangle 58">
            <a:extLst>
              <a:ext uri="{FF2B5EF4-FFF2-40B4-BE49-F238E27FC236}">
                <a16:creationId xmlns:a16="http://schemas.microsoft.com/office/drawing/2014/main" id="{7E12C0F9-14C0-4335-AFB2-C83856A62479}"/>
              </a:ext>
            </a:extLst>
          </p:cNvPr>
          <p:cNvSpPr>
            <a:spLocks noGrp="1"/>
          </p:cNvSpPr>
          <p:nvPr/>
        </p:nvSpPr>
        <p:spPr>
          <a:xfrm>
            <a:off x="9541193" y="2590800"/>
            <a:ext cx="9525" cy="9525"/>
          </a:xfrm>
          <a:prstGeom prst="rect">
            <a:avLst/>
          </a:prstGeom>
          <a:noFill/>
          <a:ln w="0">
            <a:noFill/>
            <a:prstDash val="solid"/>
          </a:ln>
        </p:spPr>
      </p:sp>
      <p:sp>
        <p:nvSpPr>
          <p:cNvPr id="60" name="Rectangle 59">
            <a:extLst>
              <a:ext uri="{FF2B5EF4-FFF2-40B4-BE49-F238E27FC236}">
                <a16:creationId xmlns:a16="http://schemas.microsoft.com/office/drawing/2014/main" id="{378ED7F5-1D06-4925-8770-0D1AC5F988B0}"/>
              </a:ext>
            </a:extLst>
          </p:cNvPr>
          <p:cNvSpPr>
            <a:spLocks noGrp="1"/>
          </p:cNvSpPr>
          <p:nvPr/>
        </p:nvSpPr>
        <p:spPr>
          <a:xfrm>
            <a:off x="9700260" y="2576513"/>
            <a:ext cx="9525" cy="9525"/>
          </a:xfrm>
          <a:prstGeom prst="rect">
            <a:avLst/>
          </a:prstGeom>
          <a:noFill/>
          <a:ln w="0">
            <a:noFill/>
            <a:prstDash val="solid"/>
          </a:ln>
        </p:spPr>
      </p:sp>
      <p:cxnSp>
        <p:nvCxnSpPr>
          <p:cNvPr id="61" name="Straight Arrow Connector 60"/>
          <p:cNvCxnSpPr>
            <a:stCxn id="59" idx="3"/>
            <a:endCxn id="60" idx="1"/>
          </p:cNvCxnSpPr>
          <p:nvPr/>
        </p:nvCxnSpPr>
        <p:spPr>
          <a:xfrm flipV="1">
            <a:off x="9550718" y="2581276"/>
            <a:ext cx="149542" cy="14287"/>
          </a:xfrm>
          <a:prstGeom prst="straightConnector1">
            <a:avLst/>
          </a:prstGeom>
          <a:ln w="19050">
            <a:solidFill>
              <a:srgbClr val="5D7073"/>
            </a:solidFill>
          </a:ln>
        </p:spPr>
      </p:cxnSp>
      <p:sp>
        <p:nvSpPr>
          <p:cNvPr id="62" name="Rectangle 61">
            <a:extLst>
              <a:ext uri="{FF2B5EF4-FFF2-40B4-BE49-F238E27FC236}">
                <a16:creationId xmlns:a16="http://schemas.microsoft.com/office/drawing/2014/main" id="{150C6A4A-A8F6-40FE-94F8-6318286894EF}"/>
              </a:ext>
            </a:extLst>
          </p:cNvPr>
          <p:cNvSpPr>
            <a:spLocks noGrp="1"/>
          </p:cNvSpPr>
          <p:nvPr/>
        </p:nvSpPr>
        <p:spPr>
          <a:xfrm>
            <a:off x="9859328" y="2562225"/>
            <a:ext cx="9525" cy="9525"/>
          </a:xfrm>
          <a:prstGeom prst="rect">
            <a:avLst/>
          </a:prstGeom>
          <a:noFill/>
          <a:ln w="0">
            <a:noFill/>
            <a:prstDash val="solid"/>
          </a:ln>
        </p:spPr>
      </p:sp>
      <p:sp>
        <p:nvSpPr>
          <p:cNvPr id="63" name="Rectangle 62">
            <a:extLst>
              <a:ext uri="{FF2B5EF4-FFF2-40B4-BE49-F238E27FC236}">
                <a16:creationId xmlns:a16="http://schemas.microsoft.com/office/drawing/2014/main" id="{97ABF91E-95CA-4A5A-B9D5-099CD9DD7DA6}"/>
              </a:ext>
            </a:extLst>
          </p:cNvPr>
          <p:cNvSpPr>
            <a:spLocks noGrp="1"/>
          </p:cNvSpPr>
          <p:nvPr/>
        </p:nvSpPr>
        <p:spPr>
          <a:xfrm>
            <a:off x="10018395" y="2547938"/>
            <a:ext cx="9525" cy="9525"/>
          </a:xfrm>
          <a:prstGeom prst="rect">
            <a:avLst/>
          </a:prstGeom>
          <a:noFill/>
          <a:ln w="0">
            <a:noFill/>
            <a:prstDash val="solid"/>
          </a:ln>
        </p:spPr>
      </p:sp>
      <p:cxnSp>
        <p:nvCxnSpPr>
          <p:cNvPr id="64" name="Straight Arrow Connector 63"/>
          <p:cNvCxnSpPr>
            <a:stCxn id="62" idx="3"/>
            <a:endCxn id="63" idx="1"/>
          </p:cNvCxnSpPr>
          <p:nvPr/>
        </p:nvCxnSpPr>
        <p:spPr>
          <a:xfrm flipV="1">
            <a:off x="9868853" y="2552701"/>
            <a:ext cx="149542" cy="14287"/>
          </a:xfrm>
          <a:prstGeom prst="straightConnector1">
            <a:avLst/>
          </a:prstGeom>
          <a:ln w="19050">
            <a:solidFill>
              <a:srgbClr val="5D7073"/>
            </a:solidFill>
          </a:ln>
        </p:spPr>
      </p:cxnSp>
      <p:sp>
        <p:nvSpPr>
          <p:cNvPr id="65" name="Rectangle 64">
            <a:extLst>
              <a:ext uri="{FF2B5EF4-FFF2-40B4-BE49-F238E27FC236}">
                <a16:creationId xmlns:a16="http://schemas.microsoft.com/office/drawing/2014/main" id="{76368787-F322-433E-BBFF-CFB473491059}"/>
              </a:ext>
            </a:extLst>
          </p:cNvPr>
          <p:cNvSpPr>
            <a:spLocks noGrp="1"/>
          </p:cNvSpPr>
          <p:nvPr/>
        </p:nvSpPr>
        <p:spPr>
          <a:xfrm>
            <a:off x="10177463" y="2533650"/>
            <a:ext cx="9525" cy="9525"/>
          </a:xfrm>
          <a:prstGeom prst="rect">
            <a:avLst/>
          </a:prstGeom>
          <a:noFill/>
          <a:ln w="0">
            <a:noFill/>
            <a:prstDash val="solid"/>
          </a:ln>
        </p:spPr>
      </p:sp>
      <p:sp>
        <p:nvSpPr>
          <p:cNvPr id="66" name="Rectangle 65">
            <a:extLst>
              <a:ext uri="{FF2B5EF4-FFF2-40B4-BE49-F238E27FC236}">
                <a16:creationId xmlns:a16="http://schemas.microsoft.com/office/drawing/2014/main" id="{FB629378-7BDC-4428-8298-DAECE119DD6E}"/>
              </a:ext>
            </a:extLst>
          </p:cNvPr>
          <p:cNvSpPr>
            <a:spLocks noGrp="1"/>
          </p:cNvSpPr>
          <p:nvPr/>
        </p:nvSpPr>
        <p:spPr>
          <a:xfrm>
            <a:off x="10336530" y="2519363"/>
            <a:ext cx="9525" cy="9525"/>
          </a:xfrm>
          <a:prstGeom prst="rect">
            <a:avLst/>
          </a:prstGeom>
          <a:noFill/>
          <a:ln w="0">
            <a:noFill/>
            <a:prstDash val="solid"/>
          </a:ln>
        </p:spPr>
      </p:sp>
      <p:cxnSp>
        <p:nvCxnSpPr>
          <p:cNvPr id="67" name="Straight Arrow Connector 66"/>
          <p:cNvCxnSpPr>
            <a:stCxn id="65" idx="3"/>
            <a:endCxn id="66" idx="1"/>
          </p:cNvCxnSpPr>
          <p:nvPr/>
        </p:nvCxnSpPr>
        <p:spPr>
          <a:xfrm flipV="1">
            <a:off x="10186988" y="2524126"/>
            <a:ext cx="149542" cy="14287"/>
          </a:xfrm>
          <a:prstGeom prst="straightConnector1">
            <a:avLst/>
          </a:prstGeom>
          <a:ln w="19050">
            <a:solidFill>
              <a:srgbClr val="5D7073"/>
            </a:solidFill>
          </a:ln>
        </p:spPr>
      </p:cxnSp>
      <p:sp>
        <p:nvSpPr>
          <p:cNvPr id="68" name="Rectangle 67">
            <a:extLst>
              <a:ext uri="{FF2B5EF4-FFF2-40B4-BE49-F238E27FC236}">
                <a16:creationId xmlns:a16="http://schemas.microsoft.com/office/drawing/2014/main" id="{7824B457-AB58-4D04-BF52-1D2E5B566B9F}"/>
              </a:ext>
            </a:extLst>
          </p:cNvPr>
          <p:cNvSpPr>
            <a:spLocks noGrp="1"/>
          </p:cNvSpPr>
          <p:nvPr/>
        </p:nvSpPr>
        <p:spPr>
          <a:xfrm>
            <a:off x="10495598" y="2505075"/>
            <a:ext cx="9525" cy="9525"/>
          </a:xfrm>
          <a:prstGeom prst="rect">
            <a:avLst/>
          </a:prstGeom>
          <a:noFill/>
          <a:ln w="0">
            <a:noFill/>
            <a:prstDash val="solid"/>
          </a:ln>
        </p:spPr>
      </p:sp>
      <p:sp>
        <p:nvSpPr>
          <p:cNvPr id="69" name="Rectangle 68">
            <a:extLst>
              <a:ext uri="{FF2B5EF4-FFF2-40B4-BE49-F238E27FC236}">
                <a16:creationId xmlns:a16="http://schemas.microsoft.com/office/drawing/2014/main" id="{6515BAEF-48E3-4DFA-9A52-2C9ED82FDEFC}"/>
              </a:ext>
            </a:extLst>
          </p:cNvPr>
          <p:cNvSpPr>
            <a:spLocks noGrp="1"/>
          </p:cNvSpPr>
          <p:nvPr/>
        </p:nvSpPr>
        <p:spPr>
          <a:xfrm>
            <a:off x="10654665" y="2490788"/>
            <a:ext cx="9525" cy="9525"/>
          </a:xfrm>
          <a:prstGeom prst="rect">
            <a:avLst/>
          </a:prstGeom>
          <a:noFill/>
          <a:ln w="0">
            <a:noFill/>
            <a:prstDash val="solid"/>
          </a:ln>
        </p:spPr>
      </p:sp>
      <p:cxnSp>
        <p:nvCxnSpPr>
          <p:cNvPr id="70" name="Straight Arrow Connector 69"/>
          <p:cNvCxnSpPr>
            <a:stCxn id="68" idx="3"/>
            <a:endCxn id="69" idx="1"/>
          </p:cNvCxnSpPr>
          <p:nvPr/>
        </p:nvCxnSpPr>
        <p:spPr>
          <a:xfrm flipV="1">
            <a:off x="10505123" y="2495551"/>
            <a:ext cx="149542" cy="14287"/>
          </a:xfrm>
          <a:prstGeom prst="straightConnector1">
            <a:avLst/>
          </a:prstGeom>
          <a:ln w="19050">
            <a:solidFill>
              <a:srgbClr val="5D7073"/>
            </a:solidFill>
          </a:ln>
        </p:spPr>
      </p:cxnSp>
      <p:sp>
        <p:nvSpPr>
          <p:cNvPr id="71" name="Oval 70">
            <a:extLst>
              <a:ext uri="{FF2B5EF4-FFF2-40B4-BE49-F238E27FC236}">
                <a16:creationId xmlns:a16="http://schemas.microsoft.com/office/drawing/2014/main" id="{3F8A43F5-C77B-4F4B-9EE3-DDEA9CD1F2AD}"/>
              </a:ext>
            </a:extLst>
          </p:cNvPr>
          <p:cNvSpPr>
            <a:spLocks noGrp="1"/>
          </p:cNvSpPr>
          <p:nvPr/>
        </p:nvSpPr>
        <p:spPr>
          <a:xfrm>
            <a:off x="1390650" y="3462443"/>
            <a:ext cx="76200" cy="76200"/>
          </a:xfrm>
          <a:prstGeom prst="ellipse">
            <a:avLst/>
          </a:prstGeom>
          <a:solidFill>
            <a:srgbClr val="006D77"/>
          </a:solidFill>
          <a:ln w="0">
            <a:noFill/>
            <a:prstDash val="solid"/>
          </a:ln>
        </p:spPr>
      </p:sp>
      <p:sp>
        <p:nvSpPr>
          <p:cNvPr id="72" name="Oval 71">
            <a:extLst>
              <a:ext uri="{FF2B5EF4-FFF2-40B4-BE49-F238E27FC236}">
                <a16:creationId xmlns:a16="http://schemas.microsoft.com/office/drawing/2014/main" id="{81587B2A-B311-4E39-9B83-9CC925D35CFD}"/>
              </a:ext>
            </a:extLst>
          </p:cNvPr>
          <p:cNvSpPr>
            <a:spLocks noGrp="1"/>
          </p:cNvSpPr>
          <p:nvPr/>
        </p:nvSpPr>
        <p:spPr>
          <a:xfrm>
            <a:off x="1549718" y="3145685"/>
            <a:ext cx="76200" cy="76200"/>
          </a:xfrm>
          <a:prstGeom prst="ellipse">
            <a:avLst/>
          </a:prstGeom>
          <a:solidFill>
            <a:srgbClr val="006D77"/>
          </a:solidFill>
          <a:ln w="0">
            <a:noFill/>
            <a:prstDash val="solid"/>
          </a:ln>
        </p:spPr>
      </p:sp>
      <p:sp>
        <p:nvSpPr>
          <p:cNvPr id="73" name="Oval 72">
            <a:extLst>
              <a:ext uri="{FF2B5EF4-FFF2-40B4-BE49-F238E27FC236}">
                <a16:creationId xmlns:a16="http://schemas.microsoft.com/office/drawing/2014/main" id="{9363790E-5D23-428F-A686-2D5C735DA6BD}"/>
              </a:ext>
            </a:extLst>
          </p:cNvPr>
          <p:cNvSpPr>
            <a:spLocks noGrp="1"/>
          </p:cNvSpPr>
          <p:nvPr/>
        </p:nvSpPr>
        <p:spPr>
          <a:xfrm>
            <a:off x="1708785" y="3254021"/>
            <a:ext cx="76200" cy="76200"/>
          </a:xfrm>
          <a:prstGeom prst="ellipse">
            <a:avLst/>
          </a:prstGeom>
          <a:solidFill>
            <a:srgbClr val="006D77"/>
          </a:solidFill>
          <a:ln w="0">
            <a:noFill/>
            <a:prstDash val="solid"/>
          </a:ln>
        </p:spPr>
      </p:sp>
      <p:sp>
        <p:nvSpPr>
          <p:cNvPr id="74" name="Oval 73">
            <a:extLst>
              <a:ext uri="{FF2B5EF4-FFF2-40B4-BE49-F238E27FC236}">
                <a16:creationId xmlns:a16="http://schemas.microsoft.com/office/drawing/2014/main" id="{95E8E65A-7F6E-4716-86C3-D290B4DB2D34}"/>
              </a:ext>
            </a:extLst>
          </p:cNvPr>
          <p:cNvSpPr>
            <a:spLocks noGrp="1"/>
          </p:cNvSpPr>
          <p:nvPr/>
        </p:nvSpPr>
        <p:spPr>
          <a:xfrm>
            <a:off x="1867853" y="3241298"/>
            <a:ext cx="76200" cy="76200"/>
          </a:xfrm>
          <a:prstGeom prst="ellipse">
            <a:avLst/>
          </a:prstGeom>
          <a:solidFill>
            <a:srgbClr val="006D77"/>
          </a:solidFill>
          <a:ln w="0">
            <a:noFill/>
            <a:prstDash val="solid"/>
          </a:ln>
        </p:spPr>
      </p:sp>
      <p:sp>
        <p:nvSpPr>
          <p:cNvPr id="75" name="Oval 74">
            <a:extLst>
              <a:ext uri="{FF2B5EF4-FFF2-40B4-BE49-F238E27FC236}">
                <a16:creationId xmlns:a16="http://schemas.microsoft.com/office/drawing/2014/main" id="{E8934C16-6974-429F-8BC5-96B76F5ED6B9}"/>
              </a:ext>
            </a:extLst>
          </p:cNvPr>
          <p:cNvSpPr>
            <a:spLocks noGrp="1"/>
          </p:cNvSpPr>
          <p:nvPr/>
        </p:nvSpPr>
        <p:spPr>
          <a:xfrm>
            <a:off x="2026920" y="3001061"/>
            <a:ext cx="76200" cy="76200"/>
          </a:xfrm>
          <a:prstGeom prst="ellipse">
            <a:avLst/>
          </a:prstGeom>
          <a:solidFill>
            <a:srgbClr val="006D77"/>
          </a:solidFill>
          <a:ln w="0">
            <a:noFill/>
            <a:prstDash val="solid"/>
          </a:ln>
        </p:spPr>
      </p:sp>
      <p:sp>
        <p:nvSpPr>
          <p:cNvPr id="76" name="Oval 75">
            <a:extLst>
              <a:ext uri="{FF2B5EF4-FFF2-40B4-BE49-F238E27FC236}">
                <a16:creationId xmlns:a16="http://schemas.microsoft.com/office/drawing/2014/main" id="{C8A374C7-ED32-4293-AFBD-2D6B2509379C}"/>
              </a:ext>
            </a:extLst>
          </p:cNvPr>
          <p:cNvSpPr>
            <a:spLocks noGrp="1"/>
          </p:cNvSpPr>
          <p:nvPr/>
        </p:nvSpPr>
        <p:spPr>
          <a:xfrm>
            <a:off x="2185988" y="3252490"/>
            <a:ext cx="76200" cy="76200"/>
          </a:xfrm>
          <a:prstGeom prst="ellipse">
            <a:avLst/>
          </a:prstGeom>
          <a:solidFill>
            <a:srgbClr val="006D77"/>
          </a:solidFill>
          <a:ln w="0">
            <a:noFill/>
            <a:prstDash val="solid"/>
          </a:ln>
        </p:spPr>
      </p:sp>
      <p:sp>
        <p:nvSpPr>
          <p:cNvPr id="77" name="Oval 76">
            <a:extLst>
              <a:ext uri="{FF2B5EF4-FFF2-40B4-BE49-F238E27FC236}">
                <a16:creationId xmlns:a16="http://schemas.microsoft.com/office/drawing/2014/main" id="{B8CBB434-6CF7-44B2-8697-FCBFCFA49F2E}"/>
              </a:ext>
            </a:extLst>
          </p:cNvPr>
          <p:cNvSpPr>
            <a:spLocks noGrp="1"/>
          </p:cNvSpPr>
          <p:nvPr/>
        </p:nvSpPr>
        <p:spPr>
          <a:xfrm>
            <a:off x="2345055" y="3254934"/>
            <a:ext cx="76200" cy="76200"/>
          </a:xfrm>
          <a:prstGeom prst="ellipse">
            <a:avLst/>
          </a:prstGeom>
          <a:solidFill>
            <a:srgbClr val="006D77"/>
          </a:solidFill>
          <a:ln w="0">
            <a:noFill/>
            <a:prstDash val="solid"/>
          </a:ln>
        </p:spPr>
      </p:sp>
      <p:sp>
        <p:nvSpPr>
          <p:cNvPr id="78" name="Oval 77">
            <a:extLst>
              <a:ext uri="{FF2B5EF4-FFF2-40B4-BE49-F238E27FC236}">
                <a16:creationId xmlns:a16="http://schemas.microsoft.com/office/drawing/2014/main" id="{FDD443AA-D94F-435F-B125-CBEE2640A057}"/>
              </a:ext>
            </a:extLst>
          </p:cNvPr>
          <p:cNvSpPr>
            <a:spLocks noGrp="1"/>
          </p:cNvSpPr>
          <p:nvPr/>
        </p:nvSpPr>
        <p:spPr>
          <a:xfrm>
            <a:off x="2504123" y="3112269"/>
            <a:ext cx="76200" cy="76200"/>
          </a:xfrm>
          <a:prstGeom prst="ellipse">
            <a:avLst/>
          </a:prstGeom>
          <a:solidFill>
            <a:srgbClr val="006D77"/>
          </a:solidFill>
          <a:ln w="0">
            <a:noFill/>
            <a:prstDash val="solid"/>
          </a:ln>
        </p:spPr>
      </p:sp>
      <p:sp>
        <p:nvSpPr>
          <p:cNvPr id="79" name="Oval 78">
            <a:extLst>
              <a:ext uri="{FF2B5EF4-FFF2-40B4-BE49-F238E27FC236}">
                <a16:creationId xmlns:a16="http://schemas.microsoft.com/office/drawing/2014/main" id="{C6EFB549-E3F7-4572-83EC-992CBD3CEEE2}"/>
              </a:ext>
            </a:extLst>
          </p:cNvPr>
          <p:cNvSpPr>
            <a:spLocks noGrp="1"/>
          </p:cNvSpPr>
          <p:nvPr/>
        </p:nvSpPr>
        <p:spPr>
          <a:xfrm>
            <a:off x="2663190" y="3369029"/>
            <a:ext cx="76200" cy="76200"/>
          </a:xfrm>
          <a:prstGeom prst="ellipse">
            <a:avLst/>
          </a:prstGeom>
          <a:solidFill>
            <a:srgbClr val="006D77"/>
          </a:solidFill>
          <a:ln w="0">
            <a:noFill/>
            <a:prstDash val="solid"/>
          </a:ln>
        </p:spPr>
      </p:sp>
      <p:sp>
        <p:nvSpPr>
          <p:cNvPr id="80" name="Oval 79">
            <a:extLst>
              <a:ext uri="{FF2B5EF4-FFF2-40B4-BE49-F238E27FC236}">
                <a16:creationId xmlns:a16="http://schemas.microsoft.com/office/drawing/2014/main" id="{6E935E98-4416-423D-B680-B13B90DCF172}"/>
              </a:ext>
            </a:extLst>
          </p:cNvPr>
          <p:cNvSpPr>
            <a:spLocks noGrp="1"/>
          </p:cNvSpPr>
          <p:nvPr/>
        </p:nvSpPr>
        <p:spPr>
          <a:xfrm>
            <a:off x="2822257" y="3216139"/>
            <a:ext cx="76200" cy="76200"/>
          </a:xfrm>
          <a:prstGeom prst="ellipse">
            <a:avLst/>
          </a:prstGeom>
          <a:solidFill>
            <a:srgbClr val="006D77"/>
          </a:solidFill>
          <a:ln w="0">
            <a:noFill/>
            <a:prstDash val="solid"/>
          </a:ln>
        </p:spPr>
      </p:sp>
      <p:sp>
        <p:nvSpPr>
          <p:cNvPr id="81" name="Oval 80">
            <a:extLst>
              <a:ext uri="{FF2B5EF4-FFF2-40B4-BE49-F238E27FC236}">
                <a16:creationId xmlns:a16="http://schemas.microsoft.com/office/drawing/2014/main" id="{A60D40C5-92A1-4A42-80D1-32DC39930067}"/>
              </a:ext>
            </a:extLst>
          </p:cNvPr>
          <p:cNvSpPr>
            <a:spLocks noGrp="1"/>
          </p:cNvSpPr>
          <p:nvPr/>
        </p:nvSpPr>
        <p:spPr>
          <a:xfrm>
            <a:off x="2981325" y="3036870"/>
            <a:ext cx="76200" cy="76200"/>
          </a:xfrm>
          <a:prstGeom prst="ellipse">
            <a:avLst/>
          </a:prstGeom>
          <a:solidFill>
            <a:srgbClr val="006D77"/>
          </a:solidFill>
          <a:ln w="0">
            <a:noFill/>
            <a:prstDash val="solid"/>
          </a:ln>
        </p:spPr>
      </p:sp>
      <p:sp>
        <p:nvSpPr>
          <p:cNvPr id="82" name="Oval 81">
            <a:extLst>
              <a:ext uri="{FF2B5EF4-FFF2-40B4-BE49-F238E27FC236}">
                <a16:creationId xmlns:a16="http://schemas.microsoft.com/office/drawing/2014/main" id="{FDB6D221-6A3E-4F17-8517-B70EAF8697BA}"/>
              </a:ext>
            </a:extLst>
          </p:cNvPr>
          <p:cNvSpPr>
            <a:spLocks noGrp="1"/>
          </p:cNvSpPr>
          <p:nvPr/>
        </p:nvSpPr>
        <p:spPr>
          <a:xfrm>
            <a:off x="3140393" y="3216027"/>
            <a:ext cx="76200" cy="76200"/>
          </a:xfrm>
          <a:prstGeom prst="ellipse">
            <a:avLst/>
          </a:prstGeom>
          <a:solidFill>
            <a:srgbClr val="006D77"/>
          </a:solidFill>
          <a:ln w="0">
            <a:noFill/>
            <a:prstDash val="solid"/>
          </a:ln>
        </p:spPr>
      </p:sp>
      <p:sp>
        <p:nvSpPr>
          <p:cNvPr id="83" name="Oval 82">
            <a:extLst>
              <a:ext uri="{FF2B5EF4-FFF2-40B4-BE49-F238E27FC236}">
                <a16:creationId xmlns:a16="http://schemas.microsoft.com/office/drawing/2014/main" id="{15E31CEB-25BC-44AF-A083-86107F81A772}"/>
              </a:ext>
            </a:extLst>
          </p:cNvPr>
          <p:cNvSpPr>
            <a:spLocks noGrp="1"/>
          </p:cNvSpPr>
          <p:nvPr/>
        </p:nvSpPr>
        <p:spPr>
          <a:xfrm>
            <a:off x="3299460" y="2982958"/>
            <a:ext cx="76200" cy="76200"/>
          </a:xfrm>
          <a:prstGeom prst="ellipse">
            <a:avLst/>
          </a:prstGeom>
          <a:solidFill>
            <a:srgbClr val="006D77"/>
          </a:solidFill>
          <a:ln w="0">
            <a:noFill/>
            <a:prstDash val="solid"/>
          </a:ln>
        </p:spPr>
      </p:sp>
      <p:sp>
        <p:nvSpPr>
          <p:cNvPr id="84" name="Oval 83">
            <a:extLst>
              <a:ext uri="{FF2B5EF4-FFF2-40B4-BE49-F238E27FC236}">
                <a16:creationId xmlns:a16="http://schemas.microsoft.com/office/drawing/2014/main" id="{F7B168A3-A26E-4A7B-9B58-B1861F3E61DA}"/>
              </a:ext>
            </a:extLst>
          </p:cNvPr>
          <p:cNvSpPr>
            <a:spLocks noGrp="1"/>
          </p:cNvSpPr>
          <p:nvPr/>
        </p:nvSpPr>
        <p:spPr>
          <a:xfrm>
            <a:off x="3458528" y="2933323"/>
            <a:ext cx="76200" cy="76200"/>
          </a:xfrm>
          <a:prstGeom prst="ellipse">
            <a:avLst/>
          </a:prstGeom>
          <a:solidFill>
            <a:srgbClr val="006D77"/>
          </a:solidFill>
          <a:ln w="0">
            <a:noFill/>
            <a:prstDash val="solid"/>
          </a:ln>
        </p:spPr>
      </p:sp>
      <p:sp>
        <p:nvSpPr>
          <p:cNvPr id="85" name="Oval 84">
            <a:extLst>
              <a:ext uri="{FF2B5EF4-FFF2-40B4-BE49-F238E27FC236}">
                <a16:creationId xmlns:a16="http://schemas.microsoft.com/office/drawing/2014/main" id="{FB85B635-4D08-4F8E-B0BA-5A95B61B7808}"/>
              </a:ext>
            </a:extLst>
          </p:cNvPr>
          <p:cNvSpPr>
            <a:spLocks noGrp="1"/>
          </p:cNvSpPr>
          <p:nvPr/>
        </p:nvSpPr>
        <p:spPr>
          <a:xfrm>
            <a:off x="3617595" y="3183435"/>
            <a:ext cx="76200" cy="76200"/>
          </a:xfrm>
          <a:prstGeom prst="ellipse">
            <a:avLst/>
          </a:prstGeom>
          <a:solidFill>
            <a:srgbClr val="006D77"/>
          </a:solidFill>
          <a:ln w="0">
            <a:noFill/>
            <a:prstDash val="solid"/>
          </a:ln>
        </p:spPr>
      </p:sp>
      <p:sp>
        <p:nvSpPr>
          <p:cNvPr id="86" name="Oval 85">
            <a:extLst>
              <a:ext uri="{FF2B5EF4-FFF2-40B4-BE49-F238E27FC236}">
                <a16:creationId xmlns:a16="http://schemas.microsoft.com/office/drawing/2014/main" id="{6126C9D5-289B-4EF4-8BA7-2D4047A15C22}"/>
              </a:ext>
            </a:extLst>
          </p:cNvPr>
          <p:cNvSpPr>
            <a:spLocks noGrp="1"/>
          </p:cNvSpPr>
          <p:nvPr/>
        </p:nvSpPr>
        <p:spPr>
          <a:xfrm>
            <a:off x="3776663" y="2998844"/>
            <a:ext cx="76200" cy="76200"/>
          </a:xfrm>
          <a:prstGeom prst="ellipse">
            <a:avLst/>
          </a:prstGeom>
          <a:solidFill>
            <a:srgbClr val="006D77"/>
          </a:solidFill>
          <a:ln w="0">
            <a:noFill/>
            <a:prstDash val="solid"/>
          </a:ln>
        </p:spPr>
      </p:sp>
      <p:sp>
        <p:nvSpPr>
          <p:cNvPr id="87" name="Oval 86">
            <a:extLst>
              <a:ext uri="{FF2B5EF4-FFF2-40B4-BE49-F238E27FC236}">
                <a16:creationId xmlns:a16="http://schemas.microsoft.com/office/drawing/2014/main" id="{3B19E122-727E-414D-B23F-A20118849B4E}"/>
              </a:ext>
            </a:extLst>
          </p:cNvPr>
          <p:cNvSpPr>
            <a:spLocks noGrp="1"/>
          </p:cNvSpPr>
          <p:nvPr/>
        </p:nvSpPr>
        <p:spPr>
          <a:xfrm>
            <a:off x="3935730" y="3078047"/>
            <a:ext cx="76200" cy="76200"/>
          </a:xfrm>
          <a:prstGeom prst="ellipse">
            <a:avLst/>
          </a:prstGeom>
          <a:solidFill>
            <a:srgbClr val="006D77"/>
          </a:solidFill>
          <a:ln w="0">
            <a:noFill/>
            <a:prstDash val="solid"/>
          </a:ln>
        </p:spPr>
      </p:sp>
      <p:sp>
        <p:nvSpPr>
          <p:cNvPr id="88" name="Oval 87">
            <a:extLst>
              <a:ext uri="{FF2B5EF4-FFF2-40B4-BE49-F238E27FC236}">
                <a16:creationId xmlns:a16="http://schemas.microsoft.com/office/drawing/2014/main" id="{0B700705-86DE-4BC7-B312-224784BED9D0}"/>
              </a:ext>
            </a:extLst>
          </p:cNvPr>
          <p:cNvSpPr>
            <a:spLocks noGrp="1"/>
          </p:cNvSpPr>
          <p:nvPr/>
        </p:nvSpPr>
        <p:spPr>
          <a:xfrm>
            <a:off x="4094798" y="3259313"/>
            <a:ext cx="76200" cy="76200"/>
          </a:xfrm>
          <a:prstGeom prst="ellipse">
            <a:avLst/>
          </a:prstGeom>
          <a:solidFill>
            <a:srgbClr val="006D77"/>
          </a:solidFill>
          <a:ln w="0">
            <a:noFill/>
            <a:prstDash val="solid"/>
          </a:ln>
        </p:spPr>
      </p:sp>
      <p:sp>
        <p:nvSpPr>
          <p:cNvPr id="89" name="Oval 88">
            <a:extLst>
              <a:ext uri="{FF2B5EF4-FFF2-40B4-BE49-F238E27FC236}">
                <a16:creationId xmlns:a16="http://schemas.microsoft.com/office/drawing/2014/main" id="{9B91085C-249E-45FE-8C3F-DCB0B30D5FB2}"/>
              </a:ext>
            </a:extLst>
          </p:cNvPr>
          <p:cNvSpPr>
            <a:spLocks noGrp="1"/>
          </p:cNvSpPr>
          <p:nvPr/>
        </p:nvSpPr>
        <p:spPr>
          <a:xfrm>
            <a:off x="4253865" y="2970875"/>
            <a:ext cx="76200" cy="76200"/>
          </a:xfrm>
          <a:prstGeom prst="ellipse">
            <a:avLst/>
          </a:prstGeom>
          <a:solidFill>
            <a:srgbClr val="006D77"/>
          </a:solidFill>
          <a:ln w="0">
            <a:noFill/>
            <a:prstDash val="solid"/>
          </a:ln>
        </p:spPr>
      </p:sp>
      <p:sp>
        <p:nvSpPr>
          <p:cNvPr id="90" name="Oval 89">
            <a:extLst>
              <a:ext uri="{FF2B5EF4-FFF2-40B4-BE49-F238E27FC236}">
                <a16:creationId xmlns:a16="http://schemas.microsoft.com/office/drawing/2014/main" id="{6C437D85-9C22-463D-994C-5EB39044A643}"/>
              </a:ext>
            </a:extLst>
          </p:cNvPr>
          <p:cNvSpPr>
            <a:spLocks noGrp="1"/>
          </p:cNvSpPr>
          <p:nvPr/>
        </p:nvSpPr>
        <p:spPr>
          <a:xfrm>
            <a:off x="4412933" y="3024151"/>
            <a:ext cx="76200" cy="76200"/>
          </a:xfrm>
          <a:prstGeom prst="ellipse">
            <a:avLst/>
          </a:prstGeom>
          <a:solidFill>
            <a:srgbClr val="006D77"/>
          </a:solidFill>
          <a:ln w="0">
            <a:noFill/>
            <a:prstDash val="solid"/>
          </a:ln>
        </p:spPr>
      </p:sp>
      <p:sp>
        <p:nvSpPr>
          <p:cNvPr id="91" name="Oval 90">
            <a:extLst>
              <a:ext uri="{FF2B5EF4-FFF2-40B4-BE49-F238E27FC236}">
                <a16:creationId xmlns:a16="http://schemas.microsoft.com/office/drawing/2014/main" id="{3D864B5E-3DC2-4BA6-B65E-F0BD19581200}"/>
              </a:ext>
            </a:extLst>
          </p:cNvPr>
          <p:cNvSpPr>
            <a:spLocks noGrp="1"/>
          </p:cNvSpPr>
          <p:nvPr/>
        </p:nvSpPr>
        <p:spPr>
          <a:xfrm>
            <a:off x="4572000" y="3063878"/>
            <a:ext cx="76200" cy="76200"/>
          </a:xfrm>
          <a:prstGeom prst="ellipse">
            <a:avLst/>
          </a:prstGeom>
          <a:solidFill>
            <a:srgbClr val="006D77"/>
          </a:solidFill>
          <a:ln w="0">
            <a:noFill/>
            <a:prstDash val="solid"/>
          </a:ln>
        </p:spPr>
      </p:sp>
      <p:sp>
        <p:nvSpPr>
          <p:cNvPr id="92" name="Oval 91">
            <a:extLst>
              <a:ext uri="{FF2B5EF4-FFF2-40B4-BE49-F238E27FC236}">
                <a16:creationId xmlns:a16="http://schemas.microsoft.com/office/drawing/2014/main" id="{DCAB9446-B83F-4DD6-9E72-8E9984371155}"/>
              </a:ext>
            </a:extLst>
          </p:cNvPr>
          <p:cNvSpPr>
            <a:spLocks noGrp="1"/>
          </p:cNvSpPr>
          <p:nvPr/>
        </p:nvSpPr>
        <p:spPr>
          <a:xfrm>
            <a:off x="4731068" y="2762917"/>
            <a:ext cx="76200" cy="76200"/>
          </a:xfrm>
          <a:prstGeom prst="ellipse">
            <a:avLst/>
          </a:prstGeom>
          <a:solidFill>
            <a:srgbClr val="006D77"/>
          </a:solidFill>
          <a:ln w="0">
            <a:noFill/>
            <a:prstDash val="solid"/>
          </a:ln>
        </p:spPr>
      </p:sp>
      <p:sp>
        <p:nvSpPr>
          <p:cNvPr id="93" name="Oval 92">
            <a:extLst>
              <a:ext uri="{FF2B5EF4-FFF2-40B4-BE49-F238E27FC236}">
                <a16:creationId xmlns:a16="http://schemas.microsoft.com/office/drawing/2014/main" id="{7B48D257-8453-41A4-B918-E4142291C572}"/>
              </a:ext>
            </a:extLst>
          </p:cNvPr>
          <p:cNvSpPr>
            <a:spLocks noGrp="1"/>
          </p:cNvSpPr>
          <p:nvPr/>
        </p:nvSpPr>
        <p:spPr>
          <a:xfrm>
            <a:off x="4890135" y="2934724"/>
            <a:ext cx="76200" cy="76200"/>
          </a:xfrm>
          <a:prstGeom prst="ellipse">
            <a:avLst/>
          </a:prstGeom>
          <a:solidFill>
            <a:srgbClr val="006D77"/>
          </a:solidFill>
          <a:ln w="0">
            <a:noFill/>
            <a:prstDash val="solid"/>
          </a:ln>
        </p:spPr>
      </p:sp>
      <p:sp>
        <p:nvSpPr>
          <p:cNvPr id="94" name="Oval 93">
            <a:extLst>
              <a:ext uri="{FF2B5EF4-FFF2-40B4-BE49-F238E27FC236}">
                <a16:creationId xmlns:a16="http://schemas.microsoft.com/office/drawing/2014/main" id="{C69AEB20-10CD-40E7-A3A9-C08203BC6013}"/>
              </a:ext>
            </a:extLst>
          </p:cNvPr>
          <p:cNvSpPr>
            <a:spLocks noGrp="1"/>
          </p:cNvSpPr>
          <p:nvPr/>
        </p:nvSpPr>
        <p:spPr>
          <a:xfrm>
            <a:off x="5049202" y="3613889"/>
            <a:ext cx="76200" cy="76200"/>
          </a:xfrm>
          <a:prstGeom prst="ellipse">
            <a:avLst/>
          </a:prstGeom>
          <a:solidFill>
            <a:srgbClr val="B95C33"/>
          </a:solidFill>
          <a:ln w="0">
            <a:noFill/>
            <a:prstDash val="solid"/>
          </a:ln>
        </p:spPr>
      </p:sp>
      <p:sp>
        <p:nvSpPr>
          <p:cNvPr id="95" name="Oval 94">
            <a:extLst>
              <a:ext uri="{FF2B5EF4-FFF2-40B4-BE49-F238E27FC236}">
                <a16:creationId xmlns:a16="http://schemas.microsoft.com/office/drawing/2014/main" id="{86C3E324-6862-4F19-95B3-F00E4E482045}"/>
              </a:ext>
            </a:extLst>
          </p:cNvPr>
          <p:cNvSpPr>
            <a:spLocks noGrp="1"/>
          </p:cNvSpPr>
          <p:nvPr/>
        </p:nvSpPr>
        <p:spPr>
          <a:xfrm>
            <a:off x="5208270" y="3472611"/>
            <a:ext cx="76200" cy="76200"/>
          </a:xfrm>
          <a:prstGeom prst="ellipse">
            <a:avLst/>
          </a:prstGeom>
          <a:solidFill>
            <a:srgbClr val="B95C33"/>
          </a:solidFill>
          <a:ln w="0">
            <a:noFill/>
            <a:prstDash val="solid"/>
          </a:ln>
        </p:spPr>
      </p:sp>
      <p:sp>
        <p:nvSpPr>
          <p:cNvPr id="96" name="Oval 95">
            <a:extLst>
              <a:ext uri="{FF2B5EF4-FFF2-40B4-BE49-F238E27FC236}">
                <a16:creationId xmlns:a16="http://schemas.microsoft.com/office/drawing/2014/main" id="{6541E01E-BFC6-4B0A-8172-1C8DA57A0B8D}"/>
              </a:ext>
            </a:extLst>
          </p:cNvPr>
          <p:cNvSpPr>
            <a:spLocks noGrp="1"/>
          </p:cNvSpPr>
          <p:nvPr/>
        </p:nvSpPr>
        <p:spPr>
          <a:xfrm>
            <a:off x="5367338" y="3776290"/>
            <a:ext cx="76200" cy="76200"/>
          </a:xfrm>
          <a:prstGeom prst="ellipse">
            <a:avLst/>
          </a:prstGeom>
          <a:solidFill>
            <a:srgbClr val="B95C33"/>
          </a:solidFill>
          <a:ln w="0">
            <a:noFill/>
            <a:prstDash val="solid"/>
          </a:ln>
        </p:spPr>
      </p:sp>
      <p:sp>
        <p:nvSpPr>
          <p:cNvPr id="97" name="Oval 96">
            <a:extLst>
              <a:ext uri="{FF2B5EF4-FFF2-40B4-BE49-F238E27FC236}">
                <a16:creationId xmlns:a16="http://schemas.microsoft.com/office/drawing/2014/main" id="{D8452D4B-DA2F-4EF8-A254-8B1F55F1E355}"/>
              </a:ext>
            </a:extLst>
          </p:cNvPr>
          <p:cNvSpPr>
            <a:spLocks noGrp="1"/>
          </p:cNvSpPr>
          <p:nvPr/>
        </p:nvSpPr>
        <p:spPr>
          <a:xfrm>
            <a:off x="5526405" y="3772677"/>
            <a:ext cx="76200" cy="76200"/>
          </a:xfrm>
          <a:prstGeom prst="ellipse">
            <a:avLst/>
          </a:prstGeom>
          <a:solidFill>
            <a:srgbClr val="B95C33"/>
          </a:solidFill>
          <a:ln w="0">
            <a:noFill/>
            <a:prstDash val="solid"/>
          </a:ln>
        </p:spPr>
      </p:sp>
      <p:sp>
        <p:nvSpPr>
          <p:cNvPr id="98" name="Oval 97">
            <a:extLst>
              <a:ext uri="{FF2B5EF4-FFF2-40B4-BE49-F238E27FC236}">
                <a16:creationId xmlns:a16="http://schemas.microsoft.com/office/drawing/2014/main" id="{1E420F1A-2841-470D-8206-2309CEDCB8F7}"/>
              </a:ext>
            </a:extLst>
          </p:cNvPr>
          <p:cNvSpPr>
            <a:spLocks noGrp="1"/>
          </p:cNvSpPr>
          <p:nvPr/>
        </p:nvSpPr>
        <p:spPr>
          <a:xfrm>
            <a:off x="5685473" y="3598887"/>
            <a:ext cx="76200" cy="76200"/>
          </a:xfrm>
          <a:prstGeom prst="ellipse">
            <a:avLst/>
          </a:prstGeom>
          <a:solidFill>
            <a:srgbClr val="B95C33"/>
          </a:solidFill>
          <a:ln w="0">
            <a:noFill/>
            <a:prstDash val="solid"/>
          </a:ln>
        </p:spPr>
      </p:sp>
      <p:sp>
        <p:nvSpPr>
          <p:cNvPr id="99" name="Oval 98">
            <a:extLst>
              <a:ext uri="{FF2B5EF4-FFF2-40B4-BE49-F238E27FC236}">
                <a16:creationId xmlns:a16="http://schemas.microsoft.com/office/drawing/2014/main" id="{0F62656E-8F11-4F52-A6EC-DC701DDC00A9}"/>
              </a:ext>
            </a:extLst>
          </p:cNvPr>
          <p:cNvSpPr>
            <a:spLocks noGrp="1"/>
          </p:cNvSpPr>
          <p:nvPr/>
        </p:nvSpPr>
        <p:spPr>
          <a:xfrm>
            <a:off x="5844540" y="3823698"/>
            <a:ext cx="76200" cy="76200"/>
          </a:xfrm>
          <a:prstGeom prst="ellipse">
            <a:avLst/>
          </a:prstGeom>
          <a:solidFill>
            <a:srgbClr val="B95C33"/>
          </a:solidFill>
          <a:ln w="0">
            <a:noFill/>
            <a:prstDash val="solid"/>
          </a:ln>
        </p:spPr>
      </p:sp>
      <p:sp>
        <p:nvSpPr>
          <p:cNvPr id="100" name="Oval 99">
            <a:extLst>
              <a:ext uri="{FF2B5EF4-FFF2-40B4-BE49-F238E27FC236}">
                <a16:creationId xmlns:a16="http://schemas.microsoft.com/office/drawing/2014/main" id="{351A5145-EEE4-449C-A363-D82A124189D1}"/>
              </a:ext>
            </a:extLst>
          </p:cNvPr>
          <p:cNvSpPr>
            <a:spLocks noGrp="1"/>
          </p:cNvSpPr>
          <p:nvPr/>
        </p:nvSpPr>
        <p:spPr>
          <a:xfrm>
            <a:off x="6003608" y="3669717"/>
            <a:ext cx="76200" cy="76200"/>
          </a:xfrm>
          <a:prstGeom prst="ellipse">
            <a:avLst/>
          </a:prstGeom>
          <a:solidFill>
            <a:srgbClr val="B95C33"/>
          </a:solidFill>
          <a:ln w="0">
            <a:noFill/>
            <a:prstDash val="solid"/>
          </a:ln>
        </p:spPr>
      </p:sp>
      <p:sp>
        <p:nvSpPr>
          <p:cNvPr id="101" name="Oval 100">
            <a:extLst>
              <a:ext uri="{FF2B5EF4-FFF2-40B4-BE49-F238E27FC236}">
                <a16:creationId xmlns:a16="http://schemas.microsoft.com/office/drawing/2014/main" id="{00A6E22E-89E4-4A63-A62A-9ED65D8B2111}"/>
              </a:ext>
            </a:extLst>
          </p:cNvPr>
          <p:cNvSpPr>
            <a:spLocks noGrp="1"/>
          </p:cNvSpPr>
          <p:nvPr/>
        </p:nvSpPr>
        <p:spPr>
          <a:xfrm>
            <a:off x="6162675" y="3549872"/>
            <a:ext cx="76200" cy="76200"/>
          </a:xfrm>
          <a:prstGeom prst="ellipse">
            <a:avLst/>
          </a:prstGeom>
          <a:solidFill>
            <a:srgbClr val="B95C33"/>
          </a:solidFill>
          <a:ln w="0">
            <a:noFill/>
            <a:prstDash val="solid"/>
          </a:ln>
        </p:spPr>
      </p:sp>
      <p:sp>
        <p:nvSpPr>
          <p:cNvPr id="102" name="Oval 101">
            <a:extLst>
              <a:ext uri="{FF2B5EF4-FFF2-40B4-BE49-F238E27FC236}">
                <a16:creationId xmlns:a16="http://schemas.microsoft.com/office/drawing/2014/main" id="{736EA64E-2898-4521-8435-F84546EFFD4E}"/>
              </a:ext>
            </a:extLst>
          </p:cNvPr>
          <p:cNvSpPr>
            <a:spLocks noGrp="1"/>
          </p:cNvSpPr>
          <p:nvPr/>
        </p:nvSpPr>
        <p:spPr>
          <a:xfrm>
            <a:off x="6321742" y="3828414"/>
            <a:ext cx="76200" cy="76200"/>
          </a:xfrm>
          <a:prstGeom prst="ellipse">
            <a:avLst/>
          </a:prstGeom>
          <a:solidFill>
            <a:srgbClr val="B95C33"/>
          </a:solidFill>
          <a:ln w="0">
            <a:noFill/>
            <a:prstDash val="solid"/>
          </a:ln>
        </p:spPr>
      </p:sp>
      <p:sp>
        <p:nvSpPr>
          <p:cNvPr id="103" name="Oval 102">
            <a:extLst>
              <a:ext uri="{FF2B5EF4-FFF2-40B4-BE49-F238E27FC236}">
                <a16:creationId xmlns:a16="http://schemas.microsoft.com/office/drawing/2014/main" id="{6FDC6E0A-CA7A-482D-B3B1-29B4F85AFA90}"/>
              </a:ext>
            </a:extLst>
          </p:cNvPr>
          <p:cNvSpPr>
            <a:spLocks noGrp="1"/>
          </p:cNvSpPr>
          <p:nvPr/>
        </p:nvSpPr>
        <p:spPr>
          <a:xfrm>
            <a:off x="6480810" y="3708453"/>
            <a:ext cx="76200" cy="76200"/>
          </a:xfrm>
          <a:prstGeom prst="ellipse">
            <a:avLst/>
          </a:prstGeom>
          <a:solidFill>
            <a:srgbClr val="B95C33"/>
          </a:solidFill>
          <a:ln w="0">
            <a:noFill/>
            <a:prstDash val="solid"/>
          </a:ln>
        </p:spPr>
      </p:sp>
      <p:sp>
        <p:nvSpPr>
          <p:cNvPr id="104" name="Oval 103">
            <a:extLst>
              <a:ext uri="{FF2B5EF4-FFF2-40B4-BE49-F238E27FC236}">
                <a16:creationId xmlns:a16="http://schemas.microsoft.com/office/drawing/2014/main" id="{092310CE-C67E-4A1F-A441-9964980C676D}"/>
              </a:ext>
            </a:extLst>
          </p:cNvPr>
          <p:cNvSpPr>
            <a:spLocks noGrp="1"/>
          </p:cNvSpPr>
          <p:nvPr/>
        </p:nvSpPr>
        <p:spPr>
          <a:xfrm>
            <a:off x="6639878" y="3759276"/>
            <a:ext cx="76200" cy="76200"/>
          </a:xfrm>
          <a:prstGeom prst="ellipse">
            <a:avLst/>
          </a:prstGeom>
          <a:solidFill>
            <a:srgbClr val="B95C33"/>
          </a:solidFill>
          <a:ln w="0">
            <a:noFill/>
            <a:prstDash val="solid"/>
          </a:ln>
        </p:spPr>
      </p:sp>
      <p:sp>
        <p:nvSpPr>
          <p:cNvPr id="105" name="Oval 104">
            <a:extLst>
              <a:ext uri="{FF2B5EF4-FFF2-40B4-BE49-F238E27FC236}">
                <a16:creationId xmlns:a16="http://schemas.microsoft.com/office/drawing/2014/main" id="{7AC11E79-A8EE-45C7-993C-63529D3695B6}"/>
              </a:ext>
            </a:extLst>
          </p:cNvPr>
          <p:cNvSpPr>
            <a:spLocks noGrp="1"/>
          </p:cNvSpPr>
          <p:nvPr/>
        </p:nvSpPr>
        <p:spPr>
          <a:xfrm>
            <a:off x="6798945" y="4056226"/>
            <a:ext cx="76200" cy="76200"/>
          </a:xfrm>
          <a:prstGeom prst="ellipse">
            <a:avLst/>
          </a:prstGeom>
          <a:solidFill>
            <a:srgbClr val="B95C33"/>
          </a:solidFill>
          <a:ln w="0">
            <a:noFill/>
            <a:prstDash val="solid"/>
          </a:ln>
        </p:spPr>
      </p:sp>
      <p:sp>
        <p:nvSpPr>
          <p:cNvPr id="106" name="Oval 105">
            <a:extLst>
              <a:ext uri="{FF2B5EF4-FFF2-40B4-BE49-F238E27FC236}">
                <a16:creationId xmlns:a16="http://schemas.microsoft.com/office/drawing/2014/main" id="{28BD75EF-D8C9-4349-A56B-3366769CDD71}"/>
              </a:ext>
            </a:extLst>
          </p:cNvPr>
          <p:cNvSpPr>
            <a:spLocks noGrp="1"/>
          </p:cNvSpPr>
          <p:nvPr/>
        </p:nvSpPr>
        <p:spPr>
          <a:xfrm>
            <a:off x="6958013" y="3866966"/>
            <a:ext cx="76200" cy="76200"/>
          </a:xfrm>
          <a:prstGeom prst="ellipse">
            <a:avLst/>
          </a:prstGeom>
          <a:solidFill>
            <a:srgbClr val="B95C33"/>
          </a:solidFill>
          <a:ln w="0">
            <a:noFill/>
            <a:prstDash val="solid"/>
          </a:ln>
        </p:spPr>
      </p:sp>
      <p:sp>
        <p:nvSpPr>
          <p:cNvPr id="107" name="Oval 106">
            <a:extLst>
              <a:ext uri="{FF2B5EF4-FFF2-40B4-BE49-F238E27FC236}">
                <a16:creationId xmlns:a16="http://schemas.microsoft.com/office/drawing/2014/main" id="{D9B02A66-89BD-4281-888F-F7ACD281D790}"/>
              </a:ext>
            </a:extLst>
          </p:cNvPr>
          <p:cNvSpPr>
            <a:spLocks noGrp="1"/>
          </p:cNvSpPr>
          <p:nvPr/>
        </p:nvSpPr>
        <p:spPr>
          <a:xfrm>
            <a:off x="7117080" y="3915849"/>
            <a:ext cx="76200" cy="76200"/>
          </a:xfrm>
          <a:prstGeom prst="ellipse">
            <a:avLst/>
          </a:prstGeom>
          <a:solidFill>
            <a:srgbClr val="B95C33"/>
          </a:solidFill>
          <a:ln w="0">
            <a:noFill/>
            <a:prstDash val="solid"/>
          </a:ln>
        </p:spPr>
      </p:sp>
      <p:sp>
        <p:nvSpPr>
          <p:cNvPr id="108" name="Oval 107">
            <a:extLst>
              <a:ext uri="{FF2B5EF4-FFF2-40B4-BE49-F238E27FC236}">
                <a16:creationId xmlns:a16="http://schemas.microsoft.com/office/drawing/2014/main" id="{3613D2DF-C75C-4286-AE99-5C5F10CB3D9A}"/>
              </a:ext>
            </a:extLst>
          </p:cNvPr>
          <p:cNvSpPr>
            <a:spLocks noGrp="1"/>
          </p:cNvSpPr>
          <p:nvPr/>
        </p:nvSpPr>
        <p:spPr>
          <a:xfrm>
            <a:off x="7276148" y="4061765"/>
            <a:ext cx="76200" cy="76200"/>
          </a:xfrm>
          <a:prstGeom prst="ellipse">
            <a:avLst/>
          </a:prstGeom>
          <a:solidFill>
            <a:srgbClr val="B95C33"/>
          </a:solidFill>
          <a:ln w="0">
            <a:noFill/>
            <a:prstDash val="solid"/>
          </a:ln>
        </p:spPr>
      </p:sp>
      <p:sp>
        <p:nvSpPr>
          <p:cNvPr id="109" name="Oval 108">
            <a:extLst>
              <a:ext uri="{FF2B5EF4-FFF2-40B4-BE49-F238E27FC236}">
                <a16:creationId xmlns:a16="http://schemas.microsoft.com/office/drawing/2014/main" id="{F1967208-C309-4494-86D9-867A8CC718E2}"/>
              </a:ext>
            </a:extLst>
          </p:cNvPr>
          <p:cNvSpPr>
            <a:spLocks noGrp="1"/>
          </p:cNvSpPr>
          <p:nvPr/>
        </p:nvSpPr>
        <p:spPr>
          <a:xfrm>
            <a:off x="7435215" y="3776779"/>
            <a:ext cx="76200" cy="76200"/>
          </a:xfrm>
          <a:prstGeom prst="ellipse">
            <a:avLst/>
          </a:prstGeom>
          <a:solidFill>
            <a:srgbClr val="B95C33"/>
          </a:solidFill>
          <a:ln w="0">
            <a:noFill/>
            <a:prstDash val="solid"/>
          </a:ln>
        </p:spPr>
      </p:sp>
      <p:sp>
        <p:nvSpPr>
          <p:cNvPr id="110" name="Oval 109">
            <a:extLst>
              <a:ext uri="{FF2B5EF4-FFF2-40B4-BE49-F238E27FC236}">
                <a16:creationId xmlns:a16="http://schemas.microsoft.com/office/drawing/2014/main" id="{BE677602-5801-4307-854D-F54B6D65BDE0}"/>
              </a:ext>
            </a:extLst>
          </p:cNvPr>
          <p:cNvSpPr>
            <a:spLocks noGrp="1"/>
          </p:cNvSpPr>
          <p:nvPr/>
        </p:nvSpPr>
        <p:spPr>
          <a:xfrm>
            <a:off x="7594283" y="3890653"/>
            <a:ext cx="76200" cy="76200"/>
          </a:xfrm>
          <a:prstGeom prst="ellipse">
            <a:avLst/>
          </a:prstGeom>
          <a:solidFill>
            <a:srgbClr val="B95C33"/>
          </a:solidFill>
          <a:ln w="0">
            <a:noFill/>
            <a:prstDash val="solid"/>
          </a:ln>
        </p:spPr>
      </p:sp>
      <p:sp>
        <p:nvSpPr>
          <p:cNvPr id="111" name="Oval 110">
            <a:extLst>
              <a:ext uri="{FF2B5EF4-FFF2-40B4-BE49-F238E27FC236}">
                <a16:creationId xmlns:a16="http://schemas.microsoft.com/office/drawing/2014/main" id="{D73D1785-2DBC-4F0F-BFFF-691AAB0E791F}"/>
              </a:ext>
            </a:extLst>
          </p:cNvPr>
          <p:cNvSpPr>
            <a:spLocks noGrp="1"/>
          </p:cNvSpPr>
          <p:nvPr/>
        </p:nvSpPr>
        <p:spPr>
          <a:xfrm>
            <a:off x="7753350" y="4027270"/>
            <a:ext cx="76200" cy="76200"/>
          </a:xfrm>
          <a:prstGeom prst="ellipse">
            <a:avLst/>
          </a:prstGeom>
          <a:solidFill>
            <a:srgbClr val="B95C33"/>
          </a:solidFill>
          <a:ln w="0">
            <a:noFill/>
            <a:prstDash val="solid"/>
          </a:ln>
        </p:spPr>
      </p:sp>
      <p:sp>
        <p:nvSpPr>
          <p:cNvPr id="112" name="Oval 111">
            <a:extLst>
              <a:ext uri="{FF2B5EF4-FFF2-40B4-BE49-F238E27FC236}">
                <a16:creationId xmlns:a16="http://schemas.microsoft.com/office/drawing/2014/main" id="{A7AF661E-61F3-44DD-9919-BED7EB3EB891}"/>
              </a:ext>
            </a:extLst>
          </p:cNvPr>
          <p:cNvSpPr>
            <a:spLocks noGrp="1"/>
          </p:cNvSpPr>
          <p:nvPr/>
        </p:nvSpPr>
        <p:spPr>
          <a:xfrm>
            <a:off x="7912417" y="3843305"/>
            <a:ext cx="76200" cy="76200"/>
          </a:xfrm>
          <a:prstGeom prst="ellipse">
            <a:avLst/>
          </a:prstGeom>
          <a:solidFill>
            <a:srgbClr val="B95C33"/>
          </a:solidFill>
          <a:ln w="0">
            <a:noFill/>
            <a:prstDash val="solid"/>
          </a:ln>
        </p:spPr>
      </p:sp>
      <p:sp>
        <p:nvSpPr>
          <p:cNvPr id="113" name="Oval 112">
            <a:extLst>
              <a:ext uri="{FF2B5EF4-FFF2-40B4-BE49-F238E27FC236}">
                <a16:creationId xmlns:a16="http://schemas.microsoft.com/office/drawing/2014/main" id="{E5CC7843-9177-41E0-BBB7-EBDB69519DDC}"/>
              </a:ext>
            </a:extLst>
          </p:cNvPr>
          <p:cNvSpPr>
            <a:spLocks noGrp="1"/>
          </p:cNvSpPr>
          <p:nvPr/>
        </p:nvSpPr>
        <p:spPr>
          <a:xfrm>
            <a:off x="8071485" y="4113312"/>
            <a:ext cx="76200" cy="76200"/>
          </a:xfrm>
          <a:prstGeom prst="ellipse">
            <a:avLst/>
          </a:prstGeom>
          <a:solidFill>
            <a:srgbClr val="B95C33"/>
          </a:solidFill>
          <a:ln w="0">
            <a:noFill/>
            <a:prstDash val="solid"/>
          </a:ln>
        </p:spPr>
      </p:sp>
      <p:sp>
        <p:nvSpPr>
          <p:cNvPr id="114" name="Oval 113">
            <a:extLst>
              <a:ext uri="{FF2B5EF4-FFF2-40B4-BE49-F238E27FC236}">
                <a16:creationId xmlns:a16="http://schemas.microsoft.com/office/drawing/2014/main" id="{F241B80F-172C-4C2F-8643-35AD492C6339}"/>
              </a:ext>
            </a:extLst>
          </p:cNvPr>
          <p:cNvSpPr>
            <a:spLocks noGrp="1"/>
          </p:cNvSpPr>
          <p:nvPr/>
        </p:nvSpPr>
        <p:spPr>
          <a:xfrm>
            <a:off x="8230553" y="4216563"/>
            <a:ext cx="76200" cy="76200"/>
          </a:xfrm>
          <a:prstGeom prst="ellipse">
            <a:avLst/>
          </a:prstGeom>
          <a:solidFill>
            <a:srgbClr val="B95C33"/>
          </a:solidFill>
          <a:ln w="0">
            <a:noFill/>
            <a:prstDash val="solid"/>
          </a:ln>
        </p:spPr>
      </p:sp>
      <p:sp>
        <p:nvSpPr>
          <p:cNvPr id="115" name="Oval 114">
            <a:extLst>
              <a:ext uri="{FF2B5EF4-FFF2-40B4-BE49-F238E27FC236}">
                <a16:creationId xmlns:a16="http://schemas.microsoft.com/office/drawing/2014/main" id="{2C72929A-7B6C-4CCC-B0D0-92B86431290D}"/>
              </a:ext>
            </a:extLst>
          </p:cNvPr>
          <p:cNvSpPr>
            <a:spLocks noGrp="1"/>
          </p:cNvSpPr>
          <p:nvPr/>
        </p:nvSpPr>
        <p:spPr>
          <a:xfrm>
            <a:off x="8389620" y="4034601"/>
            <a:ext cx="76200" cy="76200"/>
          </a:xfrm>
          <a:prstGeom prst="ellipse">
            <a:avLst/>
          </a:prstGeom>
          <a:solidFill>
            <a:srgbClr val="B95C33"/>
          </a:solidFill>
          <a:ln w="0">
            <a:noFill/>
            <a:prstDash val="solid"/>
          </a:ln>
        </p:spPr>
      </p:sp>
      <p:sp>
        <p:nvSpPr>
          <p:cNvPr id="116" name="Oval 115">
            <a:extLst>
              <a:ext uri="{FF2B5EF4-FFF2-40B4-BE49-F238E27FC236}">
                <a16:creationId xmlns:a16="http://schemas.microsoft.com/office/drawing/2014/main" id="{7FCAFE95-6AB0-40A5-8C76-158969C29AAB}"/>
              </a:ext>
            </a:extLst>
          </p:cNvPr>
          <p:cNvSpPr>
            <a:spLocks noGrp="1"/>
          </p:cNvSpPr>
          <p:nvPr/>
        </p:nvSpPr>
        <p:spPr>
          <a:xfrm>
            <a:off x="8548688" y="4266017"/>
            <a:ext cx="76200" cy="76200"/>
          </a:xfrm>
          <a:prstGeom prst="ellipse">
            <a:avLst/>
          </a:prstGeom>
          <a:solidFill>
            <a:srgbClr val="B95C33"/>
          </a:solidFill>
          <a:ln w="0">
            <a:noFill/>
            <a:prstDash val="solid"/>
          </a:ln>
        </p:spPr>
      </p:sp>
      <p:sp>
        <p:nvSpPr>
          <p:cNvPr id="117" name="Oval 116">
            <a:extLst>
              <a:ext uri="{FF2B5EF4-FFF2-40B4-BE49-F238E27FC236}">
                <a16:creationId xmlns:a16="http://schemas.microsoft.com/office/drawing/2014/main" id="{1CA343FE-F201-4D79-98FE-C33062EDF8DD}"/>
              </a:ext>
            </a:extLst>
          </p:cNvPr>
          <p:cNvSpPr>
            <a:spLocks noGrp="1"/>
          </p:cNvSpPr>
          <p:nvPr/>
        </p:nvSpPr>
        <p:spPr>
          <a:xfrm>
            <a:off x="8707755" y="4187356"/>
            <a:ext cx="76200" cy="76200"/>
          </a:xfrm>
          <a:prstGeom prst="ellipse">
            <a:avLst/>
          </a:prstGeom>
          <a:solidFill>
            <a:srgbClr val="B95C33"/>
          </a:solidFill>
          <a:ln w="0">
            <a:noFill/>
            <a:prstDash val="solid"/>
          </a:ln>
        </p:spPr>
      </p:sp>
      <p:sp>
        <p:nvSpPr>
          <p:cNvPr id="118" name="Oval 117">
            <a:extLst>
              <a:ext uri="{FF2B5EF4-FFF2-40B4-BE49-F238E27FC236}">
                <a16:creationId xmlns:a16="http://schemas.microsoft.com/office/drawing/2014/main" id="{BD5A752A-CFC9-4809-9A65-82AEBA46E98A}"/>
              </a:ext>
            </a:extLst>
          </p:cNvPr>
          <p:cNvSpPr>
            <a:spLocks noGrp="1"/>
          </p:cNvSpPr>
          <p:nvPr/>
        </p:nvSpPr>
        <p:spPr>
          <a:xfrm>
            <a:off x="8866823" y="3983012"/>
            <a:ext cx="76200" cy="76200"/>
          </a:xfrm>
          <a:prstGeom prst="ellipse">
            <a:avLst/>
          </a:prstGeom>
          <a:solidFill>
            <a:srgbClr val="B95C33"/>
          </a:solidFill>
          <a:ln w="0">
            <a:noFill/>
            <a:prstDash val="solid"/>
          </a:ln>
        </p:spPr>
      </p:sp>
      <p:sp>
        <p:nvSpPr>
          <p:cNvPr id="119" name="Oval 118">
            <a:extLst>
              <a:ext uri="{FF2B5EF4-FFF2-40B4-BE49-F238E27FC236}">
                <a16:creationId xmlns:a16="http://schemas.microsoft.com/office/drawing/2014/main" id="{965F042C-755F-4930-919B-AFE1E2AF3162}"/>
              </a:ext>
            </a:extLst>
          </p:cNvPr>
          <p:cNvSpPr>
            <a:spLocks noGrp="1"/>
          </p:cNvSpPr>
          <p:nvPr/>
        </p:nvSpPr>
        <p:spPr>
          <a:xfrm>
            <a:off x="9025890" y="4227223"/>
            <a:ext cx="76200" cy="76200"/>
          </a:xfrm>
          <a:prstGeom prst="ellipse">
            <a:avLst/>
          </a:prstGeom>
          <a:solidFill>
            <a:srgbClr val="B95C33"/>
          </a:solidFill>
          <a:ln w="0">
            <a:noFill/>
            <a:prstDash val="solid"/>
          </a:ln>
        </p:spPr>
      </p:sp>
      <p:sp>
        <p:nvSpPr>
          <p:cNvPr id="120" name="Oval 119">
            <a:extLst>
              <a:ext uri="{FF2B5EF4-FFF2-40B4-BE49-F238E27FC236}">
                <a16:creationId xmlns:a16="http://schemas.microsoft.com/office/drawing/2014/main" id="{A1EFEA14-D78F-45F9-82C5-AF3A47207BEC}"/>
              </a:ext>
            </a:extLst>
          </p:cNvPr>
          <p:cNvSpPr>
            <a:spLocks noGrp="1"/>
          </p:cNvSpPr>
          <p:nvPr/>
        </p:nvSpPr>
        <p:spPr>
          <a:xfrm>
            <a:off x="9184958" y="4131975"/>
            <a:ext cx="76200" cy="76200"/>
          </a:xfrm>
          <a:prstGeom prst="ellipse">
            <a:avLst/>
          </a:prstGeom>
          <a:solidFill>
            <a:srgbClr val="B95C33"/>
          </a:solidFill>
          <a:ln w="0">
            <a:noFill/>
            <a:prstDash val="solid"/>
          </a:ln>
        </p:spPr>
      </p:sp>
      <p:sp>
        <p:nvSpPr>
          <p:cNvPr id="121" name="Oval 120">
            <a:extLst>
              <a:ext uri="{FF2B5EF4-FFF2-40B4-BE49-F238E27FC236}">
                <a16:creationId xmlns:a16="http://schemas.microsoft.com/office/drawing/2014/main" id="{D437EC64-B198-4F6F-B07E-3E920F5763AB}"/>
              </a:ext>
            </a:extLst>
          </p:cNvPr>
          <p:cNvSpPr>
            <a:spLocks noGrp="1"/>
          </p:cNvSpPr>
          <p:nvPr/>
        </p:nvSpPr>
        <p:spPr>
          <a:xfrm>
            <a:off x="9344025" y="4093244"/>
            <a:ext cx="76200" cy="76200"/>
          </a:xfrm>
          <a:prstGeom prst="ellipse">
            <a:avLst/>
          </a:prstGeom>
          <a:solidFill>
            <a:srgbClr val="B95C33"/>
          </a:solidFill>
          <a:ln w="0">
            <a:noFill/>
            <a:prstDash val="solid"/>
          </a:ln>
        </p:spPr>
      </p:sp>
      <p:sp>
        <p:nvSpPr>
          <p:cNvPr id="122" name="Oval 121">
            <a:extLst>
              <a:ext uri="{FF2B5EF4-FFF2-40B4-BE49-F238E27FC236}">
                <a16:creationId xmlns:a16="http://schemas.microsoft.com/office/drawing/2014/main" id="{DA59008E-1A48-4AB9-8C87-1568D410F003}"/>
              </a:ext>
            </a:extLst>
          </p:cNvPr>
          <p:cNvSpPr>
            <a:spLocks noGrp="1"/>
          </p:cNvSpPr>
          <p:nvPr/>
        </p:nvSpPr>
        <p:spPr>
          <a:xfrm>
            <a:off x="9503093" y="4426069"/>
            <a:ext cx="76200" cy="76200"/>
          </a:xfrm>
          <a:prstGeom prst="ellipse">
            <a:avLst/>
          </a:prstGeom>
          <a:solidFill>
            <a:srgbClr val="B95C33"/>
          </a:solidFill>
          <a:ln w="0">
            <a:noFill/>
            <a:prstDash val="solid"/>
          </a:ln>
        </p:spPr>
      </p:sp>
      <p:sp>
        <p:nvSpPr>
          <p:cNvPr id="123" name="Oval 122">
            <a:extLst>
              <a:ext uri="{FF2B5EF4-FFF2-40B4-BE49-F238E27FC236}">
                <a16:creationId xmlns:a16="http://schemas.microsoft.com/office/drawing/2014/main" id="{6ECAF795-4EBD-4A40-94AC-05DDFAC9BD39}"/>
              </a:ext>
            </a:extLst>
          </p:cNvPr>
          <p:cNvSpPr>
            <a:spLocks noGrp="1"/>
          </p:cNvSpPr>
          <p:nvPr/>
        </p:nvSpPr>
        <p:spPr>
          <a:xfrm>
            <a:off x="9662160" y="4310380"/>
            <a:ext cx="76200" cy="76200"/>
          </a:xfrm>
          <a:prstGeom prst="ellipse">
            <a:avLst/>
          </a:prstGeom>
          <a:solidFill>
            <a:srgbClr val="B95C33"/>
          </a:solidFill>
          <a:ln w="0">
            <a:noFill/>
            <a:prstDash val="solid"/>
          </a:ln>
        </p:spPr>
      </p:sp>
      <p:sp>
        <p:nvSpPr>
          <p:cNvPr id="124" name="Oval 123">
            <a:extLst>
              <a:ext uri="{FF2B5EF4-FFF2-40B4-BE49-F238E27FC236}">
                <a16:creationId xmlns:a16="http://schemas.microsoft.com/office/drawing/2014/main" id="{5B9B068F-F99E-47D7-8920-5145BB770422}"/>
              </a:ext>
            </a:extLst>
          </p:cNvPr>
          <p:cNvSpPr>
            <a:spLocks noGrp="1"/>
          </p:cNvSpPr>
          <p:nvPr/>
        </p:nvSpPr>
        <p:spPr>
          <a:xfrm>
            <a:off x="9821228" y="4321753"/>
            <a:ext cx="76200" cy="76200"/>
          </a:xfrm>
          <a:prstGeom prst="ellipse">
            <a:avLst/>
          </a:prstGeom>
          <a:solidFill>
            <a:srgbClr val="B95C33"/>
          </a:solidFill>
          <a:ln w="0">
            <a:noFill/>
            <a:prstDash val="solid"/>
          </a:ln>
        </p:spPr>
      </p:sp>
      <p:sp>
        <p:nvSpPr>
          <p:cNvPr id="125" name="Oval 124">
            <a:extLst>
              <a:ext uri="{FF2B5EF4-FFF2-40B4-BE49-F238E27FC236}">
                <a16:creationId xmlns:a16="http://schemas.microsoft.com/office/drawing/2014/main" id="{5DFA34D3-AB69-4C60-97A4-6DC93280C802}"/>
              </a:ext>
            </a:extLst>
          </p:cNvPr>
          <p:cNvSpPr>
            <a:spLocks noGrp="1"/>
          </p:cNvSpPr>
          <p:nvPr/>
        </p:nvSpPr>
        <p:spPr>
          <a:xfrm>
            <a:off x="9980295" y="4541966"/>
            <a:ext cx="76200" cy="76200"/>
          </a:xfrm>
          <a:prstGeom prst="ellipse">
            <a:avLst/>
          </a:prstGeom>
          <a:solidFill>
            <a:srgbClr val="B95C33"/>
          </a:solidFill>
          <a:ln w="0">
            <a:noFill/>
            <a:prstDash val="solid"/>
          </a:ln>
        </p:spPr>
      </p:sp>
      <p:sp>
        <p:nvSpPr>
          <p:cNvPr id="126" name="Oval 125">
            <a:extLst>
              <a:ext uri="{FF2B5EF4-FFF2-40B4-BE49-F238E27FC236}">
                <a16:creationId xmlns:a16="http://schemas.microsoft.com/office/drawing/2014/main" id="{2B6CCBDA-E462-4239-AF24-3556C64CE0C1}"/>
              </a:ext>
            </a:extLst>
          </p:cNvPr>
          <p:cNvSpPr>
            <a:spLocks noGrp="1"/>
          </p:cNvSpPr>
          <p:nvPr/>
        </p:nvSpPr>
        <p:spPr>
          <a:xfrm>
            <a:off x="10139363" y="4280739"/>
            <a:ext cx="76200" cy="76200"/>
          </a:xfrm>
          <a:prstGeom prst="ellipse">
            <a:avLst/>
          </a:prstGeom>
          <a:solidFill>
            <a:srgbClr val="B95C33"/>
          </a:solidFill>
          <a:ln w="0">
            <a:noFill/>
            <a:prstDash val="solid"/>
          </a:ln>
        </p:spPr>
      </p:sp>
      <p:sp>
        <p:nvSpPr>
          <p:cNvPr id="127" name="Oval 126">
            <a:extLst>
              <a:ext uri="{FF2B5EF4-FFF2-40B4-BE49-F238E27FC236}">
                <a16:creationId xmlns:a16="http://schemas.microsoft.com/office/drawing/2014/main" id="{1C7622E0-5B0B-45AE-B145-D91B7DB72FD0}"/>
              </a:ext>
            </a:extLst>
          </p:cNvPr>
          <p:cNvSpPr>
            <a:spLocks noGrp="1"/>
          </p:cNvSpPr>
          <p:nvPr/>
        </p:nvSpPr>
        <p:spPr>
          <a:xfrm>
            <a:off x="10298430" y="4301367"/>
            <a:ext cx="76200" cy="76200"/>
          </a:xfrm>
          <a:prstGeom prst="ellipse">
            <a:avLst/>
          </a:prstGeom>
          <a:solidFill>
            <a:srgbClr val="B95C33"/>
          </a:solidFill>
          <a:ln w="0">
            <a:noFill/>
            <a:prstDash val="solid"/>
          </a:ln>
        </p:spPr>
      </p:sp>
      <p:sp>
        <p:nvSpPr>
          <p:cNvPr id="128" name="Oval 127">
            <a:extLst>
              <a:ext uri="{FF2B5EF4-FFF2-40B4-BE49-F238E27FC236}">
                <a16:creationId xmlns:a16="http://schemas.microsoft.com/office/drawing/2014/main" id="{B58543C8-5A75-45D5-A870-DAD7E2F010D0}"/>
              </a:ext>
            </a:extLst>
          </p:cNvPr>
          <p:cNvSpPr>
            <a:spLocks noGrp="1"/>
          </p:cNvSpPr>
          <p:nvPr/>
        </p:nvSpPr>
        <p:spPr>
          <a:xfrm>
            <a:off x="10457498" y="4464069"/>
            <a:ext cx="76200" cy="76200"/>
          </a:xfrm>
          <a:prstGeom prst="ellipse">
            <a:avLst/>
          </a:prstGeom>
          <a:solidFill>
            <a:srgbClr val="B95C33"/>
          </a:solidFill>
          <a:ln w="0">
            <a:noFill/>
            <a:prstDash val="solid"/>
          </a:ln>
        </p:spPr>
      </p:sp>
      <p:sp>
        <p:nvSpPr>
          <p:cNvPr id="129" name="Oval 128">
            <a:extLst>
              <a:ext uri="{FF2B5EF4-FFF2-40B4-BE49-F238E27FC236}">
                <a16:creationId xmlns:a16="http://schemas.microsoft.com/office/drawing/2014/main" id="{3D1834EB-8751-4E17-97D4-E4E4DB895FE3}"/>
              </a:ext>
            </a:extLst>
          </p:cNvPr>
          <p:cNvSpPr>
            <a:spLocks noGrp="1"/>
          </p:cNvSpPr>
          <p:nvPr/>
        </p:nvSpPr>
        <p:spPr>
          <a:xfrm>
            <a:off x="10616565" y="4241995"/>
            <a:ext cx="76200" cy="76200"/>
          </a:xfrm>
          <a:prstGeom prst="ellipse">
            <a:avLst/>
          </a:prstGeom>
          <a:solidFill>
            <a:srgbClr val="B95C33"/>
          </a:solidFill>
          <a:ln w="0">
            <a:noFill/>
            <a:prstDash val="solid"/>
          </a:ln>
        </p:spPr>
      </p:sp>
      <p:sp>
        <p:nvSpPr>
          <p:cNvPr id="130" name="Oval 129">
            <a:extLst>
              <a:ext uri="{FF2B5EF4-FFF2-40B4-BE49-F238E27FC236}">
                <a16:creationId xmlns:a16="http://schemas.microsoft.com/office/drawing/2014/main" id="{6F4E7D8C-6A96-46D8-A785-B2CE2F5B6BD4}"/>
              </a:ext>
            </a:extLst>
          </p:cNvPr>
          <p:cNvSpPr>
            <a:spLocks noGrp="1"/>
          </p:cNvSpPr>
          <p:nvPr/>
        </p:nvSpPr>
        <p:spPr>
          <a:xfrm>
            <a:off x="10775633" y="4436711"/>
            <a:ext cx="76200" cy="76200"/>
          </a:xfrm>
          <a:prstGeom prst="ellipse">
            <a:avLst/>
          </a:prstGeom>
          <a:solidFill>
            <a:srgbClr val="B95C33"/>
          </a:solidFill>
          <a:ln w="0">
            <a:noFill/>
            <a:prstDash val="solid"/>
          </a:ln>
        </p:spPr>
      </p:sp>
      <p:sp>
        <p:nvSpPr>
          <p:cNvPr id="131" name="Rectangle 130">
            <a:extLst>
              <a:ext uri="{FF2B5EF4-FFF2-40B4-BE49-F238E27FC236}">
                <a16:creationId xmlns:a16="http://schemas.microsoft.com/office/drawing/2014/main" id="{6D73991E-F1D8-42ED-B917-32E19DD0D9EB}"/>
              </a:ext>
            </a:extLst>
          </p:cNvPr>
          <p:cNvSpPr>
            <a:spLocks noGrp="1"/>
          </p:cNvSpPr>
          <p:nvPr/>
        </p:nvSpPr>
        <p:spPr>
          <a:xfrm>
            <a:off x="666750" y="1666875"/>
            <a:ext cx="2857500" cy="333375"/>
          </a:xfrm>
          <a:prstGeom prst="rect">
            <a:avLst/>
          </a:prstGeom>
        </p:spPr>
        <p:txBody>
          <a:bodyPr lIns="0" tIns="0" rIns="0" bIns="0" anchor="ctr"/>
          <a:lstStyle/>
          <a:p>
            <a:pPr>
              <a:defRPr sz="1575">
                <a:solidFill>
                  <a:srgbClr val="5D7073"/>
                </a:solidFill>
                <a:latin typeface="Arial"/>
                <a:ea typeface="Arial"/>
                <a:cs typeface="Arial"/>
              </a:defRPr>
            </a:pPr>
            <a:r>
              <a:t>Monthly diversity</a:t>
            </a:r>
          </a:p>
        </p:txBody>
      </p:sp>
      <p:sp>
        <p:nvSpPr>
          <p:cNvPr id="132" name="Rectangle 131">
            <a:extLst>
              <a:ext uri="{FF2B5EF4-FFF2-40B4-BE49-F238E27FC236}">
                <a16:creationId xmlns:a16="http://schemas.microsoft.com/office/drawing/2014/main" id="{308FA835-47D9-46BC-A3A0-43749E43D645}"/>
              </a:ext>
            </a:extLst>
          </p:cNvPr>
          <p:cNvSpPr>
            <a:spLocks noGrp="1"/>
          </p:cNvSpPr>
          <p:nvPr/>
        </p:nvSpPr>
        <p:spPr>
          <a:xfrm>
            <a:off x="1428750" y="5219700"/>
            <a:ext cx="952500" cy="333375"/>
          </a:xfrm>
          <a:prstGeom prst="rect">
            <a:avLst/>
          </a:prstGeom>
        </p:spPr>
        <p:txBody>
          <a:bodyPr lIns="0" tIns="0" rIns="0" bIns="0" anchor="ctr"/>
          <a:lstStyle/>
          <a:p>
            <a:pPr>
              <a:defRPr sz="1500">
                <a:solidFill>
                  <a:srgbClr val="5D7073"/>
                </a:solidFill>
                <a:latin typeface="Arial"/>
                <a:ea typeface="Arial"/>
                <a:cs typeface="Arial"/>
              </a:defRPr>
            </a:pPr>
            <a:r>
              <a:t>2021</a:t>
            </a:r>
          </a:p>
        </p:txBody>
      </p:sp>
      <p:sp>
        <p:nvSpPr>
          <p:cNvPr id="133" name="Rectangle 132">
            <a:extLst>
              <a:ext uri="{FF2B5EF4-FFF2-40B4-BE49-F238E27FC236}">
                <a16:creationId xmlns:a16="http://schemas.microsoft.com/office/drawing/2014/main" id="{000D727E-D218-4C79-B556-F2A1E3D7265C}"/>
              </a:ext>
            </a:extLst>
          </p:cNvPr>
          <p:cNvSpPr>
            <a:spLocks noGrp="1"/>
          </p:cNvSpPr>
          <p:nvPr/>
        </p:nvSpPr>
        <p:spPr>
          <a:xfrm>
            <a:off x="10287000" y="5219700"/>
            <a:ext cx="952500" cy="333375"/>
          </a:xfrm>
          <a:prstGeom prst="rect">
            <a:avLst/>
          </a:prstGeom>
        </p:spPr>
        <p:txBody>
          <a:bodyPr lIns="0" tIns="0" rIns="0" bIns="0" anchor="ctr"/>
          <a:lstStyle/>
          <a:p>
            <a:pPr>
              <a:defRPr sz="1500">
                <a:solidFill>
                  <a:srgbClr val="5D7073"/>
                </a:solidFill>
                <a:latin typeface="Arial"/>
                <a:ea typeface="Arial"/>
                <a:cs typeface="Arial"/>
              </a:defRPr>
            </a:pPr>
            <a:r>
              <a:t>2025</a:t>
            </a:r>
          </a:p>
        </p:txBody>
      </p:sp>
      <p:sp>
        <p:nvSpPr>
          <p:cNvPr id="134" name="Rectangle 133">
            <a:extLst>
              <a:ext uri="{FF2B5EF4-FFF2-40B4-BE49-F238E27FC236}">
                <a16:creationId xmlns:a16="http://schemas.microsoft.com/office/drawing/2014/main" id="{83BDF6AE-C539-4351-83D2-5DE3EF86B896}"/>
              </a:ext>
            </a:extLst>
          </p:cNvPr>
          <p:cNvSpPr>
            <a:spLocks noGrp="1"/>
          </p:cNvSpPr>
          <p:nvPr/>
        </p:nvSpPr>
        <p:spPr>
          <a:xfrm>
            <a:off x="4468177" y="5219700"/>
            <a:ext cx="1524000" cy="333375"/>
          </a:xfrm>
          <a:prstGeom prst="rect">
            <a:avLst/>
          </a:prstGeom>
        </p:spPr>
        <p:txBody>
          <a:bodyPr lIns="0" tIns="0" rIns="0" bIns="0" anchor="ctr"/>
          <a:lstStyle/>
          <a:p>
            <a:pPr>
              <a:defRPr sz="1500">
                <a:solidFill>
                  <a:srgbClr val="5D7073"/>
                </a:solidFill>
                <a:latin typeface="Arial"/>
                <a:ea typeface="Arial"/>
                <a:cs typeface="Arial"/>
              </a:defRPr>
            </a:pPr>
            <a:r>
              <a:t>Dec 2022</a:t>
            </a:r>
          </a:p>
        </p:txBody>
      </p:sp>
      <p:sp>
        <p:nvSpPr>
          <p:cNvPr id="135" name="Rectangle 134">
            <a:extLst>
              <a:ext uri="{FF2B5EF4-FFF2-40B4-BE49-F238E27FC236}">
                <a16:creationId xmlns:a16="http://schemas.microsoft.com/office/drawing/2014/main" id="{A0290639-2B08-4F31-9F6A-AFC495B5967C}"/>
              </a:ext>
            </a:extLst>
          </p:cNvPr>
          <p:cNvSpPr>
            <a:spLocks noGrp="1"/>
          </p:cNvSpPr>
          <p:nvPr/>
        </p:nvSpPr>
        <p:spPr>
          <a:xfrm>
            <a:off x="2952750" y="2238375"/>
            <a:ext cx="2095500" cy="381000"/>
          </a:xfrm>
          <a:prstGeom prst="rect">
            <a:avLst/>
          </a:prstGeom>
        </p:spPr>
        <p:txBody>
          <a:bodyPr lIns="0" tIns="0" rIns="0" bIns="0" anchor="ctr"/>
          <a:lstStyle/>
          <a:p>
            <a:pPr>
              <a:defRPr sz="1725">
                <a:solidFill>
                  <a:srgbClr val="B95C33"/>
                </a:solidFill>
                <a:latin typeface="Arial"/>
                <a:ea typeface="Arial"/>
                <a:cs typeface="Arial"/>
              </a:defRPr>
            </a:pPr>
            <a:r>
              <a:t>Immediate shift</a:t>
            </a:r>
          </a:p>
        </p:txBody>
      </p:sp>
      <p:sp>
        <p:nvSpPr>
          <p:cNvPr id="136" name="Rectangle 135">
            <a:extLst>
              <a:ext uri="{FF2B5EF4-FFF2-40B4-BE49-F238E27FC236}">
                <a16:creationId xmlns:a16="http://schemas.microsoft.com/office/drawing/2014/main" id="{77257027-5678-4C4B-8E6B-FCADB45492AD}"/>
              </a:ext>
            </a:extLst>
          </p:cNvPr>
          <p:cNvSpPr>
            <a:spLocks noGrp="1"/>
          </p:cNvSpPr>
          <p:nvPr/>
        </p:nvSpPr>
        <p:spPr>
          <a:xfrm>
            <a:off x="7620000" y="4543425"/>
            <a:ext cx="2667000" cy="381000"/>
          </a:xfrm>
          <a:prstGeom prst="rect">
            <a:avLst/>
          </a:prstGeom>
        </p:spPr>
        <p:txBody>
          <a:bodyPr lIns="0" tIns="0" rIns="0" bIns="0" anchor="ctr"/>
          <a:lstStyle/>
          <a:p>
            <a:pPr>
              <a:defRPr sz="1725">
                <a:solidFill>
                  <a:srgbClr val="B95C33"/>
                </a:solidFill>
                <a:latin typeface="Arial"/>
                <a:ea typeface="Arial"/>
                <a:cs typeface="Arial"/>
              </a:defRPr>
            </a:pPr>
            <a:r>
              <a:t>Change in trend</a:t>
            </a:r>
          </a:p>
        </p:txBody>
      </p:sp>
      <p:sp>
        <p:nvSpPr>
          <p:cNvPr id="137" name="Rectangle 136">
            <a:extLst>
              <a:ext uri="{FF2B5EF4-FFF2-40B4-BE49-F238E27FC236}">
                <a16:creationId xmlns:a16="http://schemas.microsoft.com/office/drawing/2014/main" id="{CF08AC41-0173-48C2-B08C-067EC25B8C65}"/>
              </a:ext>
            </a:extLst>
          </p:cNvPr>
          <p:cNvSpPr>
            <a:spLocks noGrp="1"/>
          </p:cNvSpPr>
          <p:nvPr/>
        </p:nvSpPr>
        <p:spPr>
          <a:xfrm>
            <a:off x="7096125" y="2047875"/>
            <a:ext cx="3143250" cy="381000"/>
          </a:xfrm>
          <a:prstGeom prst="rect">
            <a:avLst/>
          </a:prstGeom>
        </p:spPr>
        <p:txBody>
          <a:bodyPr lIns="0" tIns="0" rIns="0" bIns="0" anchor="ctr"/>
          <a:lstStyle/>
          <a:p>
            <a:pPr>
              <a:defRPr sz="1725">
                <a:solidFill>
                  <a:srgbClr val="5D7073"/>
                </a:solidFill>
                <a:latin typeface="Arial"/>
                <a:ea typeface="Arial"/>
                <a:cs typeface="Arial"/>
              </a:defRPr>
            </a:pPr>
            <a:r>
              <a:t>Earlier trend continued</a:t>
            </a:r>
          </a:p>
        </p:txBody>
      </p:sp>
      <p:sp>
        <p:nvSpPr>
          <p:cNvPr id="138" name="Rectangle 137">
            <a:extLst>
              <a:ext uri="{FF2B5EF4-FFF2-40B4-BE49-F238E27FC236}">
                <a16:creationId xmlns:a16="http://schemas.microsoft.com/office/drawing/2014/main" id="{AA362763-B89C-4885-A2E3-C9F70A4E5C4C}"/>
              </a:ext>
            </a:extLst>
          </p:cNvPr>
          <p:cNvSpPr>
            <a:spLocks noGrp="1"/>
          </p:cNvSpPr>
          <p:nvPr/>
        </p:nvSpPr>
        <p:spPr>
          <a:xfrm>
            <a:off x="666750" y="5715000"/>
            <a:ext cx="10858500" cy="428625"/>
          </a:xfrm>
          <a:prstGeom prst="rect">
            <a:avLst/>
          </a:prstGeom>
        </p:spPr>
        <p:txBody>
          <a:bodyPr lIns="0" tIns="0" rIns="0" bIns="0" anchor="ctr"/>
          <a:lstStyle/>
          <a:p>
            <a:pPr>
              <a:defRPr sz="1875">
                <a:solidFill>
                  <a:srgbClr val="182C30"/>
                </a:solidFill>
                <a:latin typeface="Arial"/>
                <a:ea typeface="Arial"/>
                <a:cs typeface="Arial"/>
              </a:defRPr>
            </a:pPr>
            <a:r>
              <a:t>Estimate the shift and trend change, each with a 95% confidence interval.</a:t>
            </a:r>
          </a:p>
        </p:txBody>
      </p:sp>
      <p:sp>
        <p:nvSpPr>
          <p:cNvPr id="139" name="Rectangle 138">
            <a:extLst>
              <a:ext uri="{FF2B5EF4-FFF2-40B4-BE49-F238E27FC236}">
                <a16:creationId xmlns:a16="http://schemas.microsoft.com/office/drawing/2014/main" id="{E24358B8-27BB-4B65-83A1-894E1FA73815}"/>
              </a:ext>
            </a:extLst>
          </p:cNvPr>
          <p:cNvSpPr>
            <a:spLocks noGrp="1"/>
          </p:cNvSpPr>
          <p:nvPr/>
        </p:nvSpPr>
        <p:spPr>
          <a:xfrm>
            <a:off x="666750" y="6257925"/>
            <a:ext cx="10477500" cy="266700"/>
          </a:xfrm>
          <a:prstGeom prst="rect">
            <a:avLst/>
          </a:prstGeom>
        </p:spPr>
        <p:txBody>
          <a:bodyPr lIns="0" tIns="0" rIns="0" bIns="0" anchor="ctr"/>
          <a:lstStyle/>
          <a:p>
            <a:pPr>
              <a:defRPr sz="1350">
                <a:solidFill>
                  <a:srgbClr val="5D7073"/>
                </a:solidFill>
                <a:latin typeface="Arial"/>
                <a:ea typeface="Arial"/>
                <a:cs typeface="Arial"/>
              </a:defRPr>
            </a:pPr>
            <a:r>
              <a:t>Illustration only. Annual patterns are accounted for in the model.</a:t>
            </a:r>
          </a:p>
        </p:txBody>
      </p:sp>
      <p:sp>
        <p:nvSpPr>
          <p:cNvPr id="140" name="Rectangle 139">
            <a:extLst>
              <a:ext uri="{FF2B5EF4-FFF2-40B4-BE49-F238E27FC236}">
                <a16:creationId xmlns:a16="http://schemas.microsoft.com/office/drawing/2014/main" id="{053879DF-AEF5-4CA6-8052-9A0DCCE8277C}"/>
              </a:ext>
            </a:extLst>
          </p:cNvPr>
          <p:cNvSpPr>
            <a:spLocks noGrp="1"/>
          </p:cNvSpPr>
          <p:nvPr/>
        </p:nvSpPr>
        <p:spPr>
          <a:xfrm>
            <a:off x="11382375" y="6457950"/>
            <a:ext cx="285750" cy="209550"/>
          </a:xfrm>
          <a:prstGeom prst="rect">
            <a:avLst/>
          </a:prstGeom>
        </p:spPr>
        <p:txBody>
          <a:bodyPr lIns="0" tIns="0" rIns="0" bIns="0" anchor="ctr"/>
          <a:lstStyle/>
          <a:p>
            <a:pPr>
              <a:defRPr sz="1050">
                <a:solidFill>
                  <a:srgbClr val="5D7073"/>
                </a:solidFill>
                <a:latin typeface="Arial"/>
                <a:ea typeface="Arial"/>
                <a:cs typeface="Arial"/>
              </a:defRPr>
            </a:pPr>
            <a:r>
              <a:t>11</a:t>
            </a:r>
          </a:p>
        </p:txBody>
      </p:sp>
      <p:sp>
        <p:nvSpPr>
          <p:cNvPr id="141" name="Rectangle 140">
            <a:extLst>
              <a:ext uri="{FF2B5EF4-FFF2-40B4-BE49-F238E27FC236}">
                <a16:creationId xmlns:a16="http://schemas.microsoft.com/office/drawing/2014/main" id="{80B7DE4B-AC3B-42C6-83CB-6F8D1E289899}"/>
              </a:ext>
            </a:extLst>
          </p:cNvPr>
          <p:cNvSpPr>
            <a:spLocks noGrp="1"/>
          </p:cNvSpPr>
          <p:nvPr/>
        </p:nvSpPr>
        <p:spPr>
          <a:xfrm>
            <a:off x="4429125" y="2667000"/>
            <a:ext cx="9525" cy="9525"/>
          </a:xfrm>
          <a:prstGeom prst="rect">
            <a:avLst/>
          </a:prstGeom>
          <a:noFill/>
          <a:ln w="0">
            <a:noFill/>
            <a:prstDash val="solid"/>
          </a:ln>
        </p:spPr>
      </p:sp>
      <p:sp>
        <p:nvSpPr>
          <p:cNvPr id="142" name="Rectangle 141">
            <a:extLst>
              <a:ext uri="{FF2B5EF4-FFF2-40B4-BE49-F238E27FC236}">
                <a16:creationId xmlns:a16="http://schemas.microsoft.com/office/drawing/2014/main" id="{6B20534D-D952-4445-8092-E244FF0AD86D}"/>
              </a:ext>
            </a:extLst>
          </p:cNvPr>
          <p:cNvSpPr>
            <a:spLocks noGrp="1"/>
          </p:cNvSpPr>
          <p:nvPr/>
        </p:nvSpPr>
        <p:spPr>
          <a:xfrm>
            <a:off x="5049202" y="3300413"/>
            <a:ext cx="9525" cy="9525"/>
          </a:xfrm>
          <a:prstGeom prst="rect">
            <a:avLst/>
          </a:prstGeom>
          <a:noFill/>
          <a:ln w="0">
            <a:noFill/>
            <a:prstDash val="solid"/>
          </a:ln>
        </p:spPr>
      </p:sp>
      <p:cxnSp>
        <p:nvCxnSpPr>
          <p:cNvPr id="143" name="Straight Arrow Connector 142"/>
          <p:cNvCxnSpPr>
            <a:stCxn id="141" idx="3"/>
            <a:endCxn id="142" idx="1"/>
          </p:cNvCxnSpPr>
          <p:nvPr/>
        </p:nvCxnSpPr>
        <p:spPr>
          <a:xfrm>
            <a:off x="4438650" y="2671763"/>
            <a:ext cx="610552" cy="633413"/>
          </a:xfrm>
          <a:prstGeom prst="straightConnector1">
            <a:avLst/>
          </a:prstGeom>
          <a:ln w="19050">
            <a:solidFill>
              <a:srgbClr val="B95C33"/>
            </a:solidFill>
            <a:tailEnd type="arrow" w="med" len="med"/>
          </a:ln>
        </p:spPr>
      </p:cxnSp>
      <p:sp>
        <p:nvSpPr>
          <p:cNvPr id="144" name="Rectangle 143">
            <a:extLst>
              <a:ext uri="{FF2B5EF4-FFF2-40B4-BE49-F238E27FC236}">
                <a16:creationId xmlns:a16="http://schemas.microsoft.com/office/drawing/2014/main" id="{EF8DE3D4-EAD6-431F-A6DD-CCCA9DFAD991}"/>
              </a:ext>
            </a:extLst>
          </p:cNvPr>
          <p:cNvSpPr>
            <a:spLocks noGrp="1"/>
          </p:cNvSpPr>
          <p:nvPr/>
        </p:nvSpPr>
        <p:spPr>
          <a:xfrm>
            <a:off x="8905875" y="4533900"/>
            <a:ext cx="9525" cy="9525"/>
          </a:xfrm>
          <a:prstGeom prst="rect">
            <a:avLst/>
          </a:prstGeom>
          <a:noFill/>
          <a:ln w="0">
            <a:noFill/>
            <a:prstDash val="solid"/>
          </a:ln>
        </p:spPr>
      </p:sp>
      <p:sp>
        <p:nvSpPr>
          <p:cNvPr id="145" name="Rectangle 144">
            <a:extLst>
              <a:ext uri="{FF2B5EF4-FFF2-40B4-BE49-F238E27FC236}">
                <a16:creationId xmlns:a16="http://schemas.microsoft.com/office/drawing/2014/main" id="{84F5D12F-0A87-4416-9B70-01B8AB668378}"/>
              </a:ext>
            </a:extLst>
          </p:cNvPr>
          <p:cNvSpPr>
            <a:spLocks noGrp="1"/>
          </p:cNvSpPr>
          <p:nvPr/>
        </p:nvSpPr>
        <p:spPr>
          <a:xfrm>
            <a:off x="8586788" y="4154805"/>
            <a:ext cx="9525" cy="9525"/>
          </a:xfrm>
          <a:prstGeom prst="rect">
            <a:avLst/>
          </a:prstGeom>
          <a:noFill/>
          <a:ln w="0">
            <a:noFill/>
            <a:prstDash val="solid"/>
          </a:ln>
        </p:spPr>
      </p:sp>
      <p:cxnSp>
        <p:nvCxnSpPr>
          <p:cNvPr id="146" name="Straight Arrow Connector 145"/>
          <p:cNvCxnSpPr>
            <a:stCxn id="144" idx="3"/>
            <a:endCxn id="145" idx="1"/>
          </p:cNvCxnSpPr>
          <p:nvPr/>
        </p:nvCxnSpPr>
        <p:spPr>
          <a:xfrm flipH="1" flipV="1">
            <a:off x="8586788" y="4159568"/>
            <a:ext cx="328612" cy="379095"/>
          </a:xfrm>
          <a:prstGeom prst="straightConnector1">
            <a:avLst/>
          </a:prstGeom>
          <a:ln w="19050">
            <a:solidFill>
              <a:srgbClr val="B95C33"/>
            </a:solidFill>
            <a:tailEnd type="arrow" w="med" len="med"/>
          </a:ln>
        </p:spPr>
      </p:cxnSp>
      <p:sp>
        <p:nvSpPr>
          <p:cNvPr id="147" name="Rectangle 146">
            <a:extLst>
              <a:ext uri="{FF2B5EF4-FFF2-40B4-BE49-F238E27FC236}">
                <a16:creationId xmlns:a16="http://schemas.microsoft.com/office/drawing/2014/main" id="{B8308440-B2F9-465E-ACC9-BB60112348C3}"/>
              </a:ext>
            </a:extLst>
          </p:cNvPr>
          <p:cNvSpPr>
            <a:spLocks noGrp="1"/>
          </p:cNvSpPr>
          <p:nvPr/>
        </p:nvSpPr>
        <p:spPr>
          <a:xfrm>
            <a:off x="8382000" y="2447925"/>
            <a:ext cx="9525" cy="9525"/>
          </a:xfrm>
          <a:prstGeom prst="rect">
            <a:avLst/>
          </a:prstGeom>
          <a:noFill/>
          <a:ln w="0">
            <a:noFill/>
            <a:prstDash val="solid"/>
          </a:ln>
        </p:spPr>
      </p:sp>
      <p:sp>
        <p:nvSpPr>
          <p:cNvPr id="148" name="Rectangle 147">
            <a:extLst>
              <a:ext uri="{FF2B5EF4-FFF2-40B4-BE49-F238E27FC236}">
                <a16:creationId xmlns:a16="http://schemas.microsoft.com/office/drawing/2014/main" id="{99C9320B-E463-4322-8DDB-55491ED37DA2}"/>
              </a:ext>
            </a:extLst>
          </p:cNvPr>
          <p:cNvSpPr>
            <a:spLocks noGrp="1"/>
          </p:cNvSpPr>
          <p:nvPr/>
        </p:nvSpPr>
        <p:spPr>
          <a:xfrm>
            <a:off x="8427720" y="2690813"/>
            <a:ext cx="9525" cy="9525"/>
          </a:xfrm>
          <a:prstGeom prst="rect">
            <a:avLst/>
          </a:prstGeom>
          <a:noFill/>
          <a:ln w="0">
            <a:noFill/>
            <a:prstDash val="solid"/>
          </a:ln>
        </p:spPr>
      </p:sp>
      <p:cxnSp>
        <p:nvCxnSpPr>
          <p:cNvPr id="149" name="Straight Arrow Connector 148"/>
          <p:cNvCxnSpPr>
            <a:stCxn id="147" idx="3"/>
            <a:endCxn id="148" idx="1"/>
          </p:cNvCxnSpPr>
          <p:nvPr/>
        </p:nvCxnSpPr>
        <p:spPr>
          <a:xfrm>
            <a:off x="8391525" y="2452688"/>
            <a:ext cx="36195" cy="242888"/>
          </a:xfrm>
          <a:prstGeom prst="straightConnector1">
            <a:avLst/>
          </a:prstGeom>
          <a:ln w="19050">
            <a:solidFill>
              <a:srgbClr val="5D7073"/>
            </a:solidFill>
            <a:tailEnd type="arrow" w="med" len="med"/>
          </a:ln>
        </p:spPr>
      </p:cxnSp>
    </p:spTree>
    <p:extLst>
      <p:ext uri="{BB962C8B-B14F-4D97-AF65-F5344CB8AC3E}">
        <p14:creationId xmlns:p14="http://schemas.microsoft.com/office/powerpoint/2010/main" val="201916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8" name="text-1">
            <a:extLst>
              <a:ext uri="{FF2B5EF4-FFF2-40B4-BE49-F238E27FC236}">
                <a16:creationId xmlns:a16="http://schemas.microsoft.com/office/drawing/2014/main" id="{B22C730A-67B7-4B6A-B901-9F7339D0F26D}"/>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Validate the filter and the diversity measure</a:t>
            </a:r>
          </a:p>
        </p:txBody>
      </p:sp>
      <p:sp>
        <p:nvSpPr>
          <p:cNvPr id="2" name="text-2">
            <a:extLst>
              <a:ext uri="{FF2B5EF4-FFF2-40B4-BE49-F238E27FC236}">
                <a16:creationId xmlns:a16="http://schemas.microsoft.com/office/drawing/2014/main" id="{FDF5E825-AACC-463B-856B-48DD50EE240D}"/>
              </a:ext>
            </a:extLst>
          </p:cNvPr>
          <p:cNvSpPr>
            <a:spLocks noGrp="1"/>
          </p:cNvSpPr>
          <p:nvPr/>
        </p:nvSpPr>
        <p:spPr>
          <a:xfrm>
            <a:off x="666750" y="2009775"/>
            <a:ext cx="1333500" cy="685800"/>
          </a:xfrm>
          <a:prstGeom prst="rect">
            <a:avLst/>
          </a:prstGeom>
        </p:spPr>
        <p:txBody>
          <a:bodyPr lIns="0" tIns="0" rIns="0" bIns="0" anchor="ctr"/>
          <a:lstStyle/>
          <a:p>
            <a:pPr algn="l">
              <a:spcBef>
                <a:spcPts val="0"/>
              </a:spcBef>
              <a:spcAft>
                <a:spcPts val="0"/>
              </a:spcAft>
              <a:buNone/>
              <a:defRPr sz="4050" b="0">
                <a:solidFill>
                  <a:srgbClr val="006D77"/>
                </a:solidFill>
                <a:latin typeface="Georgia"/>
                <a:ea typeface="Georgia"/>
                <a:cs typeface="Georgia"/>
              </a:defRPr>
            </a:pPr>
            <a:r>
              <a:t>100</a:t>
            </a:r>
          </a:p>
        </p:txBody>
      </p:sp>
      <p:sp>
        <p:nvSpPr>
          <p:cNvPr id="3" name="text-3">
            <a:extLst>
              <a:ext uri="{FF2B5EF4-FFF2-40B4-BE49-F238E27FC236}">
                <a16:creationId xmlns:a16="http://schemas.microsoft.com/office/drawing/2014/main" id="{E5AAFB67-CB89-4CCB-93C4-C1E07ECA54A5}"/>
              </a:ext>
            </a:extLst>
          </p:cNvPr>
          <p:cNvSpPr>
            <a:spLocks noGrp="1"/>
          </p:cNvSpPr>
          <p:nvPr/>
        </p:nvSpPr>
        <p:spPr>
          <a:xfrm>
            <a:off x="2181225" y="2105025"/>
            <a:ext cx="2190750" cy="428625"/>
          </a:xfrm>
          <a:prstGeom prst="rect">
            <a:avLst/>
          </a:prstGeom>
        </p:spPr>
        <p:txBody>
          <a:bodyPr lIns="0" tIns="0" rIns="0" bIns="0" anchor="ctr"/>
          <a:lstStyle/>
          <a:p>
            <a:pPr algn="l">
              <a:spcBef>
                <a:spcPts val="0"/>
              </a:spcBef>
              <a:spcAft>
                <a:spcPts val="0"/>
              </a:spcAft>
              <a:buNone/>
              <a:defRPr sz="2025" b="0">
                <a:solidFill>
                  <a:srgbClr val="182C30"/>
                </a:solidFill>
                <a:latin typeface="Arial"/>
                <a:ea typeface="Arial"/>
                <a:cs typeface="Arial"/>
              </a:defRPr>
            </a:pPr>
            <a:r>
              <a:t>candidates</a:t>
            </a:r>
          </a:p>
        </p:txBody>
      </p:sp>
      <p:sp>
        <p:nvSpPr>
          <p:cNvPr id="4" name="text-4">
            <a:extLst>
              <a:ext uri="{FF2B5EF4-FFF2-40B4-BE49-F238E27FC236}">
                <a16:creationId xmlns:a16="http://schemas.microsoft.com/office/drawing/2014/main" id="{32329012-A8A8-4BFE-9BFA-BB489C9670F0}"/>
              </a:ext>
            </a:extLst>
          </p:cNvPr>
          <p:cNvSpPr>
            <a:spLocks noGrp="1"/>
          </p:cNvSpPr>
          <p:nvPr/>
        </p:nvSpPr>
        <p:spPr>
          <a:xfrm>
            <a:off x="4743450" y="2047875"/>
            <a:ext cx="6781800" cy="428625"/>
          </a:xfrm>
          <a:prstGeom prst="rect">
            <a:avLst/>
          </a:prstGeom>
        </p:spPr>
        <p:txBody>
          <a:bodyPr lIns="0" tIns="0" rIns="0" bIns="0" anchor="ctr"/>
          <a:lstStyle/>
          <a:p>
            <a:pPr algn="l">
              <a:spcBef>
                <a:spcPts val="0"/>
              </a:spcBef>
              <a:spcAft>
                <a:spcPts val="0"/>
              </a:spcAft>
              <a:buNone/>
              <a:defRPr sz="2100" b="0">
                <a:solidFill>
                  <a:srgbClr val="182C30"/>
                </a:solidFill>
                <a:latin typeface="Arial"/>
                <a:ea typeface="Arial"/>
                <a:cs typeface="Arial"/>
              </a:defRPr>
            </a:pPr>
            <a:r>
              <a:t>Is “project” classified correctly?</a:t>
            </a:r>
          </a:p>
        </p:txBody>
      </p:sp>
      <p:sp>
        <p:nvSpPr>
          <p:cNvPr id="5" name="text-5">
            <a:extLst>
              <a:ext uri="{FF2B5EF4-FFF2-40B4-BE49-F238E27FC236}">
                <a16:creationId xmlns:a16="http://schemas.microsoft.com/office/drawing/2014/main" id="{E0A47D75-2359-4C7B-94C4-5768C0824C08}"/>
              </a:ext>
            </a:extLst>
          </p:cNvPr>
          <p:cNvSpPr>
            <a:spLocks noGrp="1"/>
          </p:cNvSpPr>
          <p:nvPr/>
        </p:nvSpPr>
        <p:spPr>
          <a:xfrm>
            <a:off x="4743450" y="2533650"/>
            <a:ext cx="6781800" cy="400050"/>
          </a:xfrm>
          <a:prstGeom prst="rect">
            <a:avLst/>
          </a:prstGeom>
        </p:spPr>
        <p:txBody>
          <a:bodyPr lIns="0" tIns="0" rIns="0" bIns="0" anchor="ctr"/>
          <a:lstStyle/>
          <a:p>
            <a:pPr algn="l">
              <a:spcBef>
                <a:spcPts val="0"/>
              </a:spcBef>
              <a:spcAft>
                <a:spcPts val="0"/>
              </a:spcAft>
              <a:buNone/>
              <a:defRPr sz="1725" b="0">
                <a:solidFill>
                  <a:srgbClr val="5D7073"/>
                </a:solidFill>
                <a:latin typeface="Arial"/>
                <a:ea typeface="Arial"/>
                <a:cs typeface="Arial"/>
              </a:defRPr>
            </a:pPr>
            <a:r>
              <a:t>Precision + recall, before vs. after</a:t>
            </a:r>
          </a:p>
        </p:txBody>
      </p:sp>
      <p:sp>
        <p:nvSpPr>
          <p:cNvPr id="6" name="shape-6">
            <a:extLst>
              <a:ext uri="{FF2B5EF4-FFF2-40B4-BE49-F238E27FC236}">
                <a16:creationId xmlns:a16="http://schemas.microsoft.com/office/drawing/2014/main" id="{95452372-63C7-48DC-89BA-24C6155B2AFD}"/>
              </a:ext>
            </a:extLst>
          </p:cNvPr>
          <p:cNvSpPr>
            <a:spLocks noGrp="1"/>
          </p:cNvSpPr>
          <p:nvPr/>
        </p:nvSpPr>
        <p:spPr>
          <a:xfrm>
            <a:off x="666750" y="3105150"/>
            <a:ext cx="10858500" cy="9525"/>
          </a:xfrm>
          <a:prstGeom prst="rect">
            <a:avLst/>
          </a:prstGeom>
          <a:solidFill>
            <a:srgbClr val="C9D3D1"/>
          </a:solidFill>
          <a:ln w="0">
            <a:noFill/>
            <a:prstDash val="solid"/>
          </a:ln>
        </p:spPr>
      </p:sp>
      <p:sp>
        <p:nvSpPr>
          <p:cNvPr id="7" name="text-7">
            <a:extLst>
              <a:ext uri="{FF2B5EF4-FFF2-40B4-BE49-F238E27FC236}">
                <a16:creationId xmlns:a16="http://schemas.microsoft.com/office/drawing/2014/main" id="{53E949DB-E62F-437E-90B0-3A757027B29E}"/>
              </a:ext>
            </a:extLst>
          </p:cNvPr>
          <p:cNvSpPr>
            <a:spLocks noGrp="1"/>
          </p:cNvSpPr>
          <p:nvPr/>
        </p:nvSpPr>
        <p:spPr>
          <a:xfrm>
            <a:off x="666750" y="3333750"/>
            <a:ext cx="1333500" cy="685800"/>
          </a:xfrm>
          <a:prstGeom prst="rect">
            <a:avLst/>
          </a:prstGeom>
        </p:spPr>
        <p:txBody>
          <a:bodyPr lIns="0" tIns="0" rIns="0" bIns="0" anchor="ctr"/>
          <a:lstStyle/>
          <a:p>
            <a:pPr algn="l">
              <a:spcBef>
                <a:spcPts val="0"/>
              </a:spcBef>
              <a:spcAft>
                <a:spcPts val="0"/>
              </a:spcAft>
              <a:buNone/>
              <a:defRPr sz="4050" b="0">
                <a:solidFill>
                  <a:srgbClr val="006D77"/>
                </a:solidFill>
                <a:latin typeface="Georgia"/>
                <a:ea typeface="Georgia"/>
                <a:cs typeface="Georgia"/>
              </a:defRPr>
            </a:pPr>
            <a:r>
              <a:t>50</a:t>
            </a:r>
          </a:p>
        </p:txBody>
      </p:sp>
      <p:sp>
        <p:nvSpPr>
          <p:cNvPr id="8" name="text-8">
            <a:extLst>
              <a:ext uri="{FF2B5EF4-FFF2-40B4-BE49-F238E27FC236}">
                <a16:creationId xmlns:a16="http://schemas.microsoft.com/office/drawing/2014/main" id="{9C8C92E7-93B4-4788-B549-EDC6599FB694}"/>
              </a:ext>
            </a:extLst>
          </p:cNvPr>
          <p:cNvSpPr>
            <a:spLocks noGrp="1"/>
          </p:cNvSpPr>
          <p:nvPr/>
        </p:nvSpPr>
        <p:spPr>
          <a:xfrm>
            <a:off x="2181225" y="3429000"/>
            <a:ext cx="2190750" cy="428625"/>
          </a:xfrm>
          <a:prstGeom prst="rect">
            <a:avLst/>
          </a:prstGeom>
        </p:spPr>
        <p:txBody>
          <a:bodyPr lIns="0" tIns="0" rIns="0" bIns="0" anchor="ctr"/>
          <a:lstStyle/>
          <a:p>
            <a:pPr algn="l">
              <a:spcBef>
                <a:spcPts val="0"/>
              </a:spcBef>
              <a:spcAft>
                <a:spcPts val="0"/>
              </a:spcAft>
              <a:buNone/>
              <a:defRPr sz="2025" b="0">
                <a:solidFill>
                  <a:srgbClr val="182C30"/>
                </a:solidFill>
                <a:latin typeface="Arial"/>
                <a:ea typeface="Arial"/>
                <a:cs typeface="Arial"/>
              </a:defRPr>
            </a:pPr>
            <a:r>
              <a:t>summaries</a:t>
            </a:r>
          </a:p>
        </p:txBody>
      </p:sp>
      <p:sp>
        <p:nvSpPr>
          <p:cNvPr id="9" name="text-9">
            <a:extLst>
              <a:ext uri="{FF2B5EF4-FFF2-40B4-BE49-F238E27FC236}">
                <a16:creationId xmlns:a16="http://schemas.microsoft.com/office/drawing/2014/main" id="{40041956-B793-4AA6-9BE8-D17BB3FD9074}"/>
              </a:ext>
            </a:extLst>
          </p:cNvPr>
          <p:cNvSpPr>
            <a:spLocks noGrp="1"/>
          </p:cNvSpPr>
          <p:nvPr/>
        </p:nvSpPr>
        <p:spPr>
          <a:xfrm>
            <a:off x="4743450" y="3371850"/>
            <a:ext cx="6781800" cy="428625"/>
          </a:xfrm>
          <a:prstGeom prst="rect">
            <a:avLst/>
          </a:prstGeom>
        </p:spPr>
        <p:txBody>
          <a:bodyPr lIns="0" tIns="0" rIns="0" bIns="0" anchor="ctr"/>
          <a:lstStyle/>
          <a:p>
            <a:pPr algn="l">
              <a:spcBef>
                <a:spcPts val="0"/>
              </a:spcBef>
              <a:spcAft>
                <a:spcPts val="0"/>
              </a:spcAft>
              <a:buNone/>
              <a:defRPr sz="2100" b="0">
                <a:solidFill>
                  <a:srgbClr val="182C30"/>
                </a:solidFill>
                <a:latin typeface="Arial"/>
                <a:ea typeface="Arial"/>
                <a:cs typeface="Arial"/>
              </a:defRPr>
            </a:pPr>
            <a:r>
              <a:t>Does the statement match its source?</a:t>
            </a:r>
          </a:p>
        </p:txBody>
      </p:sp>
      <p:sp>
        <p:nvSpPr>
          <p:cNvPr id="10" name="text-10">
            <a:extLst>
              <a:ext uri="{FF2B5EF4-FFF2-40B4-BE49-F238E27FC236}">
                <a16:creationId xmlns:a16="http://schemas.microsoft.com/office/drawing/2014/main" id="{D21E8B8C-85F9-4695-9A70-EC6B2A8A4E01}"/>
              </a:ext>
            </a:extLst>
          </p:cNvPr>
          <p:cNvSpPr>
            <a:spLocks noGrp="1"/>
          </p:cNvSpPr>
          <p:nvPr/>
        </p:nvSpPr>
        <p:spPr>
          <a:xfrm>
            <a:off x="4743450" y="3857625"/>
            <a:ext cx="6781800" cy="400050"/>
          </a:xfrm>
          <a:prstGeom prst="rect">
            <a:avLst/>
          </a:prstGeom>
        </p:spPr>
        <p:txBody>
          <a:bodyPr lIns="0" tIns="0" rIns="0" bIns="0" anchor="ctr"/>
          <a:lstStyle/>
          <a:p>
            <a:pPr algn="l">
              <a:spcBef>
                <a:spcPts val="0"/>
              </a:spcBef>
              <a:spcAft>
                <a:spcPts val="0"/>
              </a:spcAft>
              <a:buNone/>
              <a:defRPr sz="1725" b="0">
                <a:solidFill>
                  <a:srgbClr val="5D7073"/>
                </a:solidFill>
                <a:latin typeface="Arial"/>
                <a:ea typeface="Arial"/>
                <a:cs typeface="Arial"/>
              </a:defRPr>
            </a:pPr>
            <a:r>
              <a:t>Target: 90% faithful summaries</a:t>
            </a:r>
          </a:p>
        </p:txBody>
      </p:sp>
      <p:sp>
        <p:nvSpPr>
          <p:cNvPr id="11" name="shape-11">
            <a:extLst>
              <a:ext uri="{FF2B5EF4-FFF2-40B4-BE49-F238E27FC236}">
                <a16:creationId xmlns:a16="http://schemas.microsoft.com/office/drawing/2014/main" id="{C8FFE7EF-6CBC-47A1-AF23-80ED734057F3}"/>
              </a:ext>
            </a:extLst>
          </p:cNvPr>
          <p:cNvSpPr>
            <a:spLocks noGrp="1"/>
          </p:cNvSpPr>
          <p:nvPr/>
        </p:nvSpPr>
        <p:spPr>
          <a:xfrm>
            <a:off x="666750" y="4429125"/>
            <a:ext cx="10858500" cy="9525"/>
          </a:xfrm>
          <a:prstGeom prst="rect">
            <a:avLst/>
          </a:prstGeom>
          <a:solidFill>
            <a:srgbClr val="C9D3D1"/>
          </a:solidFill>
          <a:ln w="0">
            <a:noFill/>
            <a:prstDash val="solid"/>
          </a:ln>
        </p:spPr>
      </p:sp>
      <p:sp>
        <p:nvSpPr>
          <p:cNvPr id="12" name="text-12">
            <a:extLst>
              <a:ext uri="{FF2B5EF4-FFF2-40B4-BE49-F238E27FC236}">
                <a16:creationId xmlns:a16="http://schemas.microsoft.com/office/drawing/2014/main" id="{50277166-0F5E-44EF-B147-ACAD2150A7F3}"/>
              </a:ext>
            </a:extLst>
          </p:cNvPr>
          <p:cNvSpPr>
            <a:spLocks noGrp="1"/>
          </p:cNvSpPr>
          <p:nvPr/>
        </p:nvSpPr>
        <p:spPr>
          <a:xfrm>
            <a:off x="666750" y="4657725"/>
            <a:ext cx="1333500" cy="685800"/>
          </a:xfrm>
          <a:prstGeom prst="rect">
            <a:avLst/>
          </a:prstGeom>
        </p:spPr>
        <p:txBody>
          <a:bodyPr lIns="0" tIns="0" rIns="0" bIns="0" anchor="ctr"/>
          <a:lstStyle/>
          <a:p>
            <a:pPr algn="l">
              <a:spcBef>
                <a:spcPts val="0"/>
              </a:spcBef>
              <a:spcAft>
                <a:spcPts val="0"/>
              </a:spcAft>
              <a:buNone/>
              <a:defRPr sz="4050" b="0">
                <a:solidFill>
                  <a:srgbClr val="006D77"/>
                </a:solidFill>
                <a:latin typeface="Georgia"/>
                <a:ea typeface="Georgia"/>
                <a:cs typeface="Georgia"/>
              </a:defRPr>
            </a:pPr>
            <a:r>
              <a:t>50</a:t>
            </a:r>
          </a:p>
        </p:txBody>
      </p:sp>
      <p:sp>
        <p:nvSpPr>
          <p:cNvPr id="13" name="text-13">
            <a:extLst>
              <a:ext uri="{FF2B5EF4-FFF2-40B4-BE49-F238E27FC236}">
                <a16:creationId xmlns:a16="http://schemas.microsoft.com/office/drawing/2014/main" id="{1A3DEB9E-C758-407E-AA04-F9BF61B86D68}"/>
              </a:ext>
            </a:extLst>
          </p:cNvPr>
          <p:cNvSpPr>
            <a:spLocks noGrp="1"/>
          </p:cNvSpPr>
          <p:nvPr/>
        </p:nvSpPr>
        <p:spPr>
          <a:xfrm>
            <a:off x="2181225" y="4752975"/>
            <a:ext cx="2190750" cy="428625"/>
          </a:xfrm>
          <a:prstGeom prst="rect">
            <a:avLst/>
          </a:prstGeom>
        </p:spPr>
        <p:txBody>
          <a:bodyPr lIns="0" tIns="0" rIns="0" bIns="0" anchor="ctr"/>
          <a:lstStyle/>
          <a:p>
            <a:pPr algn="l">
              <a:spcBef>
                <a:spcPts val="0"/>
              </a:spcBef>
              <a:spcAft>
                <a:spcPts val="0"/>
              </a:spcAft>
              <a:buNone/>
              <a:defRPr sz="2025" b="0">
                <a:solidFill>
                  <a:srgbClr val="182C30"/>
                </a:solidFill>
                <a:latin typeface="Arial"/>
                <a:ea typeface="Arial"/>
                <a:cs typeface="Arial"/>
              </a:defRPr>
            </a:pPr>
            <a:r>
              <a:t>idea pairs</a:t>
            </a:r>
          </a:p>
        </p:txBody>
      </p:sp>
      <p:sp>
        <p:nvSpPr>
          <p:cNvPr id="14" name="text-14">
            <a:extLst>
              <a:ext uri="{FF2B5EF4-FFF2-40B4-BE49-F238E27FC236}">
                <a16:creationId xmlns:a16="http://schemas.microsoft.com/office/drawing/2014/main" id="{ABB2E125-B23A-44DB-9FCB-FD4DDFEE91BE}"/>
              </a:ext>
            </a:extLst>
          </p:cNvPr>
          <p:cNvSpPr>
            <a:spLocks noGrp="1"/>
          </p:cNvSpPr>
          <p:nvPr/>
        </p:nvSpPr>
        <p:spPr>
          <a:xfrm>
            <a:off x="4743450" y="4695825"/>
            <a:ext cx="6781800" cy="428625"/>
          </a:xfrm>
          <a:prstGeom prst="rect">
            <a:avLst/>
          </a:prstGeom>
        </p:spPr>
        <p:txBody>
          <a:bodyPr lIns="0" tIns="0" rIns="0" bIns="0" anchor="ctr"/>
          <a:lstStyle/>
          <a:p>
            <a:pPr algn="l">
              <a:spcBef>
                <a:spcPts val="0"/>
              </a:spcBef>
              <a:spcAft>
                <a:spcPts val="0"/>
              </a:spcAft>
              <a:buNone/>
              <a:defRPr sz="2100" b="0">
                <a:solidFill>
                  <a:srgbClr val="182C30"/>
                </a:solidFill>
                <a:latin typeface="Arial"/>
                <a:ea typeface="Arial"/>
                <a:cs typeface="Arial"/>
              </a:defRPr>
            </a:pPr>
            <a:r>
              <a:t>Does distance match human judgment?</a:t>
            </a:r>
          </a:p>
        </p:txBody>
      </p:sp>
      <p:sp>
        <p:nvSpPr>
          <p:cNvPr id="15" name="text-15">
            <a:extLst>
              <a:ext uri="{FF2B5EF4-FFF2-40B4-BE49-F238E27FC236}">
                <a16:creationId xmlns:a16="http://schemas.microsoft.com/office/drawing/2014/main" id="{991BE8F5-0882-4A9F-98CE-1466571CA329}"/>
              </a:ext>
            </a:extLst>
          </p:cNvPr>
          <p:cNvSpPr>
            <a:spLocks noGrp="1"/>
          </p:cNvSpPr>
          <p:nvPr/>
        </p:nvSpPr>
        <p:spPr>
          <a:xfrm>
            <a:off x="4743450" y="5181600"/>
            <a:ext cx="6781800" cy="400050"/>
          </a:xfrm>
          <a:prstGeom prst="rect">
            <a:avLst/>
          </a:prstGeom>
        </p:spPr>
        <p:txBody>
          <a:bodyPr lIns="0" tIns="0" rIns="0" bIns="0" anchor="ctr"/>
          <a:lstStyle/>
          <a:p>
            <a:pPr algn="l">
              <a:spcBef>
                <a:spcPts val="0"/>
              </a:spcBef>
              <a:spcAft>
                <a:spcPts val="0"/>
              </a:spcAft>
              <a:buNone/>
              <a:defRPr sz="1725" b="0">
                <a:solidFill>
                  <a:srgbClr val="5D7073"/>
                </a:solidFill>
                <a:latin typeface="Arial"/>
                <a:ea typeface="Arial"/>
                <a:cs typeface="Arial"/>
              </a:defRPr>
            </a:pPr>
            <a:r>
              <a:t>1–5 ratings; agreement + correlation</a:t>
            </a:r>
          </a:p>
        </p:txBody>
      </p:sp>
      <p:sp>
        <p:nvSpPr>
          <p:cNvPr id="16" name="text-16">
            <a:extLst>
              <a:ext uri="{FF2B5EF4-FFF2-40B4-BE49-F238E27FC236}">
                <a16:creationId xmlns:a16="http://schemas.microsoft.com/office/drawing/2014/main" id="{7AD56ABC-A0E6-4F12-8A5C-FCE276775A1B}"/>
              </a:ext>
            </a:extLst>
          </p:cNvPr>
          <p:cNvSpPr>
            <a:spLocks noGrp="1"/>
          </p:cNvSpPr>
          <p:nvPr/>
        </p:nvSpPr>
        <p:spPr>
          <a:xfrm>
            <a:off x="666750" y="6334125"/>
            <a:ext cx="10287000" cy="238125"/>
          </a:xfrm>
          <a:prstGeom prst="rect">
            <a:avLst/>
          </a:prstGeom>
        </p:spPr>
        <p:txBody>
          <a:bodyPr lIns="0" tIns="0" rIns="0" bIns="0" anchor="ctr"/>
          <a:lstStyle/>
          <a:p>
            <a:pPr algn="l">
              <a:spcBef>
                <a:spcPts val="0"/>
              </a:spcBef>
              <a:spcAft>
                <a:spcPts val="0"/>
              </a:spcAft>
              <a:buNone/>
              <a:defRPr sz="975" b="0">
                <a:solidFill>
                  <a:srgbClr val="5D7073"/>
                </a:solidFill>
                <a:latin typeface="Arial"/>
                <a:ea typeface="Arial"/>
                <a:cs typeface="Arial"/>
              </a:defRPr>
            </a:pPr>
            <a:r>
              <a:t>Planned: two independent reviewers; revise failed measurements before the full run.</a:t>
            </a:r>
          </a:p>
        </p:txBody>
      </p:sp>
      <p:sp>
        <p:nvSpPr>
          <p:cNvPr id="19" name="Rectangle 18">
            <a:extLst>
              <a:ext uri="{FF2B5EF4-FFF2-40B4-BE49-F238E27FC236}">
                <a16:creationId xmlns:a16="http://schemas.microsoft.com/office/drawing/2014/main" id="{983306CC-1D5E-42E9-8591-474E4BBE8BBA}"/>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12</a:t>
            </a:r>
          </a:p>
        </p:txBody>
      </p:sp>
    </p:spTree>
    <p:extLst>
      <p:ext uri="{BB962C8B-B14F-4D97-AF65-F5344CB8AC3E}">
        <p14:creationId xmlns:p14="http://schemas.microsoft.com/office/powerpoint/2010/main" val="1634395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1">
            <a:extLst>
              <a:ext uri="{FF2B5EF4-FFF2-40B4-BE49-F238E27FC236}">
                <a16:creationId xmlns:a16="http://schemas.microsoft.com/office/drawing/2014/main" id="{3E9F1FD0-B659-4ED3-9238-FCAD3D9B93AA}"/>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Check robustness without claiming causation</a:t>
            </a:r>
          </a:p>
        </p:txBody>
      </p:sp>
      <p:sp>
        <p:nvSpPr>
          <p:cNvPr id="2" name="text-2">
            <a:extLst>
              <a:ext uri="{FF2B5EF4-FFF2-40B4-BE49-F238E27FC236}">
                <a16:creationId xmlns:a16="http://schemas.microsoft.com/office/drawing/2014/main" id="{F7A11A3D-749A-49FF-BA39-B0981637B4F1}"/>
              </a:ext>
            </a:extLst>
          </p:cNvPr>
          <p:cNvSpPr>
            <a:spLocks noGrp="1"/>
          </p:cNvSpPr>
          <p:nvPr/>
        </p:nvSpPr>
        <p:spPr>
          <a:xfrm>
            <a:off x="666750" y="2152650"/>
            <a:ext cx="5238750" cy="514350"/>
          </a:xfrm>
          <a:prstGeom prst="rect">
            <a:avLst/>
          </a:prstGeom>
        </p:spPr>
        <p:txBody>
          <a:bodyPr lIns="0" tIns="0" rIns="0" bIns="0" anchor="ctr"/>
          <a:lstStyle/>
          <a:p>
            <a:pPr algn="l">
              <a:spcBef>
                <a:spcPts val="0"/>
              </a:spcBef>
              <a:spcAft>
                <a:spcPts val="0"/>
              </a:spcAft>
              <a:buNone/>
              <a:defRPr sz="2550" b="0">
                <a:solidFill>
                  <a:srgbClr val="006D77"/>
                </a:solidFill>
                <a:latin typeface="Georgia"/>
                <a:ea typeface="Georgia"/>
                <a:cs typeface="Georgia"/>
              </a:defRPr>
            </a:pPr>
            <a:r>
              <a:t>Rerun the same model</a:t>
            </a:r>
          </a:p>
        </p:txBody>
      </p:sp>
      <p:sp>
        <p:nvSpPr>
          <p:cNvPr id="3" name="text-3">
            <a:extLst>
              <a:ext uri="{FF2B5EF4-FFF2-40B4-BE49-F238E27FC236}">
                <a16:creationId xmlns:a16="http://schemas.microsoft.com/office/drawing/2014/main" id="{DD757115-4CF0-4E0B-962C-6FB361FA22C2}"/>
              </a:ext>
            </a:extLst>
          </p:cNvPr>
          <p:cNvSpPr>
            <a:spLocks noGrp="1"/>
          </p:cNvSpPr>
          <p:nvPr/>
        </p:nvSpPr>
        <p:spPr>
          <a:xfrm>
            <a:off x="666750" y="3076575"/>
            <a:ext cx="5238750" cy="1714500"/>
          </a:xfrm>
          <a:prstGeom prst="rect">
            <a:avLst/>
          </a:prstGeom>
        </p:spPr>
        <p:txBody>
          <a:bodyPr lIns="0" tIns="0" rIns="0" bIns="0" anchor="ctr"/>
          <a:lstStyle/>
          <a:p>
            <a:pPr algn="l">
              <a:spcBef>
                <a:spcPts val="0"/>
              </a:spcBef>
              <a:spcAft>
                <a:spcPts val="0"/>
              </a:spcAft>
              <a:buNone/>
              <a:defRPr sz="2175" b="0">
                <a:solidFill>
                  <a:srgbClr val="182C30"/>
                </a:solidFill>
                <a:latin typeface="Arial"/>
                <a:ea typeface="Arial"/>
                <a:cs typeface="Arial"/>
              </a:defRPr>
            </a:pPr>
            <a:r>
              <a:t>Exclude AI-topic projects</a:t>
            </a:r>
          </a:p>
          <a:p>
            <a:pPr algn="l">
              <a:spcBef>
                <a:spcPts val="0"/>
              </a:spcBef>
              <a:spcAft>
                <a:spcPts val="0"/>
              </a:spcAft>
              <a:buNone/>
              <a:defRPr sz="2175" b="0">
                <a:solidFill>
                  <a:srgbClr val="182C30"/>
                </a:solidFill>
                <a:latin typeface="Arial"/>
                <a:ea typeface="Arial"/>
                <a:cs typeface="Arial"/>
              </a:defRPr>
            </a:pPr>
            <a:r>
              <a:t>Keep one repository per owner</a:t>
            </a:r>
          </a:p>
          <a:p>
            <a:pPr algn="l">
              <a:spcBef>
                <a:spcPts val="0"/>
              </a:spcBef>
              <a:spcAft>
                <a:spcPts val="0"/>
              </a:spcAft>
              <a:buNone/>
              <a:defRPr sz="2175" b="0">
                <a:solidFill>
                  <a:srgbClr val="182C30"/>
                </a:solidFill>
                <a:latin typeface="Arial"/>
                <a:ea typeface="Arial"/>
                <a:cs typeface="Arial"/>
              </a:defRPr>
            </a:pPr>
            <a:r>
              <a:t>Embed cleaned READMEs</a:t>
            </a:r>
          </a:p>
        </p:txBody>
      </p:sp>
      <p:sp>
        <p:nvSpPr>
          <p:cNvPr id="4" name="shape-4">
            <a:extLst>
              <a:ext uri="{FF2B5EF4-FFF2-40B4-BE49-F238E27FC236}">
                <a16:creationId xmlns:a16="http://schemas.microsoft.com/office/drawing/2014/main" id="{871072DB-3B2D-4133-9586-19E007323022}"/>
              </a:ext>
            </a:extLst>
          </p:cNvPr>
          <p:cNvSpPr>
            <a:spLocks noGrp="1"/>
          </p:cNvSpPr>
          <p:nvPr/>
        </p:nvSpPr>
        <p:spPr>
          <a:xfrm>
            <a:off x="6267450" y="2124075"/>
            <a:ext cx="9525" cy="3267075"/>
          </a:xfrm>
          <a:prstGeom prst="rect">
            <a:avLst/>
          </a:prstGeom>
          <a:solidFill>
            <a:srgbClr val="C9D3D1"/>
          </a:solidFill>
          <a:ln w="0">
            <a:noFill/>
            <a:prstDash val="solid"/>
          </a:ln>
        </p:spPr>
      </p:sp>
      <p:sp>
        <p:nvSpPr>
          <p:cNvPr id="5" name="text-5">
            <a:extLst>
              <a:ext uri="{FF2B5EF4-FFF2-40B4-BE49-F238E27FC236}">
                <a16:creationId xmlns:a16="http://schemas.microsoft.com/office/drawing/2014/main" id="{3DCE6BEA-71FA-47E2-A2BE-B805A728D52A}"/>
              </a:ext>
            </a:extLst>
          </p:cNvPr>
          <p:cNvSpPr>
            <a:spLocks noGrp="1"/>
          </p:cNvSpPr>
          <p:nvPr/>
        </p:nvSpPr>
        <p:spPr>
          <a:xfrm>
            <a:off x="6886575" y="2152650"/>
            <a:ext cx="4638675" cy="514350"/>
          </a:xfrm>
          <a:prstGeom prst="rect">
            <a:avLst/>
          </a:prstGeom>
        </p:spPr>
        <p:txBody>
          <a:bodyPr lIns="0" tIns="0" rIns="0" bIns="0" anchor="ctr"/>
          <a:lstStyle/>
          <a:p>
            <a:pPr algn="l">
              <a:spcBef>
                <a:spcPts val="0"/>
              </a:spcBef>
              <a:spcAft>
                <a:spcPts val="0"/>
              </a:spcAft>
              <a:buNone/>
              <a:defRPr sz="2550" b="0">
                <a:solidFill>
                  <a:srgbClr val="B95C33"/>
                </a:solidFill>
                <a:latin typeface="Georgia"/>
                <a:ea typeface="Georgia"/>
                <a:cs typeface="Georgia"/>
              </a:defRPr>
            </a:pPr>
            <a:r>
              <a:t>The question we can answer</a:t>
            </a:r>
          </a:p>
        </p:txBody>
      </p:sp>
      <p:sp>
        <p:nvSpPr>
          <p:cNvPr id="6" name="text-6">
            <a:extLst>
              <a:ext uri="{FF2B5EF4-FFF2-40B4-BE49-F238E27FC236}">
                <a16:creationId xmlns:a16="http://schemas.microsoft.com/office/drawing/2014/main" id="{63A93D0A-6D2A-44FF-8865-F3C2655FA228}"/>
              </a:ext>
            </a:extLst>
          </p:cNvPr>
          <p:cNvSpPr>
            <a:spLocks noGrp="1"/>
          </p:cNvSpPr>
          <p:nvPr/>
        </p:nvSpPr>
        <p:spPr>
          <a:xfrm>
            <a:off x="6886575" y="3076575"/>
            <a:ext cx="4638675" cy="971550"/>
          </a:xfrm>
          <a:prstGeom prst="rect">
            <a:avLst/>
          </a:prstGeom>
        </p:spPr>
        <p:txBody>
          <a:bodyPr lIns="0" tIns="0" rIns="0" bIns="0" anchor="ctr"/>
          <a:lstStyle/>
          <a:p>
            <a:pPr algn="l">
              <a:spcBef>
                <a:spcPts val="0"/>
              </a:spcBef>
              <a:spcAft>
                <a:spcPts val="0"/>
              </a:spcAft>
              <a:buNone/>
              <a:defRPr sz="2175" b="0">
                <a:solidFill>
                  <a:srgbClr val="182C30"/>
                </a:solidFill>
                <a:latin typeface="Arial"/>
                <a:ea typeface="Arial"/>
                <a:cs typeface="Arial"/>
              </a:defRPr>
            </a:pPr>
            <a:r>
              <a:t>Whether diversity changed</a:t>
            </a:r>
          </a:p>
          <a:p>
            <a:pPr algn="l">
              <a:spcBef>
                <a:spcPts val="0"/>
              </a:spcBef>
              <a:spcAft>
                <a:spcPts val="0"/>
              </a:spcAft>
              <a:buNone/>
              <a:defRPr sz="2175" b="0">
                <a:solidFill>
                  <a:srgbClr val="182C30"/>
                </a:solidFill>
                <a:latin typeface="Arial"/>
                <a:ea typeface="Arial"/>
                <a:cs typeface="Arial"/>
              </a:defRPr>
            </a:pPr>
            <a:r>
              <a:t>around the release</a:t>
            </a:r>
          </a:p>
        </p:txBody>
      </p:sp>
      <p:sp>
        <p:nvSpPr>
          <p:cNvPr id="7" name="text-7">
            <a:extLst>
              <a:ext uri="{FF2B5EF4-FFF2-40B4-BE49-F238E27FC236}">
                <a16:creationId xmlns:a16="http://schemas.microsoft.com/office/drawing/2014/main" id="{DE7C48E2-FEB6-40B8-9D15-87375EE7831B}"/>
              </a:ext>
            </a:extLst>
          </p:cNvPr>
          <p:cNvSpPr>
            <a:spLocks noGrp="1"/>
          </p:cNvSpPr>
          <p:nvPr/>
        </p:nvSpPr>
        <p:spPr>
          <a:xfrm>
            <a:off x="6886575" y="4381500"/>
            <a:ext cx="4638675" cy="942975"/>
          </a:xfrm>
          <a:prstGeom prst="rect">
            <a:avLst/>
          </a:prstGeom>
        </p:spPr>
        <p:txBody>
          <a:bodyPr lIns="0" tIns="0" rIns="0" bIns="0" anchor="ctr"/>
          <a:lstStyle/>
          <a:p>
            <a:pPr algn="l">
              <a:spcBef>
                <a:spcPts val="0"/>
              </a:spcBef>
              <a:spcAft>
                <a:spcPts val="0"/>
              </a:spcAft>
              <a:buNone/>
              <a:defRPr sz="1800" b="0">
                <a:solidFill>
                  <a:srgbClr val="5D7073"/>
                </a:solidFill>
                <a:latin typeface="Arial"/>
                <a:ea typeface="Arial"/>
                <a:cs typeface="Arial"/>
              </a:defRPr>
            </a:pPr>
            <a:r>
              <a:t>AI use is unobserved.</a:t>
            </a:r>
          </a:p>
          <a:p>
            <a:pPr algn="l">
              <a:spcBef>
                <a:spcPts val="0"/>
              </a:spcBef>
              <a:spcAft>
                <a:spcPts val="0"/>
              </a:spcAft>
              <a:buNone/>
              <a:defRPr sz="1800" b="0">
                <a:solidFill>
                  <a:srgbClr val="5D7073"/>
                </a:solidFill>
                <a:latin typeface="Arial"/>
                <a:ea typeface="Arial"/>
                <a:cs typeface="Arial"/>
              </a:defRPr>
            </a:pPr>
            <a:r>
              <a:t>Other changes may explain the pattern.</a:t>
            </a:r>
          </a:p>
        </p:txBody>
      </p:sp>
      <p:sp>
        <p:nvSpPr>
          <p:cNvPr id="8" name="text-8">
            <a:extLst>
              <a:ext uri="{FF2B5EF4-FFF2-40B4-BE49-F238E27FC236}">
                <a16:creationId xmlns:a16="http://schemas.microsoft.com/office/drawing/2014/main" id="{17D2DBDB-88F7-4AD4-BCD9-1FCCECAE315F}"/>
              </a:ext>
            </a:extLst>
          </p:cNvPr>
          <p:cNvSpPr>
            <a:spLocks noGrp="1"/>
          </p:cNvSpPr>
          <p:nvPr/>
        </p:nvSpPr>
        <p:spPr>
          <a:xfrm>
            <a:off x="666750" y="6334125"/>
            <a:ext cx="10287000" cy="238125"/>
          </a:xfrm>
          <a:prstGeom prst="rect">
            <a:avLst/>
          </a:prstGeom>
        </p:spPr>
        <p:txBody>
          <a:bodyPr lIns="0" tIns="0" rIns="0" bIns="0" anchor="ctr"/>
          <a:lstStyle/>
          <a:p>
            <a:pPr algn="l">
              <a:spcBef>
                <a:spcPts val="0"/>
              </a:spcBef>
              <a:spcAft>
                <a:spcPts val="0"/>
              </a:spcAft>
              <a:buNone/>
              <a:defRPr sz="975" b="0">
                <a:solidFill>
                  <a:srgbClr val="5D7073"/>
                </a:solidFill>
                <a:latin typeface="Arial"/>
                <a:ea typeface="Arial"/>
                <a:cs typeface="Arial"/>
              </a:defRPr>
            </a:pPr>
            <a:r>
              <a:t>Scope: accessible, documented, English-language projects. Track missing snapshots by month.</a:t>
            </a:r>
          </a:p>
        </p:txBody>
      </p:sp>
      <p:sp>
        <p:nvSpPr>
          <p:cNvPr id="11" name="Rectangle 10">
            <a:extLst>
              <a:ext uri="{FF2B5EF4-FFF2-40B4-BE49-F238E27FC236}">
                <a16:creationId xmlns:a16="http://schemas.microsoft.com/office/drawing/2014/main" id="{515CC498-663E-4C6D-A0FD-7B8C5C86D5FB}"/>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13</a:t>
            </a:r>
          </a:p>
        </p:txBody>
      </p:sp>
    </p:spTree>
    <p:extLst>
      <p:ext uri="{BB962C8B-B14F-4D97-AF65-F5344CB8AC3E}">
        <p14:creationId xmlns:p14="http://schemas.microsoft.com/office/powerpoint/2010/main" val="263624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4" name="text-1">
            <a:extLst>
              <a:ext uri="{FF2B5EF4-FFF2-40B4-BE49-F238E27FC236}">
                <a16:creationId xmlns:a16="http://schemas.microsoft.com/office/drawing/2014/main" id="{6FFF4DC7-F396-449D-8702-0D2071497244}"/>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The scraping pipeline is the current milestone</a:t>
            </a:r>
          </a:p>
        </p:txBody>
      </p:sp>
      <p:sp>
        <p:nvSpPr>
          <p:cNvPr id="2" name="text-2">
            <a:extLst>
              <a:ext uri="{FF2B5EF4-FFF2-40B4-BE49-F238E27FC236}">
                <a16:creationId xmlns:a16="http://schemas.microsoft.com/office/drawing/2014/main" id="{B640F250-7013-4F15-AF78-9D132FBE5187}"/>
              </a:ext>
            </a:extLst>
          </p:cNvPr>
          <p:cNvSpPr>
            <a:spLocks noGrp="1"/>
          </p:cNvSpPr>
          <p:nvPr/>
        </p:nvSpPr>
        <p:spPr>
          <a:xfrm>
            <a:off x="666750" y="2009775"/>
            <a:ext cx="3619500" cy="400050"/>
          </a:xfrm>
          <a:prstGeom prst="rect">
            <a:avLst/>
          </a:prstGeom>
        </p:spPr>
        <p:txBody>
          <a:bodyPr lIns="0" tIns="0" rIns="0" bIns="0" anchor="ctr"/>
          <a:lstStyle/>
          <a:p>
            <a:pPr algn="l">
              <a:spcBef>
                <a:spcPts val="0"/>
              </a:spcBef>
              <a:spcAft>
                <a:spcPts val="0"/>
              </a:spcAft>
              <a:buNone/>
              <a:defRPr sz="1575" b="0">
                <a:solidFill>
                  <a:srgbClr val="5D7073"/>
                </a:solidFill>
                <a:latin typeface="Arial"/>
                <a:ea typeface="Arial"/>
                <a:cs typeface="Arial"/>
              </a:defRPr>
            </a:pPr>
            <a:r>
              <a:t>Deliverable</a:t>
            </a:r>
          </a:p>
        </p:txBody>
      </p:sp>
      <p:sp>
        <p:nvSpPr>
          <p:cNvPr id="3" name="text-3">
            <a:extLst>
              <a:ext uri="{FF2B5EF4-FFF2-40B4-BE49-F238E27FC236}">
                <a16:creationId xmlns:a16="http://schemas.microsoft.com/office/drawing/2014/main" id="{7F98B995-F0A1-4E74-9A47-ABE44CA65F2B}"/>
              </a:ext>
            </a:extLst>
          </p:cNvPr>
          <p:cNvSpPr>
            <a:spLocks noGrp="1"/>
          </p:cNvSpPr>
          <p:nvPr/>
        </p:nvSpPr>
        <p:spPr>
          <a:xfrm>
            <a:off x="4514850" y="2009775"/>
            <a:ext cx="3619500" cy="400050"/>
          </a:xfrm>
          <a:prstGeom prst="rect">
            <a:avLst/>
          </a:prstGeom>
        </p:spPr>
        <p:txBody>
          <a:bodyPr lIns="0" tIns="0" rIns="0" bIns="0" anchor="ctr"/>
          <a:lstStyle/>
          <a:p>
            <a:pPr algn="l">
              <a:spcBef>
                <a:spcPts val="0"/>
              </a:spcBef>
              <a:spcAft>
                <a:spcPts val="0"/>
              </a:spcAft>
              <a:buNone/>
              <a:defRPr sz="1575" b="0">
                <a:solidFill>
                  <a:srgbClr val="5D7073"/>
                </a:solidFill>
                <a:latin typeface="Arial"/>
                <a:ea typeface="Arial"/>
                <a:cs typeface="Arial"/>
              </a:defRPr>
            </a:pPr>
            <a:r>
              <a:t>Current status / next target</a:t>
            </a:r>
          </a:p>
        </p:txBody>
      </p:sp>
      <p:sp>
        <p:nvSpPr>
          <p:cNvPr id="4" name="text-4">
            <a:extLst>
              <a:ext uri="{FF2B5EF4-FFF2-40B4-BE49-F238E27FC236}">
                <a16:creationId xmlns:a16="http://schemas.microsoft.com/office/drawing/2014/main" id="{9FDD6A85-CD83-4710-86E6-04637EE8BE8D}"/>
              </a:ext>
            </a:extLst>
          </p:cNvPr>
          <p:cNvSpPr>
            <a:spLocks noGrp="1"/>
          </p:cNvSpPr>
          <p:nvPr/>
        </p:nvSpPr>
        <p:spPr>
          <a:xfrm>
            <a:off x="8382000" y="2009775"/>
            <a:ext cx="3143250" cy="400050"/>
          </a:xfrm>
          <a:prstGeom prst="rect">
            <a:avLst/>
          </a:prstGeom>
        </p:spPr>
        <p:txBody>
          <a:bodyPr lIns="0" tIns="0" rIns="0" bIns="0" anchor="ctr"/>
          <a:lstStyle/>
          <a:p>
            <a:pPr algn="l">
              <a:spcBef>
                <a:spcPts val="0"/>
              </a:spcBef>
              <a:spcAft>
                <a:spcPts val="0"/>
              </a:spcAft>
              <a:buNone/>
              <a:defRPr sz="1575" b="0">
                <a:solidFill>
                  <a:srgbClr val="5D7073"/>
                </a:solidFill>
                <a:latin typeface="Arial"/>
                <a:ea typeface="Arial"/>
                <a:cs typeface="Arial"/>
              </a:defRPr>
            </a:pPr>
            <a:r>
              <a:t>Lead</a:t>
            </a:r>
          </a:p>
        </p:txBody>
      </p:sp>
      <p:sp>
        <p:nvSpPr>
          <p:cNvPr id="5" name="shape-5">
            <a:extLst>
              <a:ext uri="{FF2B5EF4-FFF2-40B4-BE49-F238E27FC236}">
                <a16:creationId xmlns:a16="http://schemas.microsoft.com/office/drawing/2014/main" id="{4FABCBDA-CD6B-44B8-A5A0-FD95F96BB7AF}"/>
              </a:ext>
            </a:extLst>
          </p:cNvPr>
          <p:cNvSpPr>
            <a:spLocks noGrp="1"/>
          </p:cNvSpPr>
          <p:nvPr/>
        </p:nvSpPr>
        <p:spPr>
          <a:xfrm>
            <a:off x="666750" y="2524125"/>
            <a:ext cx="10858500" cy="9525"/>
          </a:xfrm>
          <a:prstGeom prst="rect">
            <a:avLst/>
          </a:prstGeom>
          <a:solidFill>
            <a:srgbClr val="C9D3D1"/>
          </a:solidFill>
          <a:ln w="0">
            <a:noFill/>
            <a:prstDash val="solid"/>
          </a:ln>
        </p:spPr>
      </p:sp>
      <p:sp>
        <p:nvSpPr>
          <p:cNvPr id="6" name="text-6">
            <a:extLst>
              <a:ext uri="{FF2B5EF4-FFF2-40B4-BE49-F238E27FC236}">
                <a16:creationId xmlns:a16="http://schemas.microsoft.com/office/drawing/2014/main" id="{DDB340E1-40A5-4154-B011-5A84434DFC82}"/>
              </a:ext>
            </a:extLst>
          </p:cNvPr>
          <p:cNvSpPr>
            <a:spLocks noGrp="1"/>
          </p:cNvSpPr>
          <p:nvPr/>
        </p:nvSpPr>
        <p:spPr>
          <a:xfrm>
            <a:off x="666750" y="2695575"/>
            <a:ext cx="3619500" cy="495300"/>
          </a:xfrm>
          <a:prstGeom prst="rect">
            <a:avLst/>
          </a:prstGeom>
        </p:spPr>
        <p:txBody>
          <a:bodyPr lIns="0" tIns="0" rIns="0" bIns="0" anchor="ctr"/>
          <a:lstStyle/>
          <a:p>
            <a:pPr algn="l">
              <a:spcBef>
                <a:spcPts val="0"/>
              </a:spcBef>
              <a:spcAft>
                <a:spcPts val="0"/>
              </a:spcAft>
              <a:buNone/>
              <a:defRPr sz="1875" b="0">
                <a:solidFill>
                  <a:srgbClr val="006D77"/>
                </a:solidFill>
                <a:latin typeface="Arial"/>
                <a:ea typeface="Arial"/>
                <a:cs typeface="Arial"/>
              </a:defRPr>
            </a:pPr>
            <a:r>
              <a:t>Data pipeline</a:t>
            </a:r>
          </a:p>
        </p:txBody>
      </p:sp>
      <p:sp>
        <p:nvSpPr>
          <p:cNvPr id="7" name="text-7">
            <a:extLst>
              <a:ext uri="{FF2B5EF4-FFF2-40B4-BE49-F238E27FC236}">
                <a16:creationId xmlns:a16="http://schemas.microsoft.com/office/drawing/2014/main" id="{7346D3AB-5E4A-4172-A6E7-42D3B0CCFE5F}"/>
              </a:ext>
            </a:extLst>
          </p:cNvPr>
          <p:cNvSpPr>
            <a:spLocks noGrp="1"/>
          </p:cNvSpPr>
          <p:nvPr/>
        </p:nvSpPr>
        <p:spPr>
          <a:xfrm>
            <a:off x="4514850" y="2695575"/>
            <a:ext cx="3619500" cy="495300"/>
          </a:xfrm>
          <a:prstGeom prst="rect">
            <a:avLst/>
          </a:prstGeom>
        </p:spPr>
        <p:txBody>
          <a:bodyPr lIns="0" tIns="0" rIns="0" bIns="0" anchor="ctr"/>
          <a:lstStyle/>
          <a:p>
            <a:pPr algn="l">
              <a:spcBef>
                <a:spcPts val="0"/>
              </a:spcBef>
              <a:spcAft>
                <a:spcPts val="0"/>
              </a:spcAft>
              <a:buNone/>
              <a:defRPr sz="1725" b="0">
                <a:solidFill>
                  <a:srgbClr val="006D77"/>
                </a:solidFill>
                <a:latin typeface="Arial"/>
                <a:ea typeface="Arial"/>
                <a:cs typeface="Arial"/>
              </a:defRPr>
            </a:pPr>
            <a:r>
              <a:t>Scraping setup; 200 IDs per month</a:t>
            </a:r>
          </a:p>
        </p:txBody>
      </p:sp>
      <p:sp>
        <p:nvSpPr>
          <p:cNvPr id="8" name="text-8">
            <a:extLst>
              <a:ext uri="{FF2B5EF4-FFF2-40B4-BE49-F238E27FC236}">
                <a16:creationId xmlns:a16="http://schemas.microsoft.com/office/drawing/2014/main" id="{B8D9BD68-B071-4BB6-BEF5-E6869E408CE3}"/>
              </a:ext>
            </a:extLst>
          </p:cNvPr>
          <p:cNvSpPr>
            <a:spLocks noGrp="1"/>
          </p:cNvSpPr>
          <p:nvPr/>
        </p:nvSpPr>
        <p:spPr>
          <a:xfrm>
            <a:off x="8382000" y="2695575"/>
            <a:ext cx="3143250" cy="495300"/>
          </a:xfrm>
          <a:prstGeom prst="rect">
            <a:avLst/>
          </a:prstGeom>
        </p:spPr>
        <p:txBody>
          <a:bodyPr lIns="0" tIns="0" rIns="0" bIns="0" anchor="ctr"/>
          <a:lstStyle/>
          <a:p>
            <a:pPr algn="l">
              <a:spcBef>
                <a:spcPts val="0"/>
              </a:spcBef>
              <a:spcAft>
                <a:spcPts val="0"/>
              </a:spcAft>
              <a:buNone/>
              <a:defRPr sz="1875" b="0">
                <a:solidFill>
                  <a:srgbClr val="006D77"/>
                </a:solidFill>
                <a:latin typeface="Arial"/>
                <a:ea typeface="Arial"/>
                <a:cs typeface="Arial"/>
              </a:defRPr>
            </a:pPr>
            <a:r>
              <a:t>Samuel</a:t>
            </a:r>
          </a:p>
        </p:txBody>
      </p:sp>
      <p:sp>
        <p:nvSpPr>
          <p:cNvPr id="9" name="shape-9">
            <a:extLst>
              <a:ext uri="{FF2B5EF4-FFF2-40B4-BE49-F238E27FC236}">
                <a16:creationId xmlns:a16="http://schemas.microsoft.com/office/drawing/2014/main" id="{C75F1B20-188A-4A83-953A-2E7FC875B70E}"/>
              </a:ext>
            </a:extLst>
          </p:cNvPr>
          <p:cNvSpPr>
            <a:spLocks noGrp="1"/>
          </p:cNvSpPr>
          <p:nvPr/>
        </p:nvSpPr>
        <p:spPr>
          <a:xfrm>
            <a:off x="666750" y="3267075"/>
            <a:ext cx="10858500" cy="9525"/>
          </a:xfrm>
          <a:prstGeom prst="rect">
            <a:avLst/>
          </a:prstGeom>
          <a:solidFill>
            <a:srgbClr val="C9D3D1"/>
          </a:solidFill>
          <a:ln w="0">
            <a:noFill/>
            <a:prstDash val="solid"/>
          </a:ln>
        </p:spPr>
      </p:sp>
      <p:sp>
        <p:nvSpPr>
          <p:cNvPr id="10" name="text-10">
            <a:extLst>
              <a:ext uri="{FF2B5EF4-FFF2-40B4-BE49-F238E27FC236}">
                <a16:creationId xmlns:a16="http://schemas.microsoft.com/office/drawing/2014/main" id="{4542E8CD-340D-48DC-B59A-40EA41694748}"/>
              </a:ext>
            </a:extLst>
          </p:cNvPr>
          <p:cNvSpPr>
            <a:spLocks noGrp="1"/>
          </p:cNvSpPr>
          <p:nvPr/>
        </p:nvSpPr>
        <p:spPr>
          <a:xfrm>
            <a:off x="666750" y="3352800"/>
            <a:ext cx="3619500" cy="4953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Representation + analysis</a:t>
            </a:r>
          </a:p>
        </p:txBody>
      </p:sp>
      <p:sp>
        <p:nvSpPr>
          <p:cNvPr id="11" name="text-11">
            <a:extLst>
              <a:ext uri="{FF2B5EF4-FFF2-40B4-BE49-F238E27FC236}">
                <a16:creationId xmlns:a16="http://schemas.microsoft.com/office/drawing/2014/main" id="{A8969AC5-6220-4A14-B061-A055FA6D3E6F}"/>
              </a:ext>
            </a:extLst>
          </p:cNvPr>
          <p:cNvSpPr>
            <a:spLocks noGrp="1"/>
          </p:cNvSpPr>
          <p:nvPr/>
        </p:nvSpPr>
        <p:spPr>
          <a:xfrm>
            <a:off x="4514850" y="3352800"/>
            <a:ext cx="3619500" cy="495300"/>
          </a:xfrm>
          <a:prstGeom prst="rect">
            <a:avLst/>
          </a:prstGeom>
        </p:spPr>
        <p:txBody>
          <a:bodyPr lIns="0" tIns="0" rIns="0" bIns="0" anchor="ctr"/>
          <a:lstStyle/>
          <a:p>
            <a:pPr algn="l">
              <a:spcBef>
                <a:spcPts val="0"/>
              </a:spcBef>
              <a:spcAft>
                <a:spcPts val="0"/>
              </a:spcAft>
              <a:buNone/>
              <a:defRPr sz="1725" b="0">
                <a:solidFill>
                  <a:srgbClr val="182C30"/>
                </a:solidFill>
                <a:latin typeface="Arial"/>
                <a:ea typeface="Arial"/>
                <a:cs typeface="Arial"/>
              </a:defRPr>
            </a:pPr>
            <a:r>
              <a:t>Next: summaries, embeddings, scores</a:t>
            </a:r>
          </a:p>
        </p:txBody>
      </p:sp>
      <p:sp>
        <p:nvSpPr>
          <p:cNvPr id="12" name="text-12">
            <a:extLst>
              <a:ext uri="{FF2B5EF4-FFF2-40B4-BE49-F238E27FC236}">
                <a16:creationId xmlns:a16="http://schemas.microsoft.com/office/drawing/2014/main" id="{5A3E8EC1-D5A4-4690-88AA-2CE5E6461A3A}"/>
              </a:ext>
            </a:extLst>
          </p:cNvPr>
          <p:cNvSpPr>
            <a:spLocks noGrp="1"/>
          </p:cNvSpPr>
          <p:nvPr/>
        </p:nvSpPr>
        <p:spPr>
          <a:xfrm>
            <a:off x="8382000" y="3352800"/>
            <a:ext cx="3143250" cy="4953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Spencer</a:t>
            </a:r>
          </a:p>
        </p:txBody>
      </p:sp>
      <p:sp>
        <p:nvSpPr>
          <p:cNvPr id="13" name="shape-13">
            <a:extLst>
              <a:ext uri="{FF2B5EF4-FFF2-40B4-BE49-F238E27FC236}">
                <a16:creationId xmlns:a16="http://schemas.microsoft.com/office/drawing/2014/main" id="{B87764AC-B086-4E4C-B3E9-F408BF773A95}"/>
              </a:ext>
            </a:extLst>
          </p:cNvPr>
          <p:cNvSpPr>
            <a:spLocks noGrp="1"/>
          </p:cNvSpPr>
          <p:nvPr/>
        </p:nvSpPr>
        <p:spPr>
          <a:xfrm>
            <a:off x="666750" y="3924300"/>
            <a:ext cx="10858500" cy="9525"/>
          </a:xfrm>
          <a:prstGeom prst="rect">
            <a:avLst/>
          </a:prstGeom>
          <a:solidFill>
            <a:srgbClr val="C9D3D1"/>
          </a:solidFill>
          <a:ln w="0">
            <a:noFill/>
            <a:prstDash val="solid"/>
          </a:ln>
        </p:spPr>
      </p:sp>
      <p:sp>
        <p:nvSpPr>
          <p:cNvPr id="14" name="text-14">
            <a:extLst>
              <a:ext uri="{FF2B5EF4-FFF2-40B4-BE49-F238E27FC236}">
                <a16:creationId xmlns:a16="http://schemas.microsoft.com/office/drawing/2014/main" id="{F9F6B491-18C5-4453-915B-AF874A087DD7}"/>
              </a:ext>
            </a:extLst>
          </p:cNvPr>
          <p:cNvSpPr>
            <a:spLocks noGrp="1"/>
          </p:cNvSpPr>
          <p:nvPr/>
        </p:nvSpPr>
        <p:spPr>
          <a:xfrm>
            <a:off x="666750" y="4010025"/>
            <a:ext cx="3619500" cy="4953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Summary validation</a:t>
            </a:r>
          </a:p>
        </p:txBody>
      </p:sp>
      <p:sp>
        <p:nvSpPr>
          <p:cNvPr id="15" name="text-15">
            <a:extLst>
              <a:ext uri="{FF2B5EF4-FFF2-40B4-BE49-F238E27FC236}">
                <a16:creationId xmlns:a16="http://schemas.microsoft.com/office/drawing/2014/main" id="{070D7352-FC01-4C40-9F25-AB49F19932AA}"/>
              </a:ext>
            </a:extLst>
          </p:cNvPr>
          <p:cNvSpPr>
            <a:spLocks noGrp="1"/>
          </p:cNvSpPr>
          <p:nvPr/>
        </p:nvSpPr>
        <p:spPr>
          <a:xfrm>
            <a:off x="4514850" y="4010025"/>
            <a:ext cx="3619500" cy="495300"/>
          </a:xfrm>
          <a:prstGeom prst="rect">
            <a:avLst/>
          </a:prstGeom>
        </p:spPr>
        <p:txBody>
          <a:bodyPr lIns="0" tIns="0" rIns="0" bIns="0" anchor="ctr"/>
          <a:lstStyle/>
          <a:p>
            <a:pPr algn="l">
              <a:spcBef>
                <a:spcPts val="0"/>
              </a:spcBef>
              <a:spcAft>
                <a:spcPts val="0"/>
              </a:spcAft>
              <a:buNone/>
              <a:defRPr sz="1725" b="0">
                <a:solidFill>
                  <a:srgbClr val="182C30"/>
                </a:solidFill>
                <a:latin typeface="Arial"/>
                <a:ea typeface="Arial"/>
                <a:cs typeface="Arial"/>
              </a:defRPr>
            </a:pPr>
            <a:r>
              <a:t>Planned: source checks</a:t>
            </a:r>
          </a:p>
        </p:txBody>
      </p:sp>
      <p:sp>
        <p:nvSpPr>
          <p:cNvPr id="16" name="text-16">
            <a:extLst>
              <a:ext uri="{FF2B5EF4-FFF2-40B4-BE49-F238E27FC236}">
                <a16:creationId xmlns:a16="http://schemas.microsoft.com/office/drawing/2014/main" id="{0492079C-704D-4161-A69C-6C9C4B2D7BF9}"/>
              </a:ext>
            </a:extLst>
          </p:cNvPr>
          <p:cNvSpPr>
            <a:spLocks noGrp="1"/>
          </p:cNvSpPr>
          <p:nvPr/>
        </p:nvSpPr>
        <p:spPr>
          <a:xfrm>
            <a:off x="8382000" y="4010025"/>
            <a:ext cx="3143250" cy="4953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Hezeki</a:t>
            </a:r>
          </a:p>
        </p:txBody>
      </p:sp>
      <p:sp>
        <p:nvSpPr>
          <p:cNvPr id="17" name="shape-17">
            <a:extLst>
              <a:ext uri="{FF2B5EF4-FFF2-40B4-BE49-F238E27FC236}">
                <a16:creationId xmlns:a16="http://schemas.microsoft.com/office/drawing/2014/main" id="{CAA9703B-9F18-4F29-940B-52B3F70652A1}"/>
              </a:ext>
            </a:extLst>
          </p:cNvPr>
          <p:cNvSpPr>
            <a:spLocks noGrp="1"/>
          </p:cNvSpPr>
          <p:nvPr/>
        </p:nvSpPr>
        <p:spPr>
          <a:xfrm>
            <a:off x="666750" y="4581525"/>
            <a:ext cx="10858500" cy="9525"/>
          </a:xfrm>
          <a:prstGeom prst="rect">
            <a:avLst/>
          </a:prstGeom>
          <a:solidFill>
            <a:srgbClr val="C9D3D1"/>
          </a:solidFill>
          <a:ln w="0">
            <a:noFill/>
            <a:prstDash val="solid"/>
          </a:ln>
        </p:spPr>
      </p:sp>
      <p:sp>
        <p:nvSpPr>
          <p:cNvPr id="18" name="text-18">
            <a:extLst>
              <a:ext uri="{FF2B5EF4-FFF2-40B4-BE49-F238E27FC236}">
                <a16:creationId xmlns:a16="http://schemas.microsoft.com/office/drawing/2014/main" id="{88F7C8A4-8380-4EC4-B726-D6F0359FAE86}"/>
              </a:ext>
            </a:extLst>
          </p:cNvPr>
          <p:cNvSpPr>
            <a:spLocks noGrp="1"/>
          </p:cNvSpPr>
          <p:nvPr/>
        </p:nvSpPr>
        <p:spPr>
          <a:xfrm>
            <a:off x="666750" y="4667250"/>
            <a:ext cx="3619500" cy="4953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Similarity validation</a:t>
            </a:r>
          </a:p>
        </p:txBody>
      </p:sp>
      <p:sp>
        <p:nvSpPr>
          <p:cNvPr id="19" name="text-19">
            <a:extLst>
              <a:ext uri="{FF2B5EF4-FFF2-40B4-BE49-F238E27FC236}">
                <a16:creationId xmlns:a16="http://schemas.microsoft.com/office/drawing/2014/main" id="{5B855C0A-53C0-4F6B-B3AB-08DA5C3A37CA}"/>
              </a:ext>
            </a:extLst>
          </p:cNvPr>
          <p:cNvSpPr>
            <a:spLocks noGrp="1"/>
          </p:cNvSpPr>
          <p:nvPr/>
        </p:nvSpPr>
        <p:spPr>
          <a:xfrm>
            <a:off x="4514850" y="4667250"/>
            <a:ext cx="3619500" cy="495300"/>
          </a:xfrm>
          <a:prstGeom prst="rect">
            <a:avLst/>
          </a:prstGeom>
        </p:spPr>
        <p:txBody>
          <a:bodyPr lIns="0" tIns="0" rIns="0" bIns="0" anchor="ctr"/>
          <a:lstStyle/>
          <a:p>
            <a:pPr algn="l">
              <a:spcBef>
                <a:spcPts val="0"/>
              </a:spcBef>
              <a:spcAft>
                <a:spcPts val="0"/>
              </a:spcAft>
              <a:buNone/>
              <a:defRPr sz="1725" b="0">
                <a:solidFill>
                  <a:srgbClr val="182C30"/>
                </a:solidFill>
                <a:latin typeface="Arial"/>
                <a:ea typeface="Arial"/>
                <a:cs typeface="Arial"/>
              </a:defRPr>
            </a:pPr>
            <a:r>
              <a:t>Planned: human pair ratings</a:t>
            </a:r>
          </a:p>
        </p:txBody>
      </p:sp>
      <p:sp>
        <p:nvSpPr>
          <p:cNvPr id="20" name="text-20">
            <a:extLst>
              <a:ext uri="{FF2B5EF4-FFF2-40B4-BE49-F238E27FC236}">
                <a16:creationId xmlns:a16="http://schemas.microsoft.com/office/drawing/2014/main" id="{F4D05CDB-C123-4D26-92DB-59D6D65BD15B}"/>
              </a:ext>
            </a:extLst>
          </p:cNvPr>
          <p:cNvSpPr>
            <a:spLocks noGrp="1"/>
          </p:cNvSpPr>
          <p:nvPr/>
        </p:nvSpPr>
        <p:spPr>
          <a:xfrm>
            <a:off x="8382000" y="4667250"/>
            <a:ext cx="3143250" cy="495300"/>
          </a:xfrm>
          <a:prstGeom prst="rect">
            <a:avLst/>
          </a:prstGeom>
        </p:spPr>
        <p:txBody>
          <a:bodyPr lIns="0" tIns="0" rIns="0" bIns="0" anchor="ctr"/>
          <a:lstStyle/>
          <a:p>
            <a:pPr algn="l">
              <a:spcBef>
                <a:spcPts val="0"/>
              </a:spcBef>
              <a:spcAft>
                <a:spcPts val="0"/>
              </a:spcAft>
              <a:buNone/>
              <a:defRPr sz="1875" b="0">
                <a:solidFill>
                  <a:srgbClr val="182C30"/>
                </a:solidFill>
                <a:latin typeface="Arial"/>
                <a:ea typeface="Arial"/>
                <a:cs typeface="Arial"/>
              </a:defRPr>
            </a:pPr>
            <a:r>
              <a:t>Hezeki</a:t>
            </a:r>
          </a:p>
        </p:txBody>
      </p:sp>
      <p:sp>
        <p:nvSpPr>
          <p:cNvPr id="21" name="text-21">
            <a:extLst>
              <a:ext uri="{FF2B5EF4-FFF2-40B4-BE49-F238E27FC236}">
                <a16:creationId xmlns:a16="http://schemas.microsoft.com/office/drawing/2014/main" id="{A90F453D-7BBE-4C74-B792-EF19D1A72533}"/>
              </a:ext>
            </a:extLst>
          </p:cNvPr>
          <p:cNvSpPr>
            <a:spLocks noGrp="1"/>
          </p:cNvSpPr>
          <p:nvPr/>
        </p:nvSpPr>
        <p:spPr>
          <a:xfrm>
            <a:off x="666750" y="5657850"/>
            <a:ext cx="10858500" cy="457200"/>
          </a:xfrm>
          <a:prstGeom prst="rect">
            <a:avLst/>
          </a:prstGeom>
        </p:spPr>
        <p:txBody>
          <a:bodyPr lIns="0" tIns="0" rIns="0" bIns="0" anchor="ctr"/>
          <a:lstStyle/>
          <a:p>
            <a:pPr algn="l">
              <a:spcBef>
                <a:spcPts val="0"/>
              </a:spcBef>
              <a:spcAft>
                <a:spcPts val="0"/>
              </a:spcAft>
              <a:buNone/>
              <a:defRPr sz="2100" b="0">
                <a:solidFill>
                  <a:srgbClr val="006D77"/>
                </a:solidFill>
                <a:latin typeface="Arial"/>
                <a:ea typeface="Arial"/>
                <a:cs typeface="Arial"/>
              </a:defRPr>
            </a:pPr>
            <a:r>
              <a:t>Next: retrieve early files, filter candidates, validate decisions</a:t>
            </a:r>
          </a:p>
        </p:txBody>
      </p:sp>
      <p:sp>
        <p:nvSpPr>
          <p:cNvPr id="22" name="text-22">
            <a:extLst>
              <a:ext uri="{FF2B5EF4-FFF2-40B4-BE49-F238E27FC236}">
                <a16:creationId xmlns:a16="http://schemas.microsoft.com/office/drawing/2014/main" id="{4587E904-989D-474A-8BC3-2DF96EC44EBF}"/>
              </a:ext>
            </a:extLst>
          </p:cNvPr>
          <p:cNvSpPr>
            <a:spLocks noGrp="1"/>
          </p:cNvSpPr>
          <p:nvPr/>
        </p:nvSpPr>
        <p:spPr>
          <a:xfrm>
            <a:off x="666750" y="6334125"/>
            <a:ext cx="10287000" cy="238125"/>
          </a:xfrm>
          <a:prstGeom prst="rect">
            <a:avLst/>
          </a:prstGeom>
        </p:spPr>
        <p:txBody>
          <a:bodyPr lIns="0" tIns="0" rIns="0" bIns="0" anchor="ctr"/>
          <a:lstStyle/>
          <a:p>
            <a:pPr algn="l">
              <a:spcBef>
                <a:spcPts val="0"/>
              </a:spcBef>
              <a:spcAft>
                <a:spcPts val="0"/>
              </a:spcAft>
              <a:buNone/>
              <a:defRPr sz="975" b="0">
                <a:solidFill>
                  <a:srgbClr val="5D7073"/>
                </a:solidFill>
                <a:latin typeface="Arial"/>
                <a:ea typeface="Arial"/>
                <a:cs typeface="Arial"/>
              </a:defRPr>
            </a:pPr>
            <a:r>
              <a:t>All three members contribute; leads coordinate each component.</a:t>
            </a:r>
          </a:p>
        </p:txBody>
      </p:sp>
      <p:sp>
        <p:nvSpPr>
          <p:cNvPr id="25" name="Rectangle 24">
            <a:extLst>
              <a:ext uri="{FF2B5EF4-FFF2-40B4-BE49-F238E27FC236}">
                <a16:creationId xmlns:a16="http://schemas.microsoft.com/office/drawing/2014/main" id="{00ADB4AE-5220-41BC-851D-9083520ACC69}"/>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14</a:t>
            </a:r>
          </a:p>
        </p:txBody>
      </p:sp>
    </p:spTree>
    <p:extLst>
      <p:ext uri="{BB962C8B-B14F-4D97-AF65-F5344CB8AC3E}">
        <p14:creationId xmlns:p14="http://schemas.microsoft.com/office/powerpoint/2010/main" val="100451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82C30"/>
        </a:solidFill>
        <a:effectLst/>
      </p:bgPr>
    </p:bg>
    <p:spTree>
      <p:nvGrpSpPr>
        <p:cNvPr id="1" name=""/>
        <p:cNvGrpSpPr/>
        <p:nvPr/>
      </p:nvGrpSpPr>
      <p:grpSpPr>
        <a:xfrm>
          <a:off x="0" y="0"/>
          <a:ext cx="0" cy="0"/>
          <a:chOff x="0" y="0"/>
          <a:chExt cx="0" cy="0"/>
        </a:xfrm>
      </p:grpSpPr>
      <p:sp>
        <p:nvSpPr>
          <p:cNvPr id="19" name="text-1">
            <a:extLst>
              <a:ext uri="{FF2B5EF4-FFF2-40B4-BE49-F238E27FC236}">
                <a16:creationId xmlns:a16="http://schemas.microsoft.com/office/drawing/2014/main" id="{93EEEEC6-DFD8-44C2-A00D-FCF0A5C964D6}"/>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F7F8F5"/>
                </a:solidFill>
                <a:latin typeface="Georgia"/>
                <a:ea typeface="Georgia"/>
                <a:cs typeface="Georgia"/>
              </a:defRPr>
            </a:pPr>
            <a:r>
              <a:t>Validate measurement, complete the sample, then test</a:t>
            </a:r>
          </a:p>
        </p:txBody>
      </p:sp>
      <p:sp>
        <p:nvSpPr>
          <p:cNvPr id="2" name="text-2">
            <a:extLst>
              <a:ext uri="{FF2B5EF4-FFF2-40B4-BE49-F238E27FC236}">
                <a16:creationId xmlns:a16="http://schemas.microsoft.com/office/drawing/2014/main" id="{CD315327-740A-4B9E-AE20-E731459C4C44}"/>
              </a:ext>
            </a:extLst>
          </p:cNvPr>
          <p:cNvSpPr>
            <a:spLocks noGrp="1"/>
          </p:cNvSpPr>
          <p:nvPr/>
        </p:nvSpPr>
        <p:spPr>
          <a:xfrm>
            <a:off x="666750" y="2057400"/>
            <a:ext cx="2571750" cy="523875"/>
          </a:xfrm>
          <a:prstGeom prst="rect">
            <a:avLst/>
          </a:prstGeom>
        </p:spPr>
        <p:txBody>
          <a:bodyPr lIns="0" tIns="0" rIns="0" bIns="0" anchor="ctr"/>
          <a:lstStyle/>
          <a:p>
            <a:pPr algn="l">
              <a:spcBef>
                <a:spcPts val="0"/>
              </a:spcBef>
              <a:spcAft>
                <a:spcPts val="0"/>
              </a:spcAft>
              <a:buNone/>
              <a:defRPr sz="2100" b="0">
                <a:solidFill>
                  <a:srgbClr val="8BD1CD"/>
                </a:solidFill>
                <a:latin typeface="Arial"/>
                <a:ea typeface="Arial"/>
                <a:cs typeface="Arial"/>
              </a:defRPr>
            </a:pPr>
            <a:r>
              <a:t>By Oct 27</a:t>
            </a:r>
          </a:p>
        </p:txBody>
      </p:sp>
      <p:sp>
        <p:nvSpPr>
          <p:cNvPr id="3" name="text-3">
            <a:extLst>
              <a:ext uri="{FF2B5EF4-FFF2-40B4-BE49-F238E27FC236}">
                <a16:creationId xmlns:a16="http://schemas.microsoft.com/office/drawing/2014/main" id="{A4BE4BEB-233B-4BE6-B264-8EF832B5EC04}"/>
              </a:ext>
            </a:extLst>
          </p:cNvPr>
          <p:cNvSpPr>
            <a:spLocks noGrp="1"/>
          </p:cNvSpPr>
          <p:nvPr/>
        </p:nvSpPr>
        <p:spPr>
          <a:xfrm>
            <a:off x="3390900" y="2057400"/>
            <a:ext cx="6000750" cy="523875"/>
          </a:xfrm>
          <a:prstGeom prst="rect">
            <a:avLst/>
          </a:prstGeom>
        </p:spPr>
        <p:txBody>
          <a:bodyPr lIns="0" tIns="0" rIns="0" bIns="0" anchor="ctr"/>
          <a:lstStyle/>
          <a:p>
            <a:pPr algn="l">
              <a:spcBef>
                <a:spcPts val="0"/>
              </a:spcBef>
              <a:spcAft>
                <a:spcPts val="0"/>
              </a:spcAft>
              <a:buNone/>
              <a:defRPr sz="2175" b="0">
                <a:solidFill>
                  <a:srgbClr val="F7F8F5"/>
                </a:solidFill>
                <a:latin typeface="Arial"/>
                <a:ea typeface="Arial"/>
                <a:cs typeface="Arial"/>
              </a:defRPr>
            </a:pPr>
            <a:r>
              <a:t>Set up scraping; collect IDs</a:t>
            </a:r>
          </a:p>
        </p:txBody>
      </p:sp>
      <p:sp>
        <p:nvSpPr>
          <p:cNvPr id="4" name="text-4">
            <a:extLst>
              <a:ext uri="{FF2B5EF4-FFF2-40B4-BE49-F238E27FC236}">
                <a16:creationId xmlns:a16="http://schemas.microsoft.com/office/drawing/2014/main" id="{EDC86C4A-9755-4A4F-9D81-587F31EB325B}"/>
              </a:ext>
            </a:extLst>
          </p:cNvPr>
          <p:cNvSpPr>
            <a:spLocks noGrp="1"/>
          </p:cNvSpPr>
          <p:nvPr/>
        </p:nvSpPr>
        <p:spPr>
          <a:xfrm>
            <a:off x="9810750" y="2057400"/>
            <a:ext cx="1714500" cy="523875"/>
          </a:xfrm>
          <a:prstGeom prst="rect">
            <a:avLst/>
          </a:prstGeom>
        </p:spPr>
        <p:txBody>
          <a:bodyPr lIns="0" tIns="0" rIns="0" bIns="0" anchor="ctr"/>
          <a:lstStyle/>
          <a:p>
            <a:pPr algn="r">
              <a:spcBef>
                <a:spcPts val="0"/>
              </a:spcBef>
              <a:spcAft>
                <a:spcPts val="0"/>
              </a:spcAft>
              <a:buNone/>
              <a:defRPr sz="1800" b="0">
                <a:solidFill>
                  <a:srgbClr val="B9CECD"/>
                </a:solidFill>
                <a:latin typeface="Arial"/>
                <a:ea typeface="Arial"/>
                <a:cs typeface="Arial"/>
              </a:defRPr>
            </a:pPr>
            <a:r>
              <a:t>Samuel</a:t>
            </a:r>
          </a:p>
        </p:txBody>
      </p:sp>
      <p:sp>
        <p:nvSpPr>
          <p:cNvPr id="5" name="shape-5">
            <a:extLst>
              <a:ext uri="{FF2B5EF4-FFF2-40B4-BE49-F238E27FC236}">
                <a16:creationId xmlns:a16="http://schemas.microsoft.com/office/drawing/2014/main" id="{84BC99A3-9A57-4723-9AEB-B9AF16EC011B}"/>
              </a:ext>
            </a:extLst>
          </p:cNvPr>
          <p:cNvSpPr>
            <a:spLocks noGrp="1"/>
          </p:cNvSpPr>
          <p:nvPr/>
        </p:nvSpPr>
        <p:spPr>
          <a:xfrm>
            <a:off x="666750" y="2771775"/>
            <a:ext cx="10858500" cy="9525"/>
          </a:xfrm>
          <a:prstGeom prst="rect">
            <a:avLst/>
          </a:prstGeom>
          <a:solidFill>
            <a:srgbClr val="3C555A"/>
          </a:solidFill>
          <a:ln w="0">
            <a:noFill/>
            <a:prstDash val="solid"/>
          </a:ln>
        </p:spPr>
      </p:sp>
      <p:sp>
        <p:nvSpPr>
          <p:cNvPr id="6" name="text-6">
            <a:extLst>
              <a:ext uri="{FF2B5EF4-FFF2-40B4-BE49-F238E27FC236}">
                <a16:creationId xmlns:a16="http://schemas.microsoft.com/office/drawing/2014/main" id="{45FB641C-A109-40A6-9C56-74BD7C104993}"/>
              </a:ext>
            </a:extLst>
          </p:cNvPr>
          <p:cNvSpPr>
            <a:spLocks noGrp="1"/>
          </p:cNvSpPr>
          <p:nvPr/>
        </p:nvSpPr>
        <p:spPr>
          <a:xfrm>
            <a:off x="666750" y="2962275"/>
            <a:ext cx="2571750" cy="523875"/>
          </a:xfrm>
          <a:prstGeom prst="rect">
            <a:avLst/>
          </a:prstGeom>
        </p:spPr>
        <p:txBody>
          <a:bodyPr lIns="0" tIns="0" rIns="0" bIns="0" anchor="ctr"/>
          <a:lstStyle/>
          <a:p>
            <a:pPr algn="l">
              <a:spcBef>
                <a:spcPts val="0"/>
              </a:spcBef>
              <a:spcAft>
                <a:spcPts val="0"/>
              </a:spcAft>
              <a:buNone/>
              <a:defRPr sz="2100" b="0">
                <a:solidFill>
                  <a:srgbClr val="8BD1CD"/>
                </a:solidFill>
                <a:latin typeface="Arial"/>
                <a:ea typeface="Arial"/>
                <a:cs typeface="Arial"/>
              </a:defRPr>
            </a:pPr>
            <a:r>
              <a:t>Oct 28–Nov 8</a:t>
            </a:r>
          </a:p>
        </p:txBody>
      </p:sp>
      <p:sp>
        <p:nvSpPr>
          <p:cNvPr id="7" name="text-7">
            <a:extLst>
              <a:ext uri="{FF2B5EF4-FFF2-40B4-BE49-F238E27FC236}">
                <a16:creationId xmlns:a16="http://schemas.microsoft.com/office/drawing/2014/main" id="{CB5DAE30-67BA-4757-A5A4-F6E478CF7B90}"/>
              </a:ext>
            </a:extLst>
          </p:cNvPr>
          <p:cNvSpPr>
            <a:spLocks noGrp="1"/>
          </p:cNvSpPr>
          <p:nvPr/>
        </p:nvSpPr>
        <p:spPr>
          <a:xfrm>
            <a:off x="3390900" y="2962275"/>
            <a:ext cx="6000750" cy="523875"/>
          </a:xfrm>
          <a:prstGeom prst="rect">
            <a:avLst/>
          </a:prstGeom>
        </p:spPr>
        <p:txBody>
          <a:bodyPr lIns="0" tIns="0" rIns="0" bIns="0" anchor="ctr"/>
          <a:lstStyle/>
          <a:p>
            <a:pPr algn="l">
              <a:spcBef>
                <a:spcPts val="0"/>
              </a:spcBef>
              <a:spcAft>
                <a:spcPts val="0"/>
              </a:spcAft>
              <a:buNone/>
              <a:defRPr sz="2175" b="0">
                <a:solidFill>
                  <a:srgbClr val="F7F8F5"/>
                </a:solidFill>
                <a:latin typeface="Arial"/>
                <a:ea typeface="Arial"/>
                <a:cs typeface="Arial"/>
              </a:defRPr>
            </a:pPr>
            <a:r>
              <a:t>Validate filtering; freeze prompts</a:t>
            </a:r>
          </a:p>
        </p:txBody>
      </p:sp>
      <p:sp>
        <p:nvSpPr>
          <p:cNvPr id="8" name="text-8">
            <a:extLst>
              <a:ext uri="{FF2B5EF4-FFF2-40B4-BE49-F238E27FC236}">
                <a16:creationId xmlns:a16="http://schemas.microsoft.com/office/drawing/2014/main" id="{B779E662-38BF-4CB8-B887-EF9314B3BD2F}"/>
              </a:ext>
            </a:extLst>
          </p:cNvPr>
          <p:cNvSpPr>
            <a:spLocks noGrp="1"/>
          </p:cNvSpPr>
          <p:nvPr/>
        </p:nvSpPr>
        <p:spPr>
          <a:xfrm>
            <a:off x="9810750" y="2962275"/>
            <a:ext cx="1714500" cy="523875"/>
          </a:xfrm>
          <a:prstGeom prst="rect">
            <a:avLst/>
          </a:prstGeom>
        </p:spPr>
        <p:txBody>
          <a:bodyPr lIns="0" tIns="0" rIns="0" bIns="0" anchor="ctr"/>
          <a:lstStyle/>
          <a:p>
            <a:pPr algn="r">
              <a:spcBef>
                <a:spcPts val="0"/>
              </a:spcBef>
              <a:spcAft>
                <a:spcPts val="0"/>
              </a:spcAft>
              <a:buNone/>
              <a:defRPr sz="1800" b="0">
                <a:solidFill>
                  <a:srgbClr val="B9CECD"/>
                </a:solidFill>
                <a:latin typeface="Arial"/>
                <a:ea typeface="Arial"/>
                <a:cs typeface="Arial"/>
              </a:defRPr>
            </a:pPr>
            <a:r>
              <a:t>Spencer</a:t>
            </a:r>
          </a:p>
        </p:txBody>
      </p:sp>
      <p:sp>
        <p:nvSpPr>
          <p:cNvPr id="9" name="shape-9">
            <a:extLst>
              <a:ext uri="{FF2B5EF4-FFF2-40B4-BE49-F238E27FC236}">
                <a16:creationId xmlns:a16="http://schemas.microsoft.com/office/drawing/2014/main" id="{402599D8-1A1F-485F-A076-578C64D5AFE6}"/>
              </a:ext>
            </a:extLst>
          </p:cNvPr>
          <p:cNvSpPr>
            <a:spLocks noGrp="1"/>
          </p:cNvSpPr>
          <p:nvPr/>
        </p:nvSpPr>
        <p:spPr>
          <a:xfrm>
            <a:off x="666750" y="3676650"/>
            <a:ext cx="10858500" cy="9525"/>
          </a:xfrm>
          <a:prstGeom prst="rect">
            <a:avLst/>
          </a:prstGeom>
          <a:solidFill>
            <a:srgbClr val="3C555A"/>
          </a:solidFill>
          <a:ln w="0">
            <a:noFill/>
            <a:prstDash val="solid"/>
          </a:ln>
        </p:spPr>
      </p:sp>
      <p:sp>
        <p:nvSpPr>
          <p:cNvPr id="10" name="text-10">
            <a:extLst>
              <a:ext uri="{FF2B5EF4-FFF2-40B4-BE49-F238E27FC236}">
                <a16:creationId xmlns:a16="http://schemas.microsoft.com/office/drawing/2014/main" id="{42D77C01-BD7A-44DB-9197-F0C6180FA0BB}"/>
              </a:ext>
            </a:extLst>
          </p:cNvPr>
          <p:cNvSpPr>
            <a:spLocks noGrp="1"/>
          </p:cNvSpPr>
          <p:nvPr/>
        </p:nvSpPr>
        <p:spPr>
          <a:xfrm>
            <a:off x="666750" y="3867150"/>
            <a:ext cx="2571750" cy="523875"/>
          </a:xfrm>
          <a:prstGeom prst="rect">
            <a:avLst/>
          </a:prstGeom>
        </p:spPr>
        <p:txBody>
          <a:bodyPr lIns="0" tIns="0" rIns="0" bIns="0" anchor="ctr"/>
          <a:lstStyle/>
          <a:p>
            <a:pPr algn="l">
              <a:spcBef>
                <a:spcPts val="0"/>
              </a:spcBef>
              <a:spcAft>
                <a:spcPts val="0"/>
              </a:spcAft>
              <a:buNone/>
              <a:defRPr sz="2100" b="0">
                <a:solidFill>
                  <a:srgbClr val="8BD1CD"/>
                </a:solidFill>
                <a:latin typeface="Arial"/>
                <a:ea typeface="Arial"/>
                <a:cs typeface="Arial"/>
              </a:defRPr>
            </a:pPr>
            <a:r>
              <a:t>Nov 9–20</a:t>
            </a:r>
          </a:p>
        </p:txBody>
      </p:sp>
      <p:sp>
        <p:nvSpPr>
          <p:cNvPr id="11" name="text-11">
            <a:extLst>
              <a:ext uri="{FF2B5EF4-FFF2-40B4-BE49-F238E27FC236}">
                <a16:creationId xmlns:a16="http://schemas.microsoft.com/office/drawing/2014/main" id="{70213A34-BDF8-48B1-9BAA-33340E7CB272}"/>
              </a:ext>
            </a:extLst>
          </p:cNvPr>
          <p:cNvSpPr>
            <a:spLocks noGrp="1"/>
          </p:cNvSpPr>
          <p:nvPr/>
        </p:nvSpPr>
        <p:spPr>
          <a:xfrm>
            <a:off x="3390900" y="3867150"/>
            <a:ext cx="6000750" cy="523875"/>
          </a:xfrm>
          <a:prstGeom prst="rect">
            <a:avLst/>
          </a:prstGeom>
        </p:spPr>
        <p:txBody>
          <a:bodyPr lIns="0" tIns="0" rIns="0" bIns="0" anchor="ctr"/>
          <a:lstStyle/>
          <a:p>
            <a:pPr algn="l">
              <a:spcBef>
                <a:spcPts val="0"/>
              </a:spcBef>
              <a:spcAft>
                <a:spcPts val="0"/>
              </a:spcAft>
              <a:buNone/>
              <a:defRPr sz="2175" b="0">
                <a:solidFill>
                  <a:srgbClr val="F7F8F5"/>
                </a:solidFill>
                <a:latin typeface="Arial"/>
                <a:ea typeface="Arial"/>
                <a:cs typeface="Arial"/>
              </a:defRPr>
            </a:pPr>
            <a:r>
              <a:t>Complete samples + human reviews</a:t>
            </a:r>
          </a:p>
        </p:txBody>
      </p:sp>
      <p:sp>
        <p:nvSpPr>
          <p:cNvPr id="12" name="text-12">
            <a:extLst>
              <a:ext uri="{FF2B5EF4-FFF2-40B4-BE49-F238E27FC236}">
                <a16:creationId xmlns:a16="http://schemas.microsoft.com/office/drawing/2014/main" id="{E5F4D0EE-4E0F-4DFB-BF6B-3A433573A822}"/>
              </a:ext>
            </a:extLst>
          </p:cNvPr>
          <p:cNvSpPr>
            <a:spLocks noGrp="1"/>
          </p:cNvSpPr>
          <p:nvPr/>
        </p:nvSpPr>
        <p:spPr>
          <a:xfrm>
            <a:off x="9810750" y="3867150"/>
            <a:ext cx="1714500" cy="523875"/>
          </a:xfrm>
          <a:prstGeom prst="rect">
            <a:avLst/>
          </a:prstGeom>
        </p:spPr>
        <p:txBody>
          <a:bodyPr lIns="0" tIns="0" rIns="0" bIns="0" anchor="ctr"/>
          <a:lstStyle/>
          <a:p>
            <a:pPr algn="r">
              <a:spcBef>
                <a:spcPts val="0"/>
              </a:spcBef>
              <a:spcAft>
                <a:spcPts val="0"/>
              </a:spcAft>
              <a:buNone/>
              <a:defRPr sz="1800" b="0">
                <a:solidFill>
                  <a:srgbClr val="B9CECD"/>
                </a:solidFill>
                <a:latin typeface="Arial"/>
                <a:ea typeface="Arial"/>
                <a:cs typeface="Arial"/>
              </a:defRPr>
            </a:pPr>
            <a:r>
              <a:t>Spencer</a:t>
            </a:r>
          </a:p>
        </p:txBody>
      </p:sp>
      <p:sp>
        <p:nvSpPr>
          <p:cNvPr id="13" name="shape-13">
            <a:extLst>
              <a:ext uri="{FF2B5EF4-FFF2-40B4-BE49-F238E27FC236}">
                <a16:creationId xmlns:a16="http://schemas.microsoft.com/office/drawing/2014/main" id="{813E93DA-38FA-4CC5-858F-F2875A3CAE24}"/>
              </a:ext>
            </a:extLst>
          </p:cNvPr>
          <p:cNvSpPr>
            <a:spLocks noGrp="1"/>
          </p:cNvSpPr>
          <p:nvPr/>
        </p:nvSpPr>
        <p:spPr>
          <a:xfrm>
            <a:off x="666750" y="4581525"/>
            <a:ext cx="10858500" cy="9525"/>
          </a:xfrm>
          <a:prstGeom prst="rect">
            <a:avLst/>
          </a:prstGeom>
          <a:solidFill>
            <a:srgbClr val="3C555A"/>
          </a:solidFill>
          <a:ln w="0">
            <a:noFill/>
            <a:prstDash val="solid"/>
          </a:ln>
        </p:spPr>
      </p:sp>
      <p:sp>
        <p:nvSpPr>
          <p:cNvPr id="14" name="text-14">
            <a:extLst>
              <a:ext uri="{FF2B5EF4-FFF2-40B4-BE49-F238E27FC236}">
                <a16:creationId xmlns:a16="http://schemas.microsoft.com/office/drawing/2014/main" id="{83B3B075-D30E-4EB5-8FA7-811392771DCF}"/>
              </a:ext>
            </a:extLst>
          </p:cNvPr>
          <p:cNvSpPr>
            <a:spLocks noGrp="1"/>
          </p:cNvSpPr>
          <p:nvPr/>
        </p:nvSpPr>
        <p:spPr>
          <a:xfrm>
            <a:off x="666750" y="4772025"/>
            <a:ext cx="2571750" cy="523875"/>
          </a:xfrm>
          <a:prstGeom prst="rect">
            <a:avLst/>
          </a:prstGeom>
        </p:spPr>
        <p:txBody>
          <a:bodyPr lIns="0" tIns="0" rIns="0" bIns="0" anchor="ctr"/>
          <a:lstStyle/>
          <a:p>
            <a:pPr algn="l">
              <a:spcBef>
                <a:spcPts val="0"/>
              </a:spcBef>
              <a:spcAft>
                <a:spcPts val="0"/>
              </a:spcAft>
              <a:buNone/>
              <a:defRPr sz="2100" b="0">
                <a:solidFill>
                  <a:srgbClr val="8BD1CD"/>
                </a:solidFill>
                <a:latin typeface="Arial"/>
                <a:ea typeface="Arial"/>
                <a:cs typeface="Arial"/>
              </a:defRPr>
            </a:pPr>
            <a:r>
              <a:t>Nov 21–final</a:t>
            </a:r>
          </a:p>
        </p:txBody>
      </p:sp>
      <p:sp>
        <p:nvSpPr>
          <p:cNvPr id="15" name="text-15">
            <a:extLst>
              <a:ext uri="{FF2B5EF4-FFF2-40B4-BE49-F238E27FC236}">
                <a16:creationId xmlns:a16="http://schemas.microsoft.com/office/drawing/2014/main" id="{2F6100C7-2DBF-40AA-9D40-C184F0D8BD50}"/>
              </a:ext>
            </a:extLst>
          </p:cNvPr>
          <p:cNvSpPr>
            <a:spLocks noGrp="1"/>
          </p:cNvSpPr>
          <p:nvPr/>
        </p:nvSpPr>
        <p:spPr>
          <a:xfrm>
            <a:off x="3390900" y="4772025"/>
            <a:ext cx="6000750" cy="523875"/>
          </a:xfrm>
          <a:prstGeom prst="rect">
            <a:avLst/>
          </a:prstGeom>
        </p:spPr>
        <p:txBody>
          <a:bodyPr lIns="0" tIns="0" rIns="0" bIns="0" anchor="ctr"/>
          <a:lstStyle/>
          <a:p>
            <a:pPr algn="l">
              <a:spcBef>
                <a:spcPts val="0"/>
              </a:spcBef>
              <a:spcAft>
                <a:spcPts val="0"/>
              </a:spcAft>
              <a:buNone/>
              <a:defRPr sz="2175" b="0">
                <a:solidFill>
                  <a:srgbClr val="F7F8F5"/>
                </a:solidFill>
                <a:latin typeface="Arial"/>
                <a:ea typeface="Arial"/>
                <a:cs typeface="Arial"/>
              </a:defRPr>
            </a:pPr>
            <a:r>
              <a:t>Fit trend; rerun; write + present</a:t>
            </a:r>
          </a:p>
        </p:txBody>
      </p:sp>
      <p:sp>
        <p:nvSpPr>
          <p:cNvPr id="16" name="text-16">
            <a:extLst>
              <a:ext uri="{FF2B5EF4-FFF2-40B4-BE49-F238E27FC236}">
                <a16:creationId xmlns:a16="http://schemas.microsoft.com/office/drawing/2014/main" id="{59002043-2880-458D-97BE-7BF762423F7B}"/>
              </a:ext>
            </a:extLst>
          </p:cNvPr>
          <p:cNvSpPr>
            <a:spLocks noGrp="1"/>
          </p:cNvSpPr>
          <p:nvPr/>
        </p:nvSpPr>
        <p:spPr>
          <a:xfrm>
            <a:off x="9810750" y="4772025"/>
            <a:ext cx="1714500" cy="523875"/>
          </a:xfrm>
          <a:prstGeom prst="rect">
            <a:avLst/>
          </a:prstGeom>
        </p:spPr>
        <p:txBody>
          <a:bodyPr lIns="0" tIns="0" rIns="0" bIns="0" anchor="ctr"/>
          <a:lstStyle/>
          <a:p>
            <a:pPr algn="r">
              <a:spcBef>
                <a:spcPts val="0"/>
              </a:spcBef>
              <a:spcAft>
                <a:spcPts val="0"/>
              </a:spcAft>
              <a:buNone/>
              <a:defRPr sz="1800" b="0">
                <a:solidFill>
                  <a:srgbClr val="B9CECD"/>
                </a:solidFill>
                <a:latin typeface="Arial"/>
                <a:ea typeface="Arial"/>
                <a:cs typeface="Arial"/>
              </a:defRPr>
            </a:pPr>
            <a:r>
              <a:t>Hezeki</a:t>
            </a:r>
          </a:p>
        </p:txBody>
      </p:sp>
      <p:sp>
        <p:nvSpPr>
          <p:cNvPr id="17" name="text-17">
            <a:extLst>
              <a:ext uri="{FF2B5EF4-FFF2-40B4-BE49-F238E27FC236}">
                <a16:creationId xmlns:a16="http://schemas.microsoft.com/office/drawing/2014/main" id="{622C92CC-2A1F-40C5-8269-1EECE0A9C597}"/>
              </a:ext>
            </a:extLst>
          </p:cNvPr>
          <p:cNvSpPr>
            <a:spLocks noGrp="1"/>
          </p:cNvSpPr>
          <p:nvPr/>
        </p:nvSpPr>
        <p:spPr>
          <a:xfrm>
            <a:off x="666750" y="5857875"/>
            <a:ext cx="10287000" cy="400050"/>
          </a:xfrm>
          <a:prstGeom prst="rect">
            <a:avLst/>
          </a:prstGeom>
        </p:spPr>
        <p:txBody>
          <a:bodyPr lIns="0" tIns="0" rIns="0" bIns="0" anchor="ctr"/>
          <a:lstStyle/>
          <a:p>
            <a:pPr algn="l">
              <a:spcBef>
                <a:spcPts val="0"/>
              </a:spcBef>
              <a:spcAft>
                <a:spcPts val="0"/>
              </a:spcAft>
              <a:buNone/>
              <a:defRPr sz="2100" b="0">
                <a:solidFill>
                  <a:srgbClr val="F7F8F5"/>
                </a:solidFill>
                <a:latin typeface="Arial"/>
                <a:ea typeface="Arial"/>
                <a:cs typeface="Arial"/>
              </a:defRPr>
            </a:pPr>
            <a:r>
              <a:t>A reliable answer can be lower, higher, or no clear change.</a:t>
            </a:r>
          </a:p>
        </p:txBody>
      </p:sp>
      <p:sp>
        <p:nvSpPr>
          <p:cNvPr id="20" name="Rectangle 19">
            <a:extLst>
              <a:ext uri="{FF2B5EF4-FFF2-40B4-BE49-F238E27FC236}">
                <a16:creationId xmlns:a16="http://schemas.microsoft.com/office/drawing/2014/main" id="{91C986DC-727C-4AC7-BA69-A10AD6DF2492}"/>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B6C9C8"/>
                </a:solidFill>
                <a:latin typeface="Arial"/>
                <a:ea typeface="Arial"/>
                <a:cs typeface="Arial"/>
              </a:defRPr>
            </a:pPr>
            <a:r>
              <a:t>15</a:t>
            </a:r>
          </a:p>
        </p:txBody>
      </p:sp>
    </p:spTree>
    <p:extLst>
      <p:ext uri="{BB962C8B-B14F-4D97-AF65-F5344CB8AC3E}">
        <p14:creationId xmlns:p14="http://schemas.microsoft.com/office/powerpoint/2010/main" val="1123559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5AF987D-E380-4A08-AF64-015C096CB0B0}"/>
              </a:ext>
            </a:extLst>
          </p:cNvPr>
          <p:cNvSpPr>
            <a:spLocks noGrp="1"/>
          </p:cNvSpPr>
          <p:nvPr/>
        </p:nvSpPr>
        <p:spPr>
          <a:xfrm>
            <a:off x="666750" y="476250"/>
            <a:ext cx="10858500" cy="1190625"/>
          </a:xfrm>
          <a:prstGeom prst="rect">
            <a:avLst/>
          </a:prstGeom>
        </p:spPr>
        <p:txBody>
          <a:bodyPr lIns="0" tIns="0" rIns="0" bIns="0" anchor="ctr"/>
          <a:lstStyle/>
          <a:p>
            <a:pPr algn="l">
              <a:buNone/>
              <a:defRPr sz="3300">
                <a:solidFill>
                  <a:srgbClr val="182C30"/>
                </a:solidFill>
                <a:latin typeface="Georgia"/>
                <a:ea typeface="Georgia"/>
                <a:cs typeface="Georgia"/>
              </a:defRPr>
            </a:pPr>
            <a:r>
              <a:t>Average idea differences into one monthly score</a:t>
            </a:r>
          </a:p>
        </p:txBody>
      </p:sp>
      <p:pic>
        <p:nvPicPr>
          <p:cNvPr id="23" name="Picture 1"/>
          <p:cNvPicPr>
            <a:picLocks noChangeAspect="1"/>
          </p:cNvPicPr>
          <p:nvPr/>
        </p:nvPicPr>
        <p:blipFill>
          <a:blip r:embed="rId3"/>
          <a:stretch/>
        </p:blipFill>
        <p:spPr>
          <a:xfrm>
            <a:off x="2191478" y="2143125"/>
            <a:ext cx="631613" cy="3036600"/>
          </a:xfrm>
          <a:prstGeom prst="rect">
            <a:avLst/>
          </a:prstGeom>
        </p:spPr>
      </p:pic>
      <p:sp>
        <p:nvSpPr>
          <p:cNvPr id="3" name="Rectangle 2">
            <a:extLst>
              <a:ext uri="{FF2B5EF4-FFF2-40B4-BE49-F238E27FC236}">
                <a16:creationId xmlns:a16="http://schemas.microsoft.com/office/drawing/2014/main" id="{A7973363-5867-47DB-9AA0-A05548BCB8C0}"/>
              </a:ext>
            </a:extLst>
          </p:cNvPr>
          <p:cNvSpPr>
            <a:spLocks noGrp="1"/>
          </p:cNvSpPr>
          <p:nvPr/>
        </p:nvSpPr>
        <p:spPr>
          <a:xfrm>
            <a:off x="2263796" y="3746450"/>
            <a:ext cx="450453" cy="400831"/>
          </a:xfrm>
          <a:prstGeom prst="rect">
            <a:avLst/>
          </a:prstGeom>
          <a:noFill/>
          <a:ln w="9525">
            <a:noFill/>
            <a:prstDash val="solid"/>
          </a:ln>
        </p:spPr>
      </p:sp>
      <p:pic>
        <p:nvPicPr>
          <p:cNvPr id="25" name="Picture 3"/>
          <p:cNvPicPr>
            <a:picLocks noChangeAspect="1"/>
          </p:cNvPicPr>
          <p:nvPr/>
        </p:nvPicPr>
        <p:blipFill>
          <a:blip r:embed="rId4"/>
          <a:stretch/>
        </p:blipFill>
        <p:spPr>
          <a:xfrm>
            <a:off x="2890495" y="2148432"/>
            <a:ext cx="762549" cy="3025987"/>
          </a:xfrm>
          <a:prstGeom prst="rect">
            <a:avLst/>
          </a:prstGeom>
        </p:spPr>
      </p:pic>
      <p:sp>
        <p:nvSpPr>
          <p:cNvPr id="5" name="Rectangle 4">
            <a:extLst>
              <a:ext uri="{FF2B5EF4-FFF2-40B4-BE49-F238E27FC236}">
                <a16:creationId xmlns:a16="http://schemas.microsoft.com/office/drawing/2014/main" id="{A14B01B9-230F-43E6-970D-32C3F4F6FA1E}"/>
              </a:ext>
            </a:extLst>
          </p:cNvPr>
          <p:cNvSpPr>
            <a:spLocks noGrp="1"/>
          </p:cNvSpPr>
          <p:nvPr/>
        </p:nvSpPr>
        <p:spPr>
          <a:xfrm>
            <a:off x="3144677" y="3782889"/>
            <a:ext cx="411534" cy="157903"/>
          </a:xfrm>
          <a:prstGeom prst="rect">
            <a:avLst/>
          </a:prstGeom>
          <a:noFill/>
          <a:ln w="9525">
            <a:noFill/>
            <a:prstDash val="solid"/>
          </a:ln>
        </p:spPr>
      </p:sp>
      <p:pic>
        <p:nvPicPr>
          <p:cNvPr id="27" name="Picture 5"/>
          <p:cNvPicPr>
            <a:picLocks noChangeAspect="1"/>
          </p:cNvPicPr>
          <p:nvPr/>
        </p:nvPicPr>
        <p:blipFill>
          <a:blip r:embed="rId5"/>
          <a:stretch/>
        </p:blipFill>
        <p:spPr>
          <a:xfrm>
            <a:off x="3720588" y="2143125"/>
            <a:ext cx="1323958" cy="3036600"/>
          </a:xfrm>
          <a:prstGeom prst="rect">
            <a:avLst/>
          </a:prstGeom>
        </p:spPr>
      </p:pic>
      <p:sp>
        <p:nvSpPr>
          <p:cNvPr id="7" name="Rectangle 6">
            <a:extLst>
              <a:ext uri="{FF2B5EF4-FFF2-40B4-BE49-F238E27FC236}">
                <a16:creationId xmlns:a16="http://schemas.microsoft.com/office/drawing/2014/main" id="{E41D829A-A3A2-4CB2-9A8C-DCBA5F800A50}"/>
              </a:ext>
            </a:extLst>
          </p:cNvPr>
          <p:cNvSpPr>
            <a:spLocks noGrp="1"/>
          </p:cNvSpPr>
          <p:nvPr/>
        </p:nvSpPr>
        <p:spPr>
          <a:xfrm>
            <a:off x="3841342" y="3199862"/>
            <a:ext cx="1070288" cy="1481861"/>
          </a:xfrm>
          <a:prstGeom prst="rect">
            <a:avLst/>
          </a:prstGeom>
          <a:noFill/>
          <a:ln w="9525">
            <a:noFill/>
            <a:prstDash val="solid"/>
          </a:ln>
        </p:spPr>
      </p:sp>
      <p:pic>
        <p:nvPicPr>
          <p:cNvPr id="29" name="Picture 7"/>
          <p:cNvPicPr>
            <a:picLocks noChangeAspect="1"/>
          </p:cNvPicPr>
          <p:nvPr/>
        </p:nvPicPr>
        <p:blipFill>
          <a:blip r:embed="rId6"/>
          <a:stretch/>
        </p:blipFill>
        <p:spPr>
          <a:xfrm>
            <a:off x="5112090" y="2150572"/>
            <a:ext cx="1099901" cy="3021707"/>
          </a:xfrm>
          <a:prstGeom prst="rect">
            <a:avLst/>
          </a:prstGeom>
        </p:spPr>
      </p:pic>
      <p:sp>
        <p:nvSpPr>
          <p:cNvPr id="9" name="Rectangle 8">
            <a:extLst>
              <a:ext uri="{FF2B5EF4-FFF2-40B4-BE49-F238E27FC236}">
                <a16:creationId xmlns:a16="http://schemas.microsoft.com/office/drawing/2014/main" id="{61B45186-73BF-425F-81C4-0937124B14B3}"/>
              </a:ext>
            </a:extLst>
          </p:cNvPr>
          <p:cNvSpPr>
            <a:spLocks noGrp="1"/>
          </p:cNvSpPr>
          <p:nvPr/>
        </p:nvSpPr>
        <p:spPr>
          <a:xfrm>
            <a:off x="5293393" y="3442790"/>
            <a:ext cx="821904" cy="1384690"/>
          </a:xfrm>
          <a:prstGeom prst="rect">
            <a:avLst/>
          </a:prstGeom>
          <a:noFill/>
          <a:ln w="9525">
            <a:noFill/>
            <a:prstDash val="solid"/>
          </a:ln>
        </p:spPr>
      </p:sp>
      <p:pic>
        <p:nvPicPr>
          <p:cNvPr id="31" name="Picture 9"/>
          <p:cNvPicPr>
            <a:picLocks noChangeAspect="1"/>
          </p:cNvPicPr>
          <p:nvPr/>
        </p:nvPicPr>
        <p:blipFill>
          <a:blip r:embed="rId7"/>
          <a:stretch/>
        </p:blipFill>
        <p:spPr>
          <a:xfrm>
            <a:off x="6284389" y="2143125"/>
            <a:ext cx="3145918" cy="3036600"/>
          </a:xfrm>
          <a:prstGeom prst="rect">
            <a:avLst/>
          </a:prstGeom>
        </p:spPr>
      </p:pic>
      <p:sp>
        <p:nvSpPr>
          <p:cNvPr id="11" name="Rectangle 10">
            <a:extLst>
              <a:ext uri="{FF2B5EF4-FFF2-40B4-BE49-F238E27FC236}">
                <a16:creationId xmlns:a16="http://schemas.microsoft.com/office/drawing/2014/main" id="{68570A39-CAFE-4197-A679-04931608F799}"/>
              </a:ext>
            </a:extLst>
          </p:cNvPr>
          <p:cNvSpPr>
            <a:spLocks noGrp="1"/>
          </p:cNvSpPr>
          <p:nvPr/>
        </p:nvSpPr>
        <p:spPr>
          <a:xfrm>
            <a:off x="6522478" y="3479229"/>
            <a:ext cx="2767263" cy="753077"/>
          </a:xfrm>
          <a:prstGeom prst="rect">
            <a:avLst/>
          </a:prstGeom>
          <a:noFill/>
          <a:ln w="9525">
            <a:noFill/>
            <a:prstDash val="solid"/>
          </a:ln>
        </p:spPr>
      </p:sp>
      <p:sp>
        <p:nvSpPr>
          <p:cNvPr id="12" name="Rectangle 11">
            <a:extLst>
              <a:ext uri="{FF2B5EF4-FFF2-40B4-BE49-F238E27FC236}">
                <a16:creationId xmlns:a16="http://schemas.microsoft.com/office/drawing/2014/main" id="{27E5F28F-2AB7-4098-8A29-A10AFDECC043}"/>
              </a:ext>
            </a:extLst>
          </p:cNvPr>
          <p:cNvSpPr>
            <a:spLocks noGrp="1"/>
          </p:cNvSpPr>
          <p:nvPr/>
        </p:nvSpPr>
        <p:spPr>
          <a:xfrm>
            <a:off x="952500" y="1857375"/>
            <a:ext cx="1809750" cy="619125"/>
          </a:xfrm>
          <a:prstGeom prst="rect">
            <a:avLst/>
          </a:prstGeom>
        </p:spPr>
        <p:txBody>
          <a:bodyPr lIns="0" tIns="0" rIns="0" bIns="0" anchor="ctr"/>
          <a:lstStyle/>
          <a:p>
            <a:pPr algn="ctr">
              <a:buNone/>
              <a:defRPr sz="1800">
                <a:solidFill>
                  <a:srgbClr val="006D77"/>
                </a:solidFill>
                <a:latin typeface="Arial"/>
                <a:ea typeface="Arial"/>
                <a:cs typeface="Arial"/>
              </a:defRPr>
            </a:pPr>
            <a:r>
              <a:t>Monthly idea</a:t>
            </a:r>
          </a:p>
          <a:p>
            <a:pPr algn="ctr">
              <a:buNone/>
              <a:defRPr sz="1800">
                <a:solidFill>
                  <a:srgbClr val="006D77"/>
                </a:solidFill>
                <a:latin typeface="Arial"/>
                <a:ea typeface="Arial"/>
                <a:cs typeface="Arial"/>
              </a:defRPr>
            </a:pPr>
            <a:r>
              <a:t>diversity</a:t>
            </a:r>
          </a:p>
        </p:txBody>
      </p:sp>
      <p:cxnSp>
        <p:nvCxnSpPr>
          <p:cNvPr id="34" name="Straight Arrow Connector 12"/>
          <p:cNvCxnSpPr>
            <a:stCxn id="12" idx="2"/>
            <a:endCxn id="3" idx="0"/>
          </p:cNvCxnSpPr>
          <p:nvPr/>
        </p:nvCxnSpPr>
        <p:spPr>
          <a:xfrm>
            <a:off x="1857375" y="2476500"/>
            <a:ext cx="631648" cy="1269950"/>
          </a:xfrm>
          <a:prstGeom prst="straightConnector1">
            <a:avLst/>
          </a:prstGeom>
          <a:ln w="19050">
            <a:solidFill>
              <a:srgbClr val="006D77"/>
            </a:solidFill>
            <a:tailEnd type="arrow" w="med" len="med"/>
          </a:ln>
        </p:spPr>
      </p:cxnSp>
      <p:sp>
        <p:nvSpPr>
          <p:cNvPr id="14" name="Rectangle 13">
            <a:extLst>
              <a:ext uri="{FF2B5EF4-FFF2-40B4-BE49-F238E27FC236}">
                <a16:creationId xmlns:a16="http://schemas.microsoft.com/office/drawing/2014/main" id="{5F0CEEBF-2434-48EF-B02D-1C5330A649B2}"/>
              </a:ext>
            </a:extLst>
          </p:cNvPr>
          <p:cNvSpPr>
            <a:spLocks noGrp="1"/>
          </p:cNvSpPr>
          <p:nvPr/>
        </p:nvSpPr>
        <p:spPr>
          <a:xfrm>
            <a:off x="3524250" y="1809750"/>
            <a:ext cx="1905000" cy="619125"/>
          </a:xfrm>
          <a:prstGeom prst="rect">
            <a:avLst/>
          </a:prstGeom>
        </p:spPr>
        <p:txBody>
          <a:bodyPr lIns="0" tIns="0" rIns="0" bIns="0" anchor="ctr"/>
          <a:lstStyle/>
          <a:p>
            <a:pPr algn="ctr">
              <a:buNone/>
              <a:defRPr sz="1800">
                <a:solidFill>
                  <a:srgbClr val="006D77"/>
                </a:solidFill>
                <a:latin typeface="Arial"/>
                <a:ea typeface="Arial"/>
                <a:cs typeface="Arial"/>
              </a:defRPr>
            </a:pPr>
            <a:r>
              <a:t>Average across</a:t>
            </a:r>
          </a:p>
          <a:p>
            <a:pPr algn="ctr">
              <a:buNone/>
              <a:defRPr sz="1800">
                <a:solidFill>
                  <a:srgbClr val="006D77"/>
                </a:solidFill>
                <a:latin typeface="Arial"/>
                <a:ea typeface="Arial"/>
                <a:cs typeface="Arial"/>
              </a:defRPr>
            </a:pPr>
            <a:r>
              <a:t>all pairs</a:t>
            </a:r>
          </a:p>
        </p:txBody>
      </p:sp>
      <p:cxnSp>
        <p:nvCxnSpPr>
          <p:cNvPr id="36" name="Straight Arrow Connector 14"/>
          <p:cNvCxnSpPr>
            <a:stCxn id="14" idx="2"/>
            <a:endCxn id="7" idx="0"/>
          </p:cNvCxnSpPr>
          <p:nvPr/>
        </p:nvCxnSpPr>
        <p:spPr>
          <a:xfrm flipH="1">
            <a:off x="4376486" y="2428875"/>
            <a:ext cx="100264" cy="770987"/>
          </a:xfrm>
          <a:prstGeom prst="straightConnector1">
            <a:avLst/>
          </a:prstGeom>
          <a:ln w="19050">
            <a:solidFill>
              <a:srgbClr val="006D77"/>
            </a:solidFill>
            <a:tailEnd type="arrow" w="med" len="med"/>
          </a:ln>
        </p:spPr>
      </p:cxnSp>
      <p:sp>
        <p:nvSpPr>
          <p:cNvPr id="16" name="Rectangle 15">
            <a:extLst>
              <a:ext uri="{FF2B5EF4-FFF2-40B4-BE49-F238E27FC236}">
                <a16:creationId xmlns:a16="http://schemas.microsoft.com/office/drawing/2014/main" id="{81BFA113-D261-4982-B196-483C59210003}"/>
              </a:ext>
            </a:extLst>
          </p:cNvPr>
          <p:cNvSpPr>
            <a:spLocks noGrp="1"/>
          </p:cNvSpPr>
          <p:nvPr/>
        </p:nvSpPr>
        <p:spPr>
          <a:xfrm>
            <a:off x="4714875" y="5238750"/>
            <a:ext cx="2095500" cy="619125"/>
          </a:xfrm>
          <a:prstGeom prst="rect">
            <a:avLst/>
          </a:prstGeom>
        </p:spPr>
        <p:txBody>
          <a:bodyPr lIns="0" tIns="0" rIns="0" bIns="0" anchor="ctr"/>
          <a:lstStyle/>
          <a:p>
            <a:pPr algn="ctr">
              <a:buNone/>
              <a:defRPr sz="1800">
                <a:solidFill>
                  <a:srgbClr val="006D77"/>
                </a:solidFill>
                <a:latin typeface="Arial"/>
                <a:ea typeface="Arial"/>
                <a:cs typeface="Arial"/>
              </a:defRPr>
            </a:pPr>
            <a:r>
              <a:t>Compare every</a:t>
            </a:r>
          </a:p>
          <a:p>
            <a:pPr algn="ctr">
              <a:buNone/>
              <a:defRPr sz="1800">
                <a:solidFill>
                  <a:srgbClr val="006D77"/>
                </a:solidFill>
                <a:latin typeface="Arial"/>
                <a:ea typeface="Arial"/>
                <a:cs typeface="Arial"/>
              </a:defRPr>
            </a:pPr>
            <a:r>
              <a:t>distinct pair</a:t>
            </a:r>
          </a:p>
        </p:txBody>
      </p:sp>
      <p:cxnSp>
        <p:nvCxnSpPr>
          <p:cNvPr id="38" name="Straight Arrow Connector 16"/>
          <p:cNvCxnSpPr>
            <a:stCxn id="16" idx="0"/>
            <a:endCxn id="9" idx="2"/>
          </p:cNvCxnSpPr>
          <p:nvPr/>
        </p:nvCxnSpPr>
        <p:spPr>
          <a:xfrm flipH="1" flipV="1">
            <a:off x="5704345" y="4827480"/>
            <a:ext cx="58280" cy="411270"/>
          </a:xfrm>
          <a:prstGeom prst="straightConnector1">
            <a:avLst/>
          </a:prstGeom>
          <a:ln w="19050">
            <a:solidFill>
              <a:srgbClr val="006D77"/>
            </a:solidFill>
            <a:tailEnd type="arrow" w="med" len="med"/>
          </a:ln>
        </p:spPr>
      </p:cxnSp>
      <p:sp>
        <p:nvSpPr>
          <p:cNvPr id="18" name="Rectangle 17">
            <a:extLst>
              <a:ext uri="{FF2B5EF4-FFF2-40B4-BE49-F238E27FC236}">
                <a16:creationId xmlns:a16="http://schemas.microsoft.com/office/drawing/2014/main" id="{5AECCBCE-DF8E-4E6C-B1DF-3B90CBB3E2FB}"/>
              </a:ext>
            </a:extLst>
          </p:cNvPr>
          <p:cNvSpPr>
            <a:spLocks noGrp="1"/>
          </p:cNvSpPr>
          <p:nvPr/>
        </p:nvSpPr>
        <p:spPr>
          <a:xfrm>
            <a:off x="7810500" y="1857375"/>
            <a:ext cx="3048000" cy="619125"/>
          </a:xfrm>
          <a:prstGeom prst="rect">
            <a:avLst/>
          </a:prstGeom>
        </p:spPr>
        <p:txBody>
          <a:bodyPr lIns="0" tIns="0" rIns="0" bIns="0" anchor="ctr"/>
          <a:lstStyle/>
          <a:p>
            <a:pPr algn="ctr">
              <a:buNone/>
              <a:defRPr sz="1800">
                <a:solidFill>
                  <a:srgbClr val="006D77"/>
                </a:solidFill>
                <a:latin typeface="Arial"/>
                <a:ea typeface="Arial"/>
                <a:cs typeface="Arial"/>
              </a:defRPr>
            </a:pPr>
            <a:r>
              <a:t>Less similar ideas</a:t>
            </a:r>
          </a:p>
          <a:p>
            <a:pPr algn="ctr">
              <a:buNone/>
              <a:defRPr sz="1800">
                <a:solidFill>
                  <a:srgbClr val="006D77"/>
                </a:solidFill>
                <a:latin typeface="Arial"/>
                <a:ea typeface="Arial"/>
                <a:cs typeface="Arial"/>
              </a:defRPr>
            </a:pPr>
            <a:r>
              <a:t>contribute more</a:t>
            </a:r>
          </a:p>
        </p:txBody>
      </p:sp>
      <p:cxnSp>
        <p:nvCxnSpPr>
          <p:cNvPr id="40" name="Straight Arrow Connector 18"/>
          <p:cNvCxnSpPr>
            <a:stCxn id="18" idx="2"/>
            <a:endCxn id="11" idx="0"/>
          </p:cNvCxnSpPr>
          <p:nvPr/>
        </p:nvCxnSpPr>
        <p:spPr>
          <a:xfrm flipH="1">
            <a:off x="7906110" y="2476500"/>
            <a:ext cx="1428391" cy="1002729"/>
          </a:xfrm>
          <a:prstGeom prst="straightConnector1">
            <a:avLst/>
          </a:prstGeom>
          <a:ln w="19050">
            <a:solidFill>
              <a:srgbClr val="006D77"/>
            </a:solidFill>
            <a:tailEnd type="arrow" w="med" len="med"/>
          </a:ln>
        </p:spPr>
      </p:cxnSp>
      <p:sp>
        <p:nvSpPr>
          <p:cNvPr id="20" name="Rectangle 19">
            <a:extLst>
              <a:ext uri="{FF2B5EF4-FFF2-40B4-BE49-F238E27FC236}">
                <a16:creationId xmlns:a16="http://schemas.microsoft.com/office/drawing/2014/main" id="{D58C2B85-1CB2-4E92-BDC2-53D032857069}"/>
              </a:ext>
            </a:extLst>
          </p:cNvPr>
          <p:cNvSpPr>
            <a:spLocks noGrp="1"/>
          </p:cNvSpPr>
          <p:nvPr/>
        </p:nvSpPr>
        <p:spPr>
          <a:xfrm>
            <a:off x="666750" y="6000750"/>
            <a:ext cx="10858500" cy="428625"/>
          </a:xfrm>
          <a:prstGeom prst="rect">
            <a:avLst/>
          </a:prstGeom>
        </p:spPr>
        <p:txBody>
          <a:bodyPr lIns="0" tIns="0" rIns="0" bIns="0" anchor="ctr"/>
          <a:lstStyle/>
          <a:p>
            <a:pPr algn="l">
              <a:buNone/>
              <a:defRPr sz="1725">
                <a:solidFill>
                  <a:srgbClr val="5D7073"/>
                </a:solidFill>
                <a:latin typeface="Arial"/>
                <a:ea typeface="Arial"/>
                <a:cs typeface="Arial"/>
              </a:defRPr>
            </a:pPr>
            <a:r>
              <a:t>Each x is a unit-length idea vector; n is the number of projects in that month.</a:t>
            </a:r>
          </a:p>
        </p:txBody>
      </p:sp>
      <p:sp>
        <p:nvSpPr>
          <p:cNvPr id="21" name="Rectangle 20">
            <a:extLst>
              <a:ext uri="{FF2B5EF4-FFF2-40B4-BE49-F238E27FC236}">
                <a16:creationId xmlns:a16="http://schemas.microsoft.com/office/drawing/2014/main" id="{7136A6F9-AE27-4F0C-B2CE-0575F829FDD5}"/>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16</a:t>
            </a:r>
          </a:p>
        </p:txBody>
      </p:sp>
    </p:spTree>
    <p:extLst>
      <p:ext uri="{BB962C8B-B14F-4D97-AF65-F5344CB8AC3E}">
        <p14:creationId xmlns:p14="http://schemas.microsoft.com/office/powerpoint/2010/main" val="227866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593F3861-BCCA-4C16-A3FC-272E803DB0DC}"/>
              </a:ext>
            </a:extLst>
          </p:cNvPr>
          <p:cNvSpPr>
            <a:spLocks noGrp="1"/>
          </p:cNvSpPr>
          <p:nvPr/>
        </p:nvSpPr>
        <p:spPr>
          <a:xfrm>
            <a:off x="666750" y="476250"/>
            <a:ext cx="10858500" cy="1190625"/>
          </a:xfrm>
          <a:prstGeom prst="rect">
            <a:avLst/>
          </a:prstGeom>
        </p:spPr>
        <p:txBody>
          <a:bodyPr lIns="0" tIns="0" rIns="0" bIns="0" anchor="ctr"/>
          <a:lstStyle/>
          <a:p>
            <a:pPr algn="l">
              <a:buNone/>
              <a:defRPr sz="3300">
                <a:solidFill>
                  <a:srgbClr val="182C30"/>
                </a:solidFill>
                <a:latin typeface="Georgia"/>
                <a:ea typeface="Georgia"/>
                <a:cs typeface="Georgia"/>
              </a:defRPr>
            </a:pPr>
            <a:r>
              <a:t>Fit the full model to the 60 monthly scores</a:t>
            </a:r>
          </a:p>
        </p:txBody>
      </p:sp>
      <p:pic>
        <p:nvPicPr>
          <p:cNvPr id="37" name="Picture 1"/>
          <p:cNvPicPr>
            <a:picLocks noChangeAspect="1"/>
          </p:cNvPicPr>
          <p:nvPr/>
        </p:nvPicPr>
        <p:blipFill>
          <a:blip r:embed="rId3"/>
          <a:stretch/>
        </p:blipFill>
        <p:spPr>
          <a:xfrm>
            <a:off x="1286376" y="2190750"/>
            <a:ext cx="434234" cy="2087663"/>
          </a:xfrm>
          <a:prstGeom prst="rect">
            <a:avLst/>
          </a:prstGeom>
        </p:spPr>
      </p:pic>
      <p:sp>
        <p:nvSpPr>
          <p:cNvPr id="3" name="Rectangle 2">
            <a:extLst>
              <a:ext uri="{FF2B5EF4-FFF2-40B4-BE49-F238E27FC236}">
                <a16:creationId xmlns:a16="http://schemas.microsoft.com/office/drawing/2014/main" id="{618E8C58-6FE9-4D48-92C4-04FC1FA66C3D}"/>
              </a:ext>
            </a:extLst>
          </p:cNvPr>
          <p:cNvSpPr>
            <a:spLocks noGrp="1"/>
          </p:cNvSpPr>
          <p:nvPr/>
        </p:nvSpPr>
        <p:spPr>
          <a:xfrm>
            <a:off x="1336094" y="3293036"/>
            <a:ext cx="309687" cy="275571"/>
          </a:xfrm>
          <a:prstGeom prst="rect">
            <a:avLst/>
          </a:prstGeom>
          <a:noFill/>
          <a:ln w="9525">
            <a:noFill/>
            <a:prstDash val="solid"/>
          </a:ln>
        </p:spPr>
      </p:sp>
      <p:pic>
        <p:nvPicPr>
          <p:cNvPr id="39" name="Picture 3"/>
          <p:cNvPicPr>
            <a:picLocks noChangeAspect="1"/>
          </p:cNvPicPr>
          <p:nvPr/>
        </p:nvPicPr>
        <p:blipFill>
          <a:blip r:embed="rId4"/>
          <a:stretch/>
        </p:blipFill>
        <p:spPr>
          <a:xfrm>
            <a:off x="1787785" y="2194399"/>
            <a:ext cx="524252" cy="2080366"/>
          </a:xfrm>
          <a:prstGeom prst="rect">
            <a:avLst/>
          </a:prstGeom>
        </p:spPr>
      </p:pic>
      <p:sp>
        <p:nvSpPr>
          <p:cNvPr id="5" name="Rectangle 4">
            <a:extLst>
              <a:ext uri="{FF2B5EF4-FFF2-40B4-BE49-F238E27FC236}">
                <a16:creationId xmlns:a16="http://schemas.microsoft.com/office/drawing/2014/main" id="{743FA8C9-E25C-418E-B266-16D845028AA5}"/>
              </a:ext>
            </a:extLst>
          </p:cNvPr>
          <p:cNvSpPr>
            <a:spLocks noGrp="1"/>
          </p:cNvSpPr>
          <p:nvPr/>
        </p:nvSpPr>
        <p:spPr>
          <a:xfrm>
            <a:off x="1962536" y="3318088"/>
            <a:ext cx="282930" cy="108558"/>
          </a:xfrm>
          <a:prstGeom prst="rect">
            <a:avLst/>
          </a:prstGeom>
          <a:noFill/>
          <a:ln w="9525">
            <a:noFill/>
            <a:prstDash val="solid"/>
          </a:ln>
        </p:spPr>
      </p:sp>
      <p:pic>
        <p:nvPicPr>
          <p:cNvPr id="41" name="Picture 5"/>
          <p:cNvPicPr>
            <a:picLocks noChangeAspect="1"/>
          </p:cNvPicPr>
          <p:nvPr/>
        </p:nvPicPr>
        <p:blipFill>
          <a:blip r:embed="rId5"/>
          <a:stretch/>
        </p:blipFill>
        <p:spPr>
          <a:xfrm>
            <a:off x="2381188" y="2190750"/>
            <a:ext cx="1586624" cy="2087663"/>
          </a:xfrm>
          <a:prstGeom prst="rect">
            <a:avLst/>
          </a:prstGeom>
        </p:spPr>
      </p:pic>
      <p:sp>
        <p:nvSpPr>
          <p:cNvPr id="7" name="Rectangle 6">
            <a:extLst>
              <a:ext uri="{FF2B5EF4-FFF2-40B4-BE49-F238E27FC236}">
                <a16:creationId xmlns:a16="http://schemas.microsoft.com/office/drawing/2014/main" id="{EF0AD735-8570-4A9E-9B15-CA62079EA5D0}"/>
              </a:ext>
            </a:extLst>
          </p:cNvPr>
          <p:cNvSpPr>
            <a:spLocks noGrp="1"/>
          </p:cNvSpPr>
          <p:nvPr/>
        </p:nvSpPr>
        <p:spPr>
          <a:xfrm>
            <a:off x="2428973" y="3176127"/>
            <a:ext cx="1491054" cy="384130"/>
          </a:xfrm>
          <a:prstGeom prst="rect">
            <a:avLst/>
          </a:prstGeom>
          <a:noFill/>
          <a:ln w="9525">
            <a:noFill/>
            <a:prstDash val="solid"/>
          </a:ln>
        </p:spPr>
      </p:sp>
      <p:pic>
        <p:nvPicPr>
          <p:cNvPr id="43" name="Picture 7"/>
          <p:cNvPicPr>
            <a:picLocks noChangeAspect="1"/>
          </p:cNvPicPr>
          <p:nvPr/>
        </p:nvPicPr>
        <p:blipFill>
          <a:blip r:embed="rId6"/>
          <a:stretch/>
        </p:blipFill>
        <p:spPr>
          <a:xfrm>
            <a:off x="4036962" y="2193139"/>
            <a:ext cx="408245" cy="2082884"/>
          </a:xfrm>
          <a:prstGeom prst="rect">
            <a:avLst/>
          </a:prstGeom>
        </p:spPr>
      </p:pic>
      <p:sp>
        <p:nvSpPr>
          <p:cNvPr id="9" name="Rectangle 8">
            <a:extLst>
              <a:ext uri="{FF2B5EF4-FFF2-40B4-BE49-F238E27FC236}">
                <a16:creationId xmlns:a16="http://schemas.microsoft.com/office/drawing/2014/main" id="{31152D41-5C73-45D5-ABA7-FA3C9B0904EF}"/>
              </a:ext>
            </a:extLst>
          </p:cNvPr>
          <p:cNvSpPr>
            <a:spLocks noGrp="1"/>
          </p:cNvSpPr>
          <p:nvPr/>
        </p:nvSpPr>
        <p:spPr>
          <a:xfrm>
            <a:off x="4095283" y="3226231"/>
            <a:ext cx="283272" cy="292273"/>
          </a:xfrm>
          <a:prstGeom prst="rect">
            <a:avLst/>
          </a:prstGeom>
          <a:noFill/>
          <a:ln w="9525">
            <a:noFill/>
            <a:prstDash val="solid"/>
          </a:ln>
        </p:spPr>
      </p:sp>
      <p:pic>
        <p:nvPicPr>
          <p:cNvPr id="45" name="Picture 9"/>
          <p:cNvPicPr>
            <a:picLocks noChangeAspect="1"/>
          </p:cNvPicPr>
          <p:nvPr/>
        </p:nvPicPr>
        <p:blipFill>
          <a:blip r:embed="rId7"/>
          <a:stretch/>
        </p:blipFill>
        <p:spPr>
          <a:xfrm>
            <a:off x="4511882" y="2190848"/>
            <a:ext cx="1502976" cy="2087467"/>
          </a:xfrm>
          <a:prstGeom prst="rect">
            <a:avLst/>
          </a:prstGeom>
        </p:spPr>
      </p:pic>
      <p:sp>
        <p:nvSpPr>
          <p:cNvPr id="11" name="Rectangle 10">
            <a:extLst>
              <a:ext uri="{FF2B5EF4-FFF2-40B4-BE49-F238E27FC236}">
                <a16:creationId xmlns:a16="http://schemas.microsoft.com/office/drawing/2014/main" id="{1E92C28E-0E12-42DE-A01B-19CE38FAEA19}"/>
              </a:ext>
            </a:extLst>
          </p:cNvPr>
          <p:cNvSpPr>
            <a:spLocks noGrp="1"/>
          </p:cNvSpPr>
          <p:nvPr/>
        </p:nvSpPr>
        <p:spPr>
          <a:xfrm>
            <a:off x="4561981" y="3176127"/>
            <a:ext cx="1377728" cy="417533"/>
          </a:xfrm>
          <a:prstGeom prst="rect">
            <a:avLst/>
          </a:prstGeom>
          <a:noFill/>
          <a:ln w="9525">
            <a:noFill/>
            <a:prstDash val="solid"/>
          </a:ln>
        </p:spPr>
      </p:sp>
      <p:pic>
        <p:nvPicPr>
          <p:cNvPr id="47" name="Picture 11"/>
          <p:cNvPicPr>
            <a:picLocks noChangeAspect="1"/>
          </p:cNvPicPr>
          <p:nvPr/>
        </p:nvPicPr>
        <p:blipFill>
          <a:blip r:embed="rId6"/>
          <a:stretch/>
        </p:blipFill>
        <p:spPr>
          <a:xfrm>
            <a:off x="6081533" y="2193139"/>
            <a:ext cx="408245" cy="2082884"/>
          </a:xfrm>
          <a:prstGeom prst="rect">
            <a:avLst/>
          </a:prstGeom>
        </p:spPr>
      </p:pic>
      <p:sp>
        <p:nvSpPr>
          <p:cNvPr id="13" name="Rectangle 12">
            <a:extLst>
              <a:ext uri="{FF2B5EF4-FFF2-40B4-BE49-F238E27FC236}">
                <a16:creationId xmlns:a16="http://schemas.microsoft.com/office/drawing/2014/main" id="{B15D0C94-7545-4665-85B6-3DE266C50C47}"/>
              </a:ext>
            </a:extLst>
          </p:cNvPr>
          <p:cNvSpPr>
            <a:spLocks noGrp="1"/>
          </p:cNvSpPr>
          <p:nvPr/>
        </p:nvSpPr>
        <p:spPr>
          <a:xfrm>
            <a:off x="6139854" y="3226231"/>
            <a:ext cx="283272" cy="292273"/>
          </a:xfrm>
          <a:prstGeom prst="rect">
            <a:avLst/>
          </a:prstGeom>
          <a:noFill/>
          <a:ln w="9525">
            <a:noFill/>
            <a:prstDash val="solid"/>
          </a:ln>
        </p:spPr>
      </p:sp>
      <p:pic>
        <p:nvPicPr>
          <p:cNvPr id="49" name="Picture 13"/>
          <p:cNvPicPr>
            <a:picLocks noChangeAspect="1"/>
          </p:cNvPicPr>
          <p:nvPr/>
        </p:nvPicPr>
        <p:blipFill>
          <a:blip r:embed="rId8"/>
          <a:stretch/>
        </p:blipFill>
        <p:spPr>
          <a:xfrm>
            <a:off x="6560803" y="2190750"/>
            <a:ext cx="2897676" cy="2087663"/>
          </a:xfrm>
          <a:prstGeom prst="rect">
            <a:avLst/>
          </a:prstGeom>
        </p:spPr>
      </p:pic>
      <p:sp>
        <p:nvSpPr>
          <p:cNvPr id="15" name="Rectangle 14">
            <a:extLst>
              <a:ext uri="{FF2B5EF4-FFF2-40B4-BE49-F238E27FC236}">
                <a16:creationId xmlns:a16="http://schemas.microsoft.com/office/drawing/2014/main" id="{87D8C8C5-9F5F-4806-9D53-F4114855639A}"/>
              </a:ext>
            </a:extLst>
          </p:cNvPr>
          <p:cNvSpPr>
            <a:spLocks noGrp="1"/>
          </p:cNvSpPr>
          <p:nvPr/>
        </p:nvSpPr>
        <p:spPr>
          <a:xfrm>
            <a:off x="6606708" y="3159426"/>
            <a:ext cx="2780739" cy="434234"/>
          </a:xfrm>
          <a:prstGeom prst="rect">
            <a:avLst/>
          </a:prstGeom>
          <a:noFill/>
          <a:ln w="9525">
            <a:noFill/>
            <a:prstDash val="solid"/>
          </a:ln>
        </p:spPr>
      </p:sp>
      <p:pic>
        <p:nvPicPr>
          <p:cNvPr id="51" name="Picture 15"/>
          <p:cNvPicPr>
            <a:picLocks noChangeAspect="1"/>
          </p:cNvPicPr>
          <p:nvPr/>
        </p:nvPicPr>
        <p:blipFill>
          <a:blip r:embed="rId6"/>
          <a:stretch/>
        </p:blipFill>
        <p:spPr>
          <a:xfrm>
            <a:off x="2381250" y="3736189"/>
            <a:ext cx="408245" cy="2082884"/>
          </a:xfrm>
          <a:prstGeom prst="rect">
            <a:avLst/>
          </a:prstGeom>
        </p:spPr>
      </p:pic>
      <p:sp>
        <p:nvSpPr>
          <p:cNvPr id="17" name="Rectangle 16">
            <a:extLst>
              <a:ext uri="{FF2B5EF4-FFF2-40B4-BE49-F238E27FC236}">
                <a16:creationId xmlns:a16="http://schemas.microsoft.com/office/drawing/2014/main" id="{7EF7FFE2-DED4-492A-89F6-37612B32659A}"/>
              </a:ext>
            </a:extLst>
          </p:cNvPr>
          <p:cNvSpPr>
            <a:spLocks noGrp="1"/>
          </p:cNvSpPr>
          <p:nvPr/>
        </p:nvSpPr>
        <p:spPr>
          <a:xfrm>
            <a:off x="2439571" y="4769281"/>
            <a:ext cx="283272" cy="292273"/>
          </a:xfrm>
          <a:prstGeom prst="rect">
            <a:avLst/>
          </a:prstGeom>
          <a:noFill/>
          <a:ln w="9525">
            <a:noFill/>
            <a:prstDash val="solid"/>
          </a:ln>
        </p:spPr>
      </p:sp>
      <p:pic>
        <p:nvPicPr>
          <p:cNvPr id="53" name="Picture 17"/>
          <p:cNvPicPr>
            <a:picLocks noChangeAspect="1"/>
          </p:cNvPicPr>
          <p:nvPr/>
        </p:nvPicPr>
        <p:blipFill>
          <a:blip r:embed="rId9"/>
          <a:stretch/>
        </p:blipFill>
        <p:spPr>
          <a:xfrm>
            <a:off x="2863159" y="3733800"/>
            <a:ext cx="5252560" cy="2087663"/>
          </a:xfrm>
          <a:prstGeom prst="rect">
            <a:avLst/>
          </a:prstGeom>
        </p:spPr>
      </p:pic>
      <p:sp>
        <p:nvSpPr>
          <p:cNvPr id="19" name="Rectangle 18">
            <a:extLst>
              <a:ext uri="{FF2B5EF4-FFF2-40B4-BE49-F238E27FC236}">
                <a16:creationId xmlns:a16="http://schemas.microsoft.com/office/drawing/2014/main" id="{95F20780-7FAA-4A11-816A-7355E0AB5494}"/>
              </a:ext>
            </a:extLst>
          </p:cNvPr>
          <p:cNvSpPr>
            <a:spLocks noGrp="1"/>
          </p:cNvSpPr>
          <p:nvPr/>
        </p:nvSpPr>
        <p:spPr>
          <a:xfrm>
            <a:off x="2898035" y="4418553"/>
            <a:ext cx="5099079" cy="1002078"/>
          </a:xfrm>
          <a:prstGeom prst="rect">
            <a:avLst/>
          </a:prstGeom>
          <a:noFill/>
          <a:ln w="9525">
            <a:noFill/>
            <a:prstDash val="solid"/>
          </a:ln>
        </p:spPr>
      </p:sp>
      <p:pic>
        <p:nvPicPr>
          <p:cNvPr id="55" name="Picture 19"/>
          <p:cNvPicPr>
            <a:picLocks noChangeAspect="1"/>
          </p:cNvPicPr>
          <p:nvPr/>
        </p:nvPicPr>
        <p:blipFill>
          <a:blip r:embed="rId6"/>
          <a:stretch/>
        </p:blipFill>
        <p:spPr>
          <a:xfrm>
            <a:off x="8189382" y="3736189"/>
            <a:ext cx="408245" cy="2082884"/>
          </a:xfrm>
          <a:prstGeom prst="rect">
            <a:avLst/>
          </a:prstGeom>
        </p:spPr>
      </p:pic>
      <p:sp>
        <p:nvSpPr>
          <p:cNvPr id="21" name="Rectangle 20">
            <a:extLst>
              <a:ext uri="{FF2B5EF4-FFF2-40B4-BE49-F238E27FC236}">
                <a16:creationId xmlns:a16="http://schemas.microsoft.com/office/drawing/2014/main" id="{21837D63-7A5C-4DA6-BC76-92DD16E2EEEC}"/>
              </a:ext>
            </a:extLst>
          </p:cNvPr>
          <p:cNvSpPr>
            <a:spLocks noGrp="1"/>
          </p:cNvSpPr>
          <p:nvPr/>
        </p:nvSpPr>
        <p:spPr>
          <a:xfrm>
            <a:off x="8247702" y="4769281"/>
            <a:ext cx="283272" cy="292273"/>
          </a:xfrm>
          <a:prstGeom prst="rect">
            <a:avLst/>
          </a:prstGeom>
          <a:noFill/>
          <a:ln w="9525">
            <a:noFill/>
            <a:prstDash val="solid"/>
          </a:ln>
        </p:spPr>
      </p:sp>
      <p:pic>
        <p:nvPicPr>
          <p:cNvPr id="57" name="Picture 21"/>
          <p:cNvPicPr>
            <a:picLocks noChangeAspect="1"/>
          </p:cNvPicPr>
          <p:nvPr/>
        </p:nvPicPr>
        <p:blipFill>
          <a:blip r:embed="rId10"/>
          <a:stretch/>
        </p:blipFill>
        <p:spPr>
          <a:xfrm>
            <a:off x="8664302" y="3735428"/>
            <a:ext cx="425219" cy="2084406"/>
          </a:xfrm>
          <a:prstGeom prst="rect">
            <a:avLst/>
          </a:prstGeom>
        </p:spPr>
      </p:pic>
      <p:sp>
        <p:nvSpPr>
          <p:cNvPr id="23" name="Rectangle 22">
            <a:extLst>
              <a:ext uri="{FF2B5EF4-FFF2-40B4-BE49-F238E27FC236}">
                <a16:creationId xmlns:a16="http://schemas.microsoft.com/office/drawing/2014/main" id="{125E9ACD-EE5C-441B-A197-093D8F2B91A2}"/>
              </a:ext>
            </a:extLst>
          </p:cNvPr>
          <p:cNvSpPr>
            <a:spLocks noGrp="1"/>
          </p:cNvSpPr>
          <p:nvPr/>
        </p:nvSpPr>
        <p:spPr>
          <a:xfrm>
            <a:off x="8714328" y="4827735"/>
            <a:ext cx="300154" cy="267221"/>
          </a:xfrm>
          <a:prstGeom prst="rect">
            <a:avLst/>
          </a:prstGeom>
          <a:noFill/>
          <a:ln w="9525">
            <a:noFill/>
            <a:prstDash val="solid"/>
          </a:ln>
        </p:spPr>
      </p:sp>
      <p:sp>
        <p:nvSpPr>
          <p:cNvPr id="24" name="Rectangle 23">
            <a:extLst>
              <a:ext uri="{FF2B5EF4-FFF2-40B4-BE49-F238E27FC236}">
                <a16:creationId xmlns:a16="http://schemas.microsoft.com/office/drawing/2014/main" id="{27333769-6797-42B7-832A-232FD19C5D5E}"/>
              </a:ext>
            </a:extLst>
          </p:cNvPr>
          <p:cNvSpPr>
            <a:spLocks noGrp="1"/>
          </p:cNvSpPr>
          <p:nvPr/>
        </p:nvSpPr>
        <p:spPr>
          <a:xfrm>
            <a:off x="2619375" y="1809750"/>
            <a:ext cx="2047875" cy="619125"/>
          </a:xfrm>
          <a:prstGeom prst="rect">
            <a:avLst/>
          </a:prstGeom>
        </p:spPr>
        <p:txBody>
          <a:bodyPr lIns="0" tIns="0" rIns="0" bIns="0" anchor="ctr"/>
          <a:lstStyle/>
          <a:p>
            <a:pPr algn="ctr">
              <a:buNone/>
              <a:defRPr sz="1800">
                <a:solidFill>
                  <a:srgbClr val="006D77"/>
                </a:solidFill>
                <a:latin typeface="Arial"/>
                <a:ea typeface="Arial"/>
                <a:cs typeface="Arial"/>
              </a:defRPr>
            </a:pPr>
            <a:r>
              <a:t>Trend before</a:t>
            </a:r>
          </a:p>
          <a:p>
            <a:pPr algn="ctr">
              <a:buNone/>
              <a:defRPr sz="1800">
                <a:solidFill>
                  <a:srgbClr val="006D77"/>
                </a:solidFill>
                <a:latin typeface="Arial"/>
                <a:ea typeface="Arial"/>
                <a:cs typeface="Arial"/>
              </a:defRPr>
            </a:pPr>
            <a:r>
              <a:t>release</a:t>
            </a:r>
          </a:p>
        </p:txBody>
      </p:sp>
      <p:cxnSp>
        <p:nvCxnSpPr>
          <p:cNvPr id="60" name="Straight Arrow Connector 24"/>
          <p:cNvCxnSpPr>
            <a:stCxn id="24" idx="2"/>
            <a:endCxn id="7" idx="0"/>
          </p:cNvCxnSpPr>
          <p:nvPr/>
        </p:nvCxnSpPr>
        <p:spPr>
          <a:xfrm flipH="1">
            <a:off x="3174500" y="2428875"/>
            <a:ext cx="468813" cy="747252"/>
          </a:xfrm>
          <a:prstGeom prst="straightConnector1">
            <a:avLst/>
          </a:prstGeom>
          <a:ln w="19050">
            <a:solidFill>
              <a:srgbClr val="006D77"/>
            </a:solidFill>
            <a:tailEnd type="arrow" w="med" len="med"/>
          </a:ln>
        </p:spPr>
      </p:cxnSp>
      <p:sp>
        <p:nvSpPr>
          <p:cNvPr id="26" name="Rectangle 25">
            <a:extLst>
              <a:ext uri="{FF2B5EF4-FFF2-40B4-BE49-F238E27FC236}">
                <a16:creationId xmlns:a16="http://schemas.microsoft.com/office/drawing/2014/main" id="{9B93F481-7219-41E0-85BF-6FF43DB30C98}"/>
              </a:ext>
            </a:extLst>
          </p:cNvPr>
          <p:cNvSpPr>
            <a:spLocks noGrp="1"/>
          </p:cNvSpPr>
          <p:nvPr/>
        </p:nvSpPr>
        <p:spPr>
          <a:xfrm>
            <a:off x="4857750" y="1809750"/>
            <a:ext cx="1905000" cy="619125"/>
          </a:xfrm>
          <a:prstGeom prst="rect">
            <a:avLst/>
          </a:prstGeom>
        </p:spPr>
        <p:txBody>
          <a:bodyPr lIns="0" tIns="0" rIns="0" bIns="0" anchor="ctr"/>
          <a:lstStyle/>
          <a:p>
            <a:pPr algn="ctr">
              <a:buNone/>
              <a:defRPr sz="1800">
                <a:solidFill>
                  <a:srgbClr val="006D77"/>
                </a:solidFill>
                <a:latin typeface="Arial"/>
                <a:ea typeface="Arial"/>
                <a:cs typeface="Arial"/>
              </a:defRPr>
            </a:pPr>
            <a:r>
              <a:t>Release-date</a:t>
            </a:r>
          </a:p>
          <a:p>
            <a:pPr algn="ctr">
              <a:buNone/>
              <a:defRPr sz="1800">
                <a:solidFill>
                  <a:srgbClr val="006D77"/>
                </a:solidFill>
                <a:latin typeface="Arial"/>
                <a:ea typeface="Arial"/>
                <a:cs typeface="Arial"/>
              </a:defRPr>
            </a:pPr>
            <a:r>
              <a:t>shift</a:t>
            </a:r>
          </a:p>
        </p:txBody>
      </p:sp>
      <p:cxnSp>
        <p:nvCxnSpPr>
          <p:cNvPr id="62" name="Straight Arrow Connector 26"/>
          <p:cNvCxnSpPr>
            <a:stCxn id="26" idx="2"/>
            <a:endCxn id="11" idx="0"/>
          </p:cNvCxnSpPr>
          <p:nvPr/>
        </p:nvCxnSpPr>
        <p:spPr>
          <a:xfrm flipH="1">
            <a:off x="5250845" y="2428875"/>
            <a:ext cx="559405" cy="747252"/>
          </a:xfrm>
          <a:prstGeom prst="straightConnector1">
            <a:avLst/>
          </a:prstGeom>
          <a:ln w="19050">
            <a:solidFill>
              <a:srgbClr val="006D77"/>
            </a:solidFill>
            <a:tailEnd type="arrow" w="med" len="med"/>
          </a:ln>
        </p:spPr>
      </p:cxnSp>
      <p:sp>
        <p:nvSpPr>
          <p:cNvPr id="28" name="Rectangle 27">
            <a:extLst>
              <a:ext uri="{FF2B5EF4-FFF2-40B4-BE49-F238E27FC236}">
                <a16:creationId xmlns:a16="http://schemas.microsoft.com/office/drawing/2014/main" id="{B42296CE-A551-417E-84D3-340277296B8B}"/>
              </a:ext>
            </a:extLst>
          </p:cNvPr>
          <p:cNvSpPr>
            <a:spLocks noGrp="1"/>
          </p:cNvSpPr>
          <p:nvPr/>
        </p:nvSpPr>
        <p:spPr>
          <a:xfrm>
            <a:off x="7953375" y="1809750"/>
            <a:ext cx="2857500" cy="619125"/>
          </a:xfrm>
          <a:prstGeom prst="rect">
            <a:avLst/>
          </a:prstGeom>
        </p:spPr>
        <p:txBody>
          <a:bodyPr lIns="0" tIns="0" rIns="0" bIns="0" anchor="ctr"/>
          <a:lstStyle/>
          <a:p>
            <a:pPr algn="ctr">
              <a:buNone/>
              <a:defRPr sz="1800">
                <a:solidFill>
                  <a:srgbClr val="006D77"/>
                </a:solidFill>
                <a:latin typeface="Arial"/>
                <a:ea typeface="Arial"/>
                <a:cs typeface="Arial"/>
              </a:defRPr>
            </a:pPr>
            <a:r>
              <a:t>Change in</a:t>
            </a:r>
          </a:p>
          <a:p>
            <a:pPr algn="ctr">
              <a:buNone/>
              <a:defRPr sz="1800">
                <a:solidFill>
                  <a:srgbClr val="006D77"/>
                </a:solidFill>
                <a:latin typeface="Arial"/>
                <a:ea typeface="Arial"/>
                <a:cs typeface="Arial"/>
              </a:defRPr>
            </a:pPr>
            <a:r>
              <a:t>monthly trend</a:t>
            </a:r>
          </a:p>
        </p:txBody>
      </p:sp>
      <p:cxnSp>
        <p:nvCxnSpPr>
          <p:cNvPr id="64" name="Straight Arrow Connector 28"/>
          <p:cNvCxnSpPr>
            <a:stCxn id="28" idx="2"/>
            <a:endCxn id="15" idx="0"/>
          </p:cNvCxnSpPr>
          <p:nvPr/>
        </p:nvCxnSpPr>
        <p:spPr>
          <a:xfrm flipH="1">
            <a:off x="7997078" y="2428875"/>
            <a:ext cx="1385047" cy="730551"/>
          </a:xfrm>
          <a:prstGeom prst="straightConnector1">
            <a:avLst/>
          </a:prstGeom>
          <a:ln w="19050">
            <a:solidFill>
              <a:srgbClr val="006D77"/>
            </a:solidFill>
            <a:tailEnd type="arrow" w="med" len="med"/>
          </a:ln>
        </p:spPr>
      </p:cxnSp>
      <p:sp>
        <p:nvSpPr>
          <p:cNvPr id="30" name="Rectangle 29">
            <a:extLst>
              <a:ext uri="{FF2B5EF4-FFF2-40B4-BE49-F238E27FC236}">
                <a16:creationId xmlns:a16="http://schemas.microsoft.com/office/drawing/2014/main" id="{3CB43106-C5CB-4D2B-B2F5-F3AD2416A86E}"/>
              </a:ext>
            </a:extLst>
          </p:cNvPr>
          <p:cNvSpPr>
            <a:spLocks noGrp="1"/>
          </p:cNvSpPr>
          <p:nvPr/>
        </p:nvSpPr>
        <p:spPr>
          <a:xfrm>
            <a:off x="3524250" y="5619750"/>
            <a:ext cx="3429000" cy="619125"/>
          </a:xfrm>
          <a:prstGeom prst="rect">
            <a:avLst/>
          </a:prstGeom>
        </p:spPr>
        <p:txBody>
          <a:bodyPr lIns="0" tIns="0" rIns="0" bIns="0" anchor="ctr"/>
          <a:lstStyle/>
          <a:p>
            <a:pPr algn="ctr">
              <a:buNone/>
              <a:defRPr sz="1800">
                <a:solidFill>
                  <a:srgbClr val="006D77"/>
                </a:solidFill>
                <a:latin typeface="Arial"/>
                <a:ea typeface="Arial"/>
                <a:cs typeface="Arial"/>
              </a:defRPr>
            </a:pPr>
            <a:r>
              <a:t>Recurring yearly patterns</a:t>
            </a:r>
          </a:p>
        </p:txBody>
      </p:sp>
      <p:cxnSp>
        <p:nvCxnSpPr>
          <p:cNvPr id="66" name="Straight Arrow Connector 30"/>
          <p:cNvCxnSpPr>
            <a:stCxn id="30" idx="0"/>
            <a:endCxn id="19" idx="2"/>
          </p:cNvCxnSpPr>
          <p:nvPr/>
        </p:nvCxnSpPr>
        <p:spPr>
          <a:xfrm flipV="1">
            <a:off x="5238750" y="5420631"/>
            <a:ext cx="208825" cy="199119"/>
          </a:xfrm>
          <a:prstGeom prst="straightConnector1">
            <a:avLst/>
          </a:prstGeom>
          <a:ln w="19050">
            <a:solidFill>
              <a:srgbClr val="006D77"/>
            </a:solidFill>
            <a:tailEnd type="arrow" w="med" len="med"/>
          </a:ln>
        </p:spPr>
      </p:cxnSp>
      <p:sp>
        <p:nvSpPr>
          <p:cNvPr id="32" name="Rectangle 31">
            <a:extLst>
              <a:ext uri="{FF2B5EF4-FFF2-40B4-BE49-F238E27FC236}">
                <a16:creationId xmlns:a16="http://schemas.microsoft.com/office/drawing/2014/main" id="{4F17EDEE-0D7E-4EC8-8086-5D016508E17E}"/>
              </a:ext>
            </a:extLst>
          </p:cNvPr>
          <p:cNvSpPr>
            <a:spLocks noGrp="1"/>
          </p:cNvSpPr>
          <p:nvPr/>
        </p:nvSpPr>
        <p:spPr>
          <a:xfrm>
            <a:off x="8667750" y="5429250"/>
            <a:ext cx="2286000" cy="619125"/>
          </a:xfrm>
          <a:prstGeom prst="rect">
            <a:avLst/>
          </a:prstGeom>
        </p:spPr>
        <p:txBody>
          <a:bodyPr lIns="0" tIns="0" rIns="0" bIns="0" anchor="ctr"/>
          <a:lstStyle/>
          <a:p>
            <a:pPr algn="ctr">
              <a:buNone/>
              <a:defRPr sz="1800">
                <a:solidFill>
                  <a:srgbClr val="006D77"/>
                </a:solidFill>
                <a:latin typeface="Arial"/>
                <a:ea typeface="Arial"/>
                <a:cs typeface="Arial"/>
              </a:defRPr>
            </a:pPr>
            <a:r>
              <a:t>Remaining</a:t>
            </a:r>
          </a:p>
          <a:p>
            <a:pPr algn="ctr">
              <a:buNone/>
              <a:defRPr sz="1800">
                <a:solidFill>
                  <a:srgbClr val="006D77"/>
                </a:solidFill>
                <a:latin typeface="Arial"/>
                <a:ea typeface="Arial"/>
                <a:cs typeface="Arial"/>
              </a:defRPr>
            </a:pPr>
            <a:r>
              <a:t>variation</a:t>
            </a:r>
          </a:p>
        </p:txBody>
      </p:sp>
      <p:cxnSp>
        <p:nvCxnSpPr>
          <p:cNvPr id="68" name="Straight Arrow Connector 32"/>
          <p:cNvCxnSpPr>
            <a:stCxn id="32" idx="0"/>
            <a:endCxn id="23" idx="2"/>
          </p:cNvCxnSpPr>
          <p:nvPr/>
        </p:nvCxnSpPr>
        <p:spPr>
          <a:xfrm flipH="1" flipV="1">
            <a:off x="8864405" y="5094956"/>
            <a:ext cx="946345" cy="334294"/>
          </a:xfrm>
          <a:prstGeom prst="straightConnector1">
            <a:avLst/>
          </a:prstGeom>
          <a:ln w="19050">
            <a:solidFill>
              <a:srgbClr val="006D77"/>
            </a:solidFill>
            <a:tailEnd type="arrow" w="med" len="med"/>
          </a:ln>
        </p:spPr>
      </p:cxnSp>
      <p:sp>
        <p:nvSpPr>
          <p:cNvPr id="34" name="Rectangle 33">
            <a:extLst>
              <a:ext uri="{FF2B5EF4-FFF2-40B4-BE49-F238E27FC236}">
                <a16:creationId xmlns:a16="http://schemas.microsoft.com/office/drawing/2014/main" id="{19E3B601-6166-4E8D-9647-7C9B1B5B1A97}"/>
              </a:ext>
            </a:extLst>
          </p:cNvPr>
          <p:cNvSpPr>
            <a:spLocks noGrp="1"/>
          </p:cNvSpPr>
          <p:nvPr/>
        </p:nvSpPr>
        <p:spPr>
          <a:xfrm>
            <a:off x="666750" y="6286500"/>
            <a:ext cx="10668000" cy="285750"/>
          </a:xfrm>
          <a:prstGeom prst="rect">
            <a:avLst/>
          </a:prstGeom>
        </p:spPr>
        <p:txBody>
          <a:bodyPr lIns="0" tIns="0" rIns="0" bIns="0" anchor="ctr"/>
          <a:lstStyle/>
          <a:p>
            <a:pPr algn="l">
              <a:buNone/>
              <a:defRPr sz="1575">
                <a:solidFill>
                  <a:srgbClr val="5D7073"/>
                </a:solidFill>
                <a:latin typeface="Arial"/>
                <a:ea typeface="Arial"/>
                <a:cs typeface="Arial"/>
              </a:defRPr>
            </a:pPr>
            <a:r>
              <a:t>t = 24 is December 2022; post switches from 0 to 1 at that month.</a:t>
            </a:r>
          </a:p>
        </p:txBody>
      </p:sp>
      <p:sp>
        <p:nvSpPr>
          <p:cNvPr id="35" name="Rectangle 34">
            <a:extLst>
              <a:ext uri="{FF2B5EF4-FFF2-40B4-BE49-F238E27FC236}">
                <a16:creationId xmlns:a16="http://schemas.microsoft.com/office/drawing/2014/main" id="{5B1F9F1B-0D6F-44A8-A6DD-F280D01B8091}"/>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17</a:t>
            </a:r>
          </a:p>
        </p:txBody>
      </p:sp>
    </p:spTree>
    <p:extLst>
      <p:ext uri="{BB962C8B-B14F-4D97-AF65-F5344CB8AC3E}">
        <p14:creationId xmlns:p14="http://schemas.microsoft.com/office/powerpoint/2010/main" val="167100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8" name="text-1">
            <a:extLst>
              <a:ext uri="{FF2B5EF4-FFF2-40B4-BE49-F238E27FC236}">
                <a16:creationId xmlns:a16="http://schemas.microsoft.com/office/drawing/2014/main" id="{9AE3E0A5-0579-4AE1-B65D-56B64130FC82}"/>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References · context and data</a:t>
            </a:r>
          </a:p>
        </p:txBody>
      </p:sp>
      <p:sp>
        <p:nvSpPr>
          <p:cNvPr id="2" name="text-2">
            <a:extLst>
              <a:ext uri="{FF2B5EF4-FFF2-40B4-BE49-F238E27FC236}">
                <a16:creationId xmlns:a16="http://schemas.microsoft.com/office/drawing/2014/main" id="{6104B8D1-1C5A-409F-BC5A-9EA7EB3057B9}"/>
              </a:ext>
            </a:extLst>
          </p:cNvPr>
          <p:cNvSpPr>
            <a:spLocks noGrp="1"/>
          </p:cNvSpPr>
          <p:nvPr/>
        </p:nvSpPr>
        <p:spPr>
          <a:xfrm>
            <a:off x="666750" y="1971675"/>
            <a:ext cx="10858500" cy="695325"/>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[1] Anthropic. 2025. Claude 3.7 Sonnet and Claude Code. (February 24, 2025).</a:t>
            </a:r>
          </a:p>
          <a:p>
            <a:pPr algn="l">
              <a:spcBef>
                <a:spcPts val="0"/>
              </a:spcBef>
              <a:spcAft>
                <a:spcPts val="0"/>
              </a:spcAft>
              <a:buNone/>
              <a:defRPr sz="1350" b="0">
                <a:solidFill>
                  <a:srgbClr val="182C30"/>
                </a:solidFill>
                <a:latin typeface="Arial"/>
                <a:ea typeface="Arial"/>
                <a:cs typeface="Arial"/>
              </a:defRPr>
            </a:pPr>
            <a:r>
              <a:t>https://www.anthropic.com/news/claude-3-7-sonnet</a:t>
            </a:r>
          </a:p>
        </p:txBody>
      </p:sp>
      <p:sp>
        <p:nvSpPr>
          <p:cNvPr id="3" name="text-3">
            <a:extLst>
              <a:ext uri="{FF2B5EF4-FFF2-40B4-BE49-F238E27FC236}">
                <a16:creationId xmlns:a16="http://schemas.microsoft.com/office/drawing/2014/main" id="{E5DB1792-CD0F-447A-8CEB-10DB71931D82}"/>
              </a:ext>
            </a:extLst>
          </p:cNvPr>
          <p:cNvSpPr>
            <a:spLocks noGrp="1"/>
          </p:cNvSpPr>
          <p:nvPr/>
        </p:nvSpPr>
        <p:spPr>
          <a:xfrm>
            <a:off x="666750" y="2790825"/>
            <a:ext cx="10858500" cy="695325"/>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[2] Thomas Dohmke. 2022. GitHub Copilot is generally available to all developers. (June 21, 2022).</a:t>
            </a:r>
          </a:p>
          <a:p>
            <a:pPr algn="l">
              <a:spcBef>
                <a:spcPts val="0"/>
              </a:spcBef>
              <a:spcAft>
                <a:spcPts val="0"/>
              </a:spcAft>
              <a:buNone/>
              <a:defRPr sz="1350" b="0">
                <a:solidFill>
                  <a:srgbClr val="182C30"/>
                </a:solidFill>
                <a:latin typeface="Arial"/>
                <a:ea typeface="Arial"/>
                <a:cs typeface="Arial"/>
              </a:defRPr>
            </a:pPr>
            <a:r>
              <a:t>https://github.blog/news-insights/product-news/github-copilot-is-generally-available-to-all-developers/</a:t>
            </a:r>
          </a:p>
        </p:txBody>
      </p:sp>
      <p:sp>
        <p:nvSpPr>
          <p:cNvPr id="4" name="text-4">
            <a:extLst>
              <a:ext uri="{FF2B5EF4-FFF2-40B4-BE49-F238E27FC236}">
                <a16:creationId xmlns:a16="http://schemas.microsoft.com/office/drawing/2014/main" id="{2DE841D3-4037-487A-A547-72871698E27D}"/>
              </a:ext>
            </a:extLst>
          </p:cNvPr>
          <p:cNvSpPr>
            <a:spLocks noGrp="1"/>
          </p:cNvSpPr>
          <p:nvPr/>
        </p:nvSpPr>
        <p:spPr>
          <a:xfrm>
            <a:off x="666750" y="3609975"/>
            <a:ext cx="10858500" cy="695325"/>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[3] Anil R. Doshi and Oliver P. Hauser. 2024. Generative AI enhances individual creativity but reduces</a:t>
            </a:r>
          </a:p>
          <a:p>
            <a:pPr algn="l">
              <a:spcBef>
                <a:spcPts val="0"/>
              </a:spcBef>
              <a:spcAft>
                <a:spcPts val="0"/>
              </a:spcAft>
              <a:buNone/>
              <a:defRPr sz="1350" b="0">
                <a:solidFill>
                  <a:srgbClr val="182C30"/>
                </a:solidFill>
                <a:latin typeface="Arial"/>
                <a:ea typeface="Arial"/>
                <a:cs typeface="Arial"/>
              </a:defRPr>
            </a:pPr>
            <a:r>
              <a:t>the collective diversity of novel content. Science Advances 10, 28, eadn5290. doi:10.1126/sciadv.adn5290</a:t>
            </a:r>
          </a:p>
        </p:txBody>
      </p:sp>
      <p:sp>
        <p:nvSpPr>
          <p:cNvPr id="5" name="text-5">
            <a:extLst>
              <a:ext uri="{FF2B5EF4-FFF2-40B4-BE49-F238E27FC236}">
                <a16:creationId xmlns:a16="http://schemas.microsoft.com/office/drawing/2014/main" id="{C25B71E5-5D0B-43A8-B2C9-46B63618408F}"/>
              </a:ext>
            </a:extLst>
          </p:cNvPr>
          <p:cNvSpPr>
            <a:spLocks noGrp="1"/>
          </p:cNvSpPr>
          <p:nvPr/>
        </p:nvSpPr>
        <p:spPr>
          <a:xfrm>
            <a:off x="666750" y="4429125"/>
            <a:ext cx="10858500" cy="695325"/>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[4] GH Archive. n.d. GH Archive. https://www.gharchive.org/</a:t>
            </a:r>
          </a:p>
        </p:txBody>
      </p:sp>
      <p:sp>
        <p:nvSpPr>
          <p:cNvPr id="6" name="text-6">
            <a:extLst>
              <a:ext uri="{FF2B5EF4-FFF2-40B4-BE49-F238E27FC236}">
                <a16:creationId xmlns:a16="http://schemas.microsoft.com/office/drawing/2014/main" id="{58F48395-BA86-4384-9AF2-613090C81B5A}"/>
              </a:ext>
            </a:extLst>
          </p:cNvPr>
          <p:cNvSpPr>
            <a:spLocks noGrp="1"/>
          </p:cNvSpPr>
          <p:nvPr/>
        </p:nvSpPr>
        <p:spPr>
          <a:xfrm>
            <a:off x="666750" y="5248275"/>
            <a:ext cx="10858500" cy="695325"/>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[5] GitHub. n.d. GitHub event types.</a:t>
            </a:r>
          </a:p>
          <a:p>
            <a:pPr algn="l">
              <a:spcBef>
                <a:spcPts val="0"/>
              </a:spcBef>
              <a:spcAft>
                <a:spcPts val="0"/>
              </a:spcAft>
              <a:buNone/>
              <a:defRPr sz="1350" b="0">
                <a:solidFill>
                  <a:srgbClr val="182C30"/>
                </a:solidFill>
                <a:latin typeface="Arial"/>
                <a:ea typeface="Arial"/>
                <a:cs typeface="Arial"/>
              </a:defRPr>
            </a:pPr>
            <a:r>
              <a:t>https://docs.github.com/en/rest/using-the-rest-api/github-event-types</a:t>
            </a:r>
          </a:p>
        </p:txBody>
      </p:sp>
      <p:sp>
        <p:nvSpPr>
          <p:cNvPr id="9" name="Rectangle 8">
            <a:extLst>
              <a:ext uri="{FF2B5EF4-FFF2-40B4-BE49-F238E27FC236}">
                <a16:creationId xmlns:a16="http://schemas.microsoft.com/office/drawing/2014/main" id="{C526C154-AE50-46E8-B231-96D0FB754C76}"/>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18</a:t>
            </a:r>
          </a:p>
        </p:txBody>
      </p:sp>
    </p:spTree>
    <p:extLst>
      <p:ext uri="{BB962C8B-B14F-4D97-AF65-F5344CB8AC3E}">
        <p14:creationId xmlns:p14="http://schemas.microsoft.com/office/powerpoint/2010/main" val="739181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7" name="text-1">
            <a:extLst>
              <a:ext uri="{FF2B5EF4-FFF2-40B4-BE49-F238E27FC236}">
                <a16:creationId xmlns:a16="http://schemas.microsoft.com/office/drawing/2014/main" id="{DB3F4D43-2977-468B-9861-0E88B35B085B}"/>
              </a:ext>
            </a:extLst>
          </p:cNvPr>
          <p:cNvSpPr>
            <a:spLocks noGrp="1"/>
          </p:cNvSpPr>
          <p:nvPr/>
        </p:nvSpPr>
        <p:spPr>
          <a:xfrm>
            <a:off x="666750" y="514350"/>
            <a:ext cx="10858500" cy="1200150"/>
          </a:xfrm>
          <a:prstGeom prst="rect">
            <a:avLst/>
          </a:prstGeom>
        </p:spPr>
        <p:txBody>
          <a:bodyPr lIns="0" tIns="0" rIns="0" bIns="0" anchor="ctr"/>
          <a:lstStyle/>
          <a:p>
            <a:pPr algn="l">
              <a:spcBef>
                <a:spcPts val="0"/>
              </a:spcBef>
              <a:spcAft>
                <a:spcPts val="0"/>
              </a:spcAft>
              <a:buNone/>
              <a:defRPr sz="3300" b="0">
                <a:solidFill>
                  <a:srgbClr val="182C30"/>
                </a:solidFill>
                <a:latin typeface="Georgia"/>
                <a:ea typeface="Georgia"/>
                <a:cs typeface="Georgia"/>
              </a:defRPr>
            </a:pPr>
            <a:r>
              <a:t>References · measurement and inference</a:t>
            </a:r>
          </a:p>
        </p:txBody>
      </p:sp>
      <p:sp>
        <p:nvSpPr>
          <p:cNvPr id="2" name="text-2">
            <a:extLst>
              <a:ext uri="{FF2B5EF4-FFF2-40B4-BE49-F238E27FC236}">
                <a16:creationId xmlns:a16="http://schemas.microsoft.com/office/drawing/2014/main" id="{568AC6C4-EA88-4D5B-94EF-839D8A5C081C}"/>
              </a:ext>
            </a:extLst>
          </p:cNvPr>
          <p:cNvSpPr>
            <a:spLocks noGrp="1"/>
          </p:cNvSpPr>
          <p:nvPr/>
        </p:nvSpPr>
        <p:spPr>
          <a:xfrm>
            <a:off x="666750" y="1809750"/>
            <a:ext cx="10858500" cy="647700"/>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[6] James Lopez Bernal, Steven Cummins, and Antonio Gasparrini. 2017. Interrupted time series regression</a:t>
            </a:r>
          </a:p>
          <a:p>
            <a:pPr algn="l">
              <a:spcBef>
                <a:spcPts val="0"/>
              </a:spcBef>
              <a:spcAft>
                <a:spcPts val="0"/>
              </a:spcAft>
              <a:buNone/>
              <a:defRPr sz="1350" b="0">
                <a:solidFill>
                  <a:srgbClr val="182C30"/>
                </a:solidFill>
                <a:latin typeface="Arial"/>
                <a:ea typeface="Arial"/>
                <a:cs typeface="Arial"/>
              </a:defRPr>
            </a:pPr>
            <a:r>
              <a:t>for the evaluation of public health interventions: a tutorial. Int. J. Epidemiology 46, 1, 348–355. doi:10.1093/ije/dyw098</a:t>
            </a:r>
          </a:p>
        </p:txBody>
      </p:sp>
      <p:sp>
        <p:nvSpPr>
          <p:cNvPr id="3" name="text-3">
            <a:extLst>
              <a:ext uri="{FF2B5EF4-FFF2-40B4-BE49-F238E27FC236}">
                <a16:creationId xmlns:a16="http://schemas.microsoft.com/office/drawing/2014/main" id="{46F23BDA-60B5-4E5D-A3FB-A71CE5BB4C66}"/>
              </a:ext>
            </a:extLst>
          </p:cNvPr>
          <p:cNvSpPr>
            <a:spLocks noGrp="1"/>
          </p:cNvSpPr>
          <p:nvPr/>
        </p:nvSpPr>
        <p:spPr>
          <a:xfrm>
            <a:off x="666750" y="2514600"/>
            <a:ext cx="10858500" cy="647700"/>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[7] Whitney K. Newey and Kenneth D. West. 1987. A Simple, Positive Semi-Definite, Heteroskedasticity and</a:t>
            </a:r>
          </a:p>
          <a:p>
            <a:pPr algn="l">
              <a:spcBef>
                <a:spcPts val="0"/>
              </a:spcBef>
              <a:spcAft>
                <a:spcPts val="0"/>
              </a:spcAft>
              <a:buNone/>
              <a:defRPr sz="1350" b="0">
                <a:solidFill>
                  <a:srgbClr val="182C30"/>
                </a:solidFill>
                <a:latin typeface="Arial"/>
                <a:ea typeface="Arial"/>
                <a:cs typeface="Arial"/>
              </a:defRPr>
            </a:pPr>
            <a:r>
              <a:t>Autocorrelation Consistent Covariance Matrix. Econometrica 55, 3, 703–708. doi:10.2307/1913610</a:t>
            </a:r>
          </a:p>
        </p:txBody>
      </p:sp>
      <p:sp>
        <p:nvSpPr>
          <p:cNvPr id="4" name="text-4">
            <a:extLst>
              <a:ext uri="{FF2B5EF4-FFF2-40B4-BE49-F238E27FC236}">
                <a16:creationId xmlns:a16="http://schemas.microsoft.com/office/drawing/2014/main" id="{D7CA429D-08CF-4F79-AB13-5118805DC34B}"/>
              </a:ext>
            </a:extLst>
          </p:cNvPr>
          <p:cNvSpPr>
            <a:spLocks noGrp="1"/>
          </p:cNvSpPr>
          <p:nvPr/>
        </p:nvSpPr>
        <p:spPr>
          <a:xfrm>
            <a:off x="666750" y="3219450"/>
            <a:ext cx="10858500" cy="647700"/>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[8] OpenAI. 2022. Introducing ChatGPT. (November 30, 2022).</a:t>
            </a:r>
          </a:p>
          <a:p>
            <a:pPr algn="l">
              <a:spcBef>
                <a:spcPts val="0"/>
              </a:spcBef>
              <a:spcAft>
                <a:spcPts val="0"/>
              </a:spcAft>
              <a:buNone/>
              <a:defRPr sz="1350" b="0">
                <a:solidFill>
                  <a:srgbClr val="182C30"/>
                </a:solidFill>
                <a:latin typeface="Arial"/>
                <a:ea typeface="Arial"/>
                <a:cs typeface="Arial"/>
              </a:defRPr>
            </a:pPr>
            <a:r>
              <a:t>https://openai.com/index/chatgpt/</a:t>
            </a:r>
          </a:p>
        </p:txBody>
      </p:sp>
      <p:sp>
        <p:nvSpPr>
          <p:cNvPr id="5" name="text-5">
            <a:extLst>
              <a:ext uri="{FF2B5EF4-FFF2-40B4-BE49-F238E27FC236}">
                <a16:creationId xmlns:a16="http://schemas.microsoft.com/office/drawing/2014/main" id="{1C6EE96A-F3DB-4A03-A563-02B9F5FBE1DF}"/>
              </a:ext>
            </a:extLst>
          </p:cNvPr>
          <p:cNvSpPr>
            <a:spLocks noGrp="1"/>
          </p:cNvSpPr>
          <p:nvPr/>
        </p:nvSpPr>
        <p:spPr>
          <a:xfrm>
            <a:off x="666750" y="3924300"/>
            <a:ext cx="10858500" cy="647700"/>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[9] Nils Reimers and Iryna Gurevych. 2019. Sentence-BERT: Sentence Embeddings using Siamese BERT-Networks.</a:t>
            </a:r>
          </a:p>
          <a:p>
            <a:pPr algn="l">
              <a:spcBef>
                <a:spcPts val="0"/>
              </a:spcBef>
              <a:spcAft>
                <a:spcPts val="0"/>
              </a:spcAft>
              <a:buNone/>
              <a:defRPr sz="1350" b="0">
                <a:solidFill>
                  <a:srgbClr val="182C30"/>
                </a:solidFill>
                <a:latin typeface="Arial"/>
                <a:ea typeface="Arial"/>
                <a:cs typeface="Arial"/>
              </a:defRPr>
            </a:pPr>
            <a:r>
              <a:t>In EMNLP-IJCNLP. Association for Computational Linguistics, 3982–3992. doi:10.18653/v1/D19-1410</a:t>
            </a:r>
          </a:p>
        </p:txBody>
      </p:sp>
      <p:sp>
        <p:nvSpPr>
          <p:cNvPr id="6" name="text-6">
            <a:extLst>
              <a:ext uri="{FF2B5EF4-FFF2-40B4-BE49-F238E27FC236}">
                <a16:creationId xmlns:a16="http://schemas.microsoft.com/office/drawing/2014/main" id="{927E0719-9881-44C2-9874-A154DF9CF669}"/>
              </a:ext>
            </a:extLst>
          </p:cNvPr>
          <p:cNvSpPr>
            <a:spLocks noGrp="1"/>
          </p:cNvSpPr>
          <p:nvPr/>
        </p:nvSpPr>
        <p:spPr>
          <a:xfrm>
            <a:off x="666750" y="4629150"/>
            <a:ext cx="10858500" cy="647700"/>
          </a:xfrm>
          <a:prstGeom prst="rect">
            <a:avLst/>
          </a:prstGeom>
        </p:spPr>
        <p:txBody>
          <a:bodyPr lIns="0" tIns="0" rIns="0" bIns="0" anchor="ctr"/>
          <a:lstStyle/>
          <a:p>
            <a:pPr algn="l">
              <a:spcBef>
                <a:spcPts val="0"/>
              </a:spcBef>
              <a:spcAft>
                <a:spcPts val="0"/>
              </a:spcAft>
              <a:buNone/>
              <a:defRPr sz="1350" b="0">
                <a:solidFill>
                  <a:srgbClr val="182C30"/>
                </a:solidFill>
                <a:latin typeface="Arial"/>
                <a:ea typeface="Arial"/>
                <a:cs typeface="Arial"/>
              </a:defRPr>
            </a:pPr>
            <a:r>
              <a:t>[10] Sentence Transformers. n.d. all-MiniLM-L6-v2. Hugging Face model card.</a:t>
            </a:r>
          </a:p>
          <a:p>
            <a:pPr algn="l">
              <a:spcBef>
                <a:spcPts val="0"/>
              </a:spcBef>
              <a:spcAft>
                <a:spcPts val="0"/>
              </a:spcAft>
              <a:buNone/>
              <a:defRPr sz="1350" b="0">
                <a:solidFill>
                  <a:srgbClr val="182C30"/>
                </a:solidFill>
                <a:latin typeface="Arial"/>
                <a:ea typeface="Arial"/>
                <a:cs typeface="Arial"/>
              </a:defRPr>
            </a:pPr>
            <a:r>
              <a:t>https://huggingface.co/sentence-transformers/all-MiniLM-L6-v2</a:t>
            </a:r>
          </a:p>
        </p:txBody>
      </p:sp>
      <p:sp>
        <p:nvSpPr>
          <p:cNvPr id="9" name="gum-reference">
            <a:extLst>
              <a:ext uri="{FF2B5EF4-FFF2-40B4-BE49-F238E27FC236}">
                <a16:creationId xmlns:a16="http://schemas.microsoft.com/office/drawing/2014/main" id="{C447D809-8C97-4D78-9223-EFEEEA9ACB8A}"/>
              </a:ext>
            </a:extLst>
          </p:cNvPr>
          <p:cNvSpPr>
            <a:spLocks noGrp="1"/>
          </p:cNvSpPr>
          <p:nvPr/>
        </p:nvSpPr>
        <p:spPr>
          <a:xfrm>
            <a:off x="666750" y="5334000"/>
            <a:ext cx="10858500" cy="762000"/>
          </a:xfrm>
          <a:prstGeom prst="rect">
            <a:avLst/>
          </a:prstGeom>
        </p:spPr>
        <p:txBody>
          <a:bodyPr lIns="0" tIns="0" rIns="0" bIns="0"/>
          <a:lstStyle/>
          <a:p>
            <a:pPr>
              <a:buNone/>
              <a:defRPr sz="1275">
                <a:solidFill>
                  <a:srgbClr val="182C30"/>
                </a:solidFill>
                <a:latin typeface="Arial"/>
                <a:ea typeface="Arial"/>
                <a:cs typeface="Arial"/>
              </a:defRPr>
            </a:pPr>
            <a:r>
              <a:t>[11] Charmbracelet. 2022. Gum. Historical README, commit be4027c. Retrieved October 26, 2026.</a:t>
            </a:r>
          </a:p>
          <a:p>
            <a:pPr>
              <a:buNone/>
              <a:defRPr sz="1275">
                <a:solidFill>
                  <a:srgbClr val="182C30"/>
                </a:solidFill>
                <a:latin typeface="Arial"/>
                <a:ea typeface="Arial"/>
                <a:cs typeface="Arial"/>
              </a:defRPr>
            </a:pPr>
            <a:r>
              <a:t>https://github.com/charmbracelet/gum/blob/be4027ce28f812f905bfd1b5575e198729a6c4cc/README.md</a:t>
            </a:r>
          </a:p>
        </p:txBody>
      </p:sp>
      <p:sp>
        <p:nvSpPr>
          <p:cNvPr id="10" name="Rectangle 9">
            <a:extLst>
              <a:ext uri="{FF2B5EF4-FFF2-40B4-BE49-F238E27FC236}">
                <a16:creationId xmlns:a16="http://schemas.microsoft.com/office/drawing/2014/main" id="{03E9A376-5604-49F0-8655-2FBD5D223062}"/>
              </a:ext>
            </a:extLst>
          </p:cNvPr>
          <p:cNvSpPr>
            <a:spLocks noGrp="1"/>
          </p:cNvSpPr>
          <p:nvPr/>
        </p:nvSpPr>
        <p:spPr>
          <a:xfrm>
            <a:off x="11239500" y="6457950"/>
            <a:ext cx="428625" cy="209550"/>
          </a:xfrm>
          <a:prstGeom prst="rect">
            <a:avLst/>
          </a:prstGeom>
        </p:spPr>
        <p:txBody>
          <a:bodyPr lIns="0" tIns="0" rIns="0" bIns="0" anchor="ctr"/>
          <a:lstStyle/>
          <a:p>
            <a:pPr algn="r">
              <a:buNone/>
              <a:defRPr sz="1050">
                <a:solidFill>
                  <a:srgbClr val="5D7073"/>
                </a:solidFill>
                <a:latin typeface="Arial"/>
                <a:ea typeface="Arial"/>
                <a:cs typeface="Arial"/>
              </a:defRPr>
            </a:pPr>
            <a:r>
              <a:t>19</a:t>
            </a:r>
          </a:p>
        </p:txBody>
      </p:sp>
    </p:spTree>
    <p:extLst>
      <p:ext uri="{BB962C8B-B14F-4D97-AF65-F5344CB8AC3E}">
        <p14:creationId xmlns:p14="http://schemas.microsoft.com/office/powerpoint/2010/main" val="17310794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3318</Words>
  <Application>Microsoft Office PowerPoint</Application>
  <DocSecurity>0</DocSecurity>
  <PresentationFormat>Widescreen</PresentationFormat>
  <Paragraphs>261</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Beasley Smith</cp:lastModifiedBy>
  <cp:revision>1</cp:revision>
  <dcterms:created xsi:type="dcterms:W3CDTF">2026-10-26T20:20:21Z</dcterms:created>
  <dcterms:modified xsi:type="dcterms:W3CDTF">2026-10-26T20:20:40Z</dcterms:modified>
</cp:coreProperties>
</file>